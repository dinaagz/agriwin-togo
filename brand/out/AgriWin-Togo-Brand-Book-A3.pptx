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948000" y="0"/>
            <a:ext cx="8172000" cy="1069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948000" y="0"/>
            <a:ext cx="2232000" cy="10692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288000" y="0"/>
            <a:ext cx="1656000" cy="568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288000" y="5796000"/>
            <a:ext cx="1656000" cy="4896000"/>
          </a:xfrm>
          <a:prstGeom prst="rect">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052000" y="0"/>
            <a:ext cx="4068000" cy="10692000"/>
          </a:xfrm>
          <a:prstGeom prst="rect">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griwin-icone.png"/>
          <p:cNvPicPr>
            <a:picLocks noChangeAspect="1"/>
          </p:cNvPicPr>
          <p:nvPr/>
        </p:nvPicPr>
        <p:blipFill>
          <a:blip r:embed="rId2"/>
          <a:stretch>
            <a:fillRect/>
          </a:stretch>
        </p:blipFill>
        <p:spPr>
          <a:xfrm>
            <a:off x="11556000" y="5328000"/>
            <a:ext cx="2213311" cy="3456000"/>
          </a:xfrm>
          <a:prstGeom prst="rect">
            <a:avLst/>
          </a:prstGeom>
        </p:spPr>
      </p:pic>
      <p:sp>
        <p:nvSpPr>
          <p:cNvPr id="8" name="TextBox 7"/>
          <p:cNvSpPr txBox="1"/>
          <p:nvPr/>
        </p:nvSpPr>
        <p:spPr>
          <a:xfrm>
            <a:off x="936000" y="6300000"/>
            <a:ext cx="5760000" cy="216000"/>
          </a:xfrm>
          <a:prstGeom prst="rect">
            <a:avLst/>
          </a:prstGeom>
          <a:noFill/>
        </p:spPr>
        <p:txBody>
          <a:bodyPr wrap="square" anchor="t" lIns="0" rIns="0" tIns="0" bIns="0">
            <a:spAutoFit/>
          </a:bodyPr>
          <a:lstStyle/>
          <a:p>
            <a:pPr algn="l">
              <a:lnSpc>
                <a:spcPct val="135000"/>
              </a:lnSpc>
              <a:spcAft>
                <a:spcPts val="400"/>
              </a:spcAft>
            </a:pPr>
            <a:r>
              <a:rPr sz="900" b="1" i="0">
                <a:solidFill>
                  <a:srgbClr val="9A6412"/>
                </a:solidFill>
                <a:latin typeface="Poppins"/>
              </a:rPr>
              <a:t>CHARTE DE MARQUE · ÉDITION 1.0 · 2026</a:t>
            </a:r>
          </a:p>
        </p:txBody>
      </p:sp>
      <p:sp>
        <p:nvSpPr>
          <p:cNvPr id="9" name="TextBox 8"/>
          <p:cNvSpPr txBox="1"/>
          <p:nvPr/>
        </p:nvSpPr>
        <p:spPr>
          <a:xfrm>
            <a:off x="864000" y="6408000"/>
            <a:ext cx="6120000" cy="2232000"/>
          </a:xfrm>
          <a:prstGeom prst="rect">
            <a:avLst/>
          </a:prstGeom>
          <a:noFill/>
        </p:spPr>
        <p:txBody>
          <a:bodyPr wrap="square" anchor="t" lIns="0" rIns="0" tIns="0" bIns="0">
            <a:spAutoFit/>
          </a:bodyPr>
          <a:lstStyle/>
          <a:p>
            <a:pPr algn="l">
              <a:lnSpc>
                <a:spcPct val="95000"/>
              </a:lnSpc>
              <a:spcAft>
                <a:spcPts val="0"/>
              </a:spcAft>
            </a:pPr>
            <a:r>
              <a:rPr sz="8200" b="1" i="0">
                <a:solidFill>
                  <a:srgbClr val="0F3D17"/>
                </a:solidFill>
                <a:latin typeface="Poppins"/>
              </a:rPr>
              <a:t>AgriWin</a:t>
            </a:r>
          </a:p>
          <a:p>
            <a:pPr algn="l">
              <a:lnSpc>
                <a:spcPct val="95000"/>
              </a:lnSpc>
              <a:spcAft>
                <a:spcPts val="0"/>
              </a:spcAft>
            </a:pPr>
            <a:r>
              <a:rPr sz="8200" b="1" i="0">
                <a:solidFill>
                  <a:srgbClr val="0F3D17"/>
                </a:solidFill>
                <a:latin typeface="Poppins"/>
              </a:rPr>
              <a:t>Togo</a:t>
            </a:r>
          </a:p>
        </p:txBody>
      </p:sp>
      <p:sp>
        <p:nvSpPr>
          <p:cNvPr id="10" name="TextBox 9"/>
          <p:cNvSpPr txBox="1"/>
          <p:nvPr/>
        </p:nvSpPr>
        <p:spPr>
          <a:xfrm>
            <a:off x="936000" y="8712000"/>
            <a:ext cx="5760000" cy="360000"/>
          </a:xfrm>
          <a:prstGeom prst="rect">
            <a:avLst/>
          </a:prstGeom>
          <a:noFill/>
        </p:spPr>
        <p:txBody>
          <a:bodyPr wrap="square" anchor="t" lIns="0" rIns="0" tIns="0" bIns="0">
            <a:spAutoFit/>
          </a:bodyPr>
          <a:lstStyle/>
          <a:p>
            <a:pPr algn="l">
              <a:lnSpc>
                <a:spcPct val="135000"/>
              </a:lnSpc>
              <a:spcAft>
                <a:spcPts val="400"/>
              </a:spcAft>
            </a:pPr>
            <a:r>
              <a:rPr sz="2000" b="0" i="1">
                <a:solidFill>
                  <a:srgbClr val="9A6412"/>
                </a:solidFill>
                <a:latin typeface="Playfair Display"/>
              </a:rPr>
              <a:t>Votre partenaire agricole !</a:t>
            </a:r>
          </a:p>
        </p:txBody>
      </p:sp>
      <p:sp>
        <p:nvSpPr>
          <p:cNvPr id="11" name="TextBox 10"/>
          <p:cNvSpPr txBox="1"/>
          <p:nvPr/>
        </p:nvSpPr>
        <p:spPr>
          <a:xfrm>
            <a:off x="936000" y="9216000"/>
            <a:ext cx="5400000" cy="57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Identité, design system et règles d'application.</a:t>
            </a:r>
          </a:p>
          <a:p>
            <a:pPr algn="l">
              <a:lnSpc>
                <a:spcPct val="135000"/>
              </a:lnSpc>
              <a:spcAft>
                <a:spcPts val="400"/>
              </a:spcAft>
            </a:pPr>
            <a:r>
              <a:rPr sz="1000" b="0" i="0">
                <a:solidFill>
                  <a:srgbClr val="364033"/>
                </a:solidFill>
                <a:latin typeface="Inter"/>
              </a:rPr>
              <a:t>Kégué, Togo — expertise agricole, plants tropicaux, formation.</a:t>
            </a:r>
          </a:p>
        </p:txBody>
      </p:sp>
      <p:sp>
        <p:nvSpPr>
          <p:cNvPr id="12" name="TextBox 11"/>
          <p:cNvSpPr txBox="1"/>
          <p:nvPr/>
        </p:nvSpPr>
        <p:spPr>
          <a:xfrm>
            <a:off x="936000" y="10116000"/>
            <a:ext cx="2880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5C665A"/>
                </a:solidFill>
                <a:latin typeface="Poppins"/>
              </a:rPr>
              <a:t>AgriWin Togo</a:t>
            </a:r>
          </a:p>
        </p:txBody>
      </p:sp>
      <p:sp>
        <p:nvSpPr>
          <p:cNvPr id="13" name="TextBox 12"/>
          <p:cNvSpPr txBox="1"/>
          <p:nvPr/>
        </p:nvSpPr>
        <p:spPr>
          <a:xfrm>
            <a:off x="7920000" y="10116000"/>
            <a:ext cx="6480000" cy="216000"/>
          </a:xfrm>
          <a:prstGeom prst="rect">
            <a:avLst/>
          </a:prstGeom>
          <a:noFill/>
        </p:spPr>
        <p:txBody>
          <a:bodyPr wrap="square" anchor="t" lIns="0" rIns="0" tIns="0" bIns="0">
            <a:spAutoFit/>
          </a:bodyPr>
          <a:lstStyle/>
          <a:p>
            <a:pPr algn="r">
              <a:lnSpc>
                <a:spcPct val="135000"/>
              </a:lnSpc>
              <a:spcAft>
                <a:spcPts val="400"/>
              </a:spcAft>
            </a:pPr>
            <a:r>
              <a:rPr sz="800" b="0" i="0">
                <a:solidFill>
                  <a:srgbClr val="5C665A"/>
                </a:solidFill>
                <a:latin typeface="Inter"/>
              </a:rPr>
              <a:t>agriwintogo.com · +228 96 63 82 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Sommaire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02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51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01</a:t>
            </a:r>
          </a:p>
        </p:txBody>
      </p:sp>
      <p:sp>
        <p:nvSpPr>
          <p:cNvPr id="11" name="TextBox 10"/>
          <p:cNvSpPr txBox="1"/>
          <p:nvPr/>
        </p:nvSpPr>
        <p:spPr>
          <a:xfrm>
            <a:off x="1296000" y="153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La marque en une page</a:t>
            </a:r>
          </a:p>
        </p:txBody>
      </p:sp>
      <p:sp>
        <p:nvSpPr>
          <p:cNvPr id="12" name="Rectangle 11"/>
          <p:cNvSpPr/>
          <p:nvPr/>
        </p:nvSpPr>
        <p:spPr>
          <a:xfrm>
            <a:off x="720000" y="196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0000" y="2124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02</a:t>
            </a:r>
          </a:p>
        </p:txBody>
      </p:sp>
      <p:sp>
        <p:nvSpPr>
          <p:cNvPr id="14" name="TextBox 13"/>
          <p:cNvSpPr txBox="1"/>
          <p:nvPr/>
        </p:nvSpPr>
        <p:spPr>
          <a:xfrm>
            <a:off x="1296000" y="2142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Mission, vision, promesse</a:t>
            </a:r>
          </a:p>
        </p:txBody>
      </p:sp>
      <p:sp>
        <p:nvSpPr>
          <p:cNvPr id="15" name="Rectangle 14"/>
          <p:cNvSpPr/>
          <p:nvPr/>
        </p:nvSpPr>
        <p:spPr>
          <a:xfrm>
            <a:off x="720000" y="2574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0000" y="2736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03</a:t>
            </a:r>
          </a:p>
        </p:txBody>
      </p:sp>
      <p:sp>
        <p:nvSpPr>
          <p:cNvPr id="17" name="TextBox 16"/>
          <p:cNvSpPr txBox="1"/>
          <p:nvPr/>
        </p:nvSpPr>
        <p:spPr>
          <a:xfrm>
            <a:off x="1296000" y="2754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Valeurs</a:t>
            </a:r>
          </a:p>
        </p:txBody>
      </p:sp>
      <p:sp>
        <p:nvSpPr>
          <p:cNvPr id="18" name="Rectangle 17"/>
          <p:cNvSpPr/>
          <p:nvPr/>
        </p:nvSpPr>
        <p:spPr>
          <a:xfrm>
            <a:off x="720000" y="3186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0000" y="3348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04</a:t>
            </a:r>
          </a:p>
        </p:txBody>
      </p:sp>
      <p:sp>
        <p:nvSpPr>
          <p:cNvPr id="20" name="TextBox 19"/>
          <p:cNvSpPr txBox="1"/>
          <p:nvPr/>
        </p:nvSpPr>
        <p:spPr>
          <a:xfrm>
            <a:off x="1296000" y="3366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Territoire et publics</a:t>
            </a:r>
          </a:p>
        </p:txBody>
      </p:sp>
      <p:sp>
        <p:nvSpPr>
          <p:cNvPr id="21" name="Rectangle 20"/>
          <p:cNvSpPr/>
          <p:nvPr/>
        </p:nvSpPr>
        <p:spPr>
          <a:xfrm>
            <a:off x="720000" y="3798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0000" y="3960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05</a:t>
            </a:r>
          </a:p>
        </p:txBody>
      </p:sp>
      <p:sp>
        <p:nvSpPr>
          <p:cNvPr id="23" name="TextBox 22"/>
          <p:cNvSpPr txBox="1"/>
          <p:nvPr/>
        </p:nvSpPr>
        <p:spPr>
          <a:xfrm>
            <a:off x="1296000" y="3978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Ton de voix</a:t>
            </a:r>
          </a:p>
        </p:txBody>
      </p:sp>
      <p:sp>
        <p:nvSpPr>
          <p:cNvPr id="24" name="Rectangle 23"/>
          <p:cNvSpPr/>
          <p:nvPr/>
        </p:nvSpPr>
        <p:spPr>
          <a:xfrm>
            <a:off x="720000" y="4410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0000" y="457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06</a:t>
            </a:r>
          </a:p>
        </p:txBody>
      </p:sp>
      <p:sp>
        <p:nvSpPr>
          <p:cNvPr id="26" name="TextBox 25"/>
          <p:cNvSpPr txBox="1"/>
          <p:nvPr/>
        </p:nvSpPr>
        <p:spPr>
          <a:xfrm>
            <a:off x="1296000" y="459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Le symbole</a:t>
            </a:r>
          </a:p>
        </p:txBody>
      </p:sp>
      <p:sp>
        <p:nvSpPr>
          <p:cNvPr id="27" name="Rectangle 26"/>
          <p:cNvSpPr/>
          <p:nvPr/>
        </p:nvSpPr>
        <p:spPr>
          <a:xfrm>
            <a:off x="720000" y="502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20000" y="5184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07</a:t>
            </a:r>
          </a:p>
        </p:txBody>
      </p:sp>
      <p:sp>
        <p:nvSpPr>
          <p:cNvPr id="29" name="TextBox 28"/>
          <p:cNvSpPr txBox="1"/>
          <p:nvPr/>
        </p:nvSpPr>
        <p:spPr>
          <a:xfrm>
            <a:off x="1296000" y="5202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Les six variantes</a:t>
            </a:r>
          </a:p>
        </p:txBody>
      </p:sp>
      <p:sp>
        <p:nvSpPr>
          <p:cNvPr id="30" name="Rectangle 29"/>
          <p:cNvSpPr/>
          <p:nvPr/>
        </p:nvSpPr>
        <p:spPr>
          <a:xfrm>
            <a:off x="720000" y="5634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0000" y="5796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08</a:t>
            </a:r>
          </a:p>
        </p:txBody>
      </p:sp>
      <p:sp>
        <p:nvSpPr>
          <p:cNvPr id="32" name="TextBox 31"/>
          <p:cNvSpPr txBox="1"/>
          <p:nvPr/>
        </p:nvSpPr>
        <p:spPr>
          <a:xfrm>
            <a:off x="1296000" y="5814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Zone de protection et tailles</a:t>
            </a:r>
          </a:p>
        </p:txBody>
      </p:sp>
      <p:sp>
        <p:nvSpPr>
          <p:cNvPr id="33" name="Rectangle 32"/>
          <p:cNvSpPr/>
          <p:nvPr/>
        </p:nvSpPr>
        <p:spPr>
          <a:xfrm>
            <a:off x="720000" y="6246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20000" y="6408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09</a:t>
            </a:r>
          </a:p>
        </p:txBody>
      </p:sp>
      <p:sp>
        <p:nvSpPr>
          <p:cNvPr id="35" name="TextBox 34"/>
          <p:cNvSpPr txBox="1"/>
          <p:nvPr/>
        </p:nvSpPr>
        <p:spPr>
          <a:xfrm>
            <a:off x="1296000" y="6426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Usages interdits</a:t>
            </a:r>
          </a:p>
        </p:txBody>
      </p:sp>
      <p:sp>
        <p:nvSpPr>
          <p:cNvPr id="36" name="Rectangle 35"/>
          <p:cNvSpPr/>
          <p:nvPr/>
        </p:nvSpPr>
        <p:spPr>
          <a:xfrm>
            <a:off x="720000" y="6858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20000" y="7020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10</a:t>
            </a:r>
          </a:p>
        </p:txBody>
      </p:sp>
      <p:sp>
        <p:nvSpPr>
          <p:cNvPr id="38" name="TextBox 37"/>
          <p:cNvSpPr txBox="1"/>
          <p:nvPr/>
        </p:nvSpPr>
        <p:spPr>
          <a:xfrm>
            <a:off x="1296000" y="7038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Palette verte</a:t>
            </a:r>
          </a:p>
        </p:txBody>
      </p:sp>
      <p:sp>
        <p:nvSpPr>
          <p:cNvPr id="39" name="Rectangle 38"/>
          <p:cNvSpPr/>
          <p:nvPr/>
        </p:nvSpPr>
        <p:spPr>
          <a:xfrm>
            <a:off x="720000" y="7470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20000" y="763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11</a:t>
            </a:r>
          </a:p>
        </p:txBody>
      </p:sp>
      <p:sp>
        <p:nvSpPr>
          <p:cNvPr id="41" name="TextBox 40"/>
          <p:cNvSpPr txBox="1"/>
          <p:nvPr/>
        </p:nvSpPr>
        <p:spPr>
          <a:xfrm>
            <a:off x="1296000" y="765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Or et neutres</a:t>
            </a:r>
          </a:p>
        </p:txBody>
      </p:sp>
      <p:sp>
        <p:nvSpPr>
          <p:cNvPr id="42" name="Rectangle 41"/>
          <p:cNvSpPr/>
          <p:nvPr/>
        </p:nvSpPr>
        <p:spPr>
          <a:xfrm>
            <a:off x="720000" y="808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20000" y="8244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12</a:t>
            </a:r>
          </a:p>
        </p:txBody>
      </p:sp>
      <p:sp>
        <p:nvSpPr>
          <p:cNvPr id="44" name="TextBox 43"/>
          <p:cNvSpPr txBox="1"/>
          <p:nvPr/>
        </p:nvSpPr>
        <p:spPr>
          <a:xfrm>
            <a:off x="1296000" y="8262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Répartition et contrastes</a:t>
            </a:r>
          </a:p>
        </p:txBody>
      </p:sp>
      <p:sp>
        <p:nvSpPr>
          <p:cNvPr id="45" name="Rectangle 44"/>
          <p:cNvSpPr/>
          <p:nvPr/>
        </p:nvSpPr>
        <p:spPr>
          <a:xfrm>
            <a:off x="720000" y="8694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560000" y="151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13</a:t>
            </a:r>
          </a:p>
        </p:txBody>
      </p:sp>
      <p:sp>
        <p:nvSpPr>
          <p:cNvPr id="47" name="TextBox 46"/>
          <p:cNvSpPr txBox="1"/>
          <p:nvPr/>
        </p:nvSpPr>
        <p:spPr>
          <a:xfrm>
            <a:off x="8136000" y="153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Les trois polices</a:t>
            </a:r>
          </a:p>
        </p:txBody>
      </p:sp>
      <p:sp>
        <p:nvSpPr>
          <p:cNvPr id="48" name="Rectangle 47"/>
          <p:cNvSpPr/>
          <p:nvPr/>
        </p:nvSpPr>
        <p:spPr>
          <a:xfrm>
            <a:off x="7560000" y="196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560000" y="2124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14</a:t>
            </a:r>
          </a:p>
        </p:txBody>
      </p:sp>
      <p:sp>
        <p:nvSpPr>
          <p:cNvPr id="50" name="TextBox 49"/>
          <p:cNvSpPr txBox="1"/>
          <p:nvPr/>
        </p:nvSpPr>
        <p:spPr>
          <a:xfrm>
            <a:off x="8136000" y="2142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Échelle typographique</a:t>
            </a:r>
          </a:p>
        </p:txBody>
      </p:sp>
      <p:sp>
        <p:nvSpPr>
          <p:cNvPr id="51" name="Rectangle 50"/>
          <p:cNvSpPr/>
          <p:nvPr/>
        </p:nvSpPr>
        <p:spPr>
          <a:xfrm>
            <a:off x="7560000" y="2574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560000" y="2736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15</a:t>
            </a:r>
          </a:p>
        </p:txBody>
      </p:sp>
      <p:sp>
        <p:nvSpPr>
          <p:cNvPr id="53" name="TextBox 52"/>
          <p:cNvSpPr txBox="1"/>
          <p:nvPr/>
        </p:nvSpPr>
        <p:spPr>
          <a:xfrm>
            <a:off x="8136000" y="2754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Règles de composition</a:t>
            </a:r>
          </a:p>
        </p:txBody>
      </p:sp>
      <p:sp>
        <p:nvSpPr>
          <p:cNvPr id="54" name="Rectangle 53"/>
          <p:cNvSpPr/>
          <p:nvPr/>
        </p:nvSpPr>
        <p:spPr>
          <a:xfrm>
            <a:off x="7560000" y="3186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560000" y="3348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16</a:t>
            </a:r>
          </a:p>
        </p:txBody>
      </p:sp>
      <p:sp>
        <p:nvSpPr>
          <p:cNvPr id="56" name="TextBox 55"/>
          <p:cNvSpPr txBox="1"/>
          <p:nvPr/>
        </p:nvSpPr>
        <p:spPr>
          <a:xfrm>
            <a:off x="8136000" y="3366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Iconographie</a:t>
            </a:r>
          </a:p>
        </p:txBody>
      </p:sp>
      <p:sp>
        <p:nvSpPr>
          <p:cNvPr id="57" name="Rectangle 56"/>
          <p:cNvSpPr/>
          <p:nvPr/>
        </p:nvSpPr>
        <p:spPr>
          <a:xfrm>
            <a:off x="7560000" y="3798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560000" y="3960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17</a:t>
            </a:r>
          </a:p>
        </p:txBody>
      </p:sp>
      <p:sp>
        <p:nvSpPr>
          <p:cNvPr id="59" name="TextBox 58"/>
          <p:cNvSpPr txBox="1"/>
          <p:nvPr/>
        </p:nvSpPr>
        <p:spPr>
          <a:xfrm>
            <a:off x="8136000" y="3978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Photographie</a:t>
            </a:r>
          </a:p>
        </p:txBody>
      </p:sp>
      <p:sp>
        <p:nvSpPr>
          <p:cNvPr id="60" name="Rectangle 59"/>
          <p:cNvSpPr/>
          <p:nvPr/>
        </p:nvSpPr>
        <p:spPr>
          <a:xfrm>
            <a:off x="7560000" y="4410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7560000" y="457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18</a:t>
            </a:r>
          </a:p>
        </p:txBody>
      </p:sp>
      <p:sp>
        <p:nvSpPr>
          <p:cNvPr id="62" name="TextBox 61"/>
          <p:cNvSpPr txBox="1"/>
          <p:nvPr/>
        </p:nvSpPr>
        <p:spPr>
          <a:xfrm>
            <a:off x="8136000" y="459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Formes, ombres, mouvement</a:t>
            </a:r>
          </a:p>
        </p:txBody>
      </p:sp>
      <p:sp>
        <p:nvSpPr>
          <p:cNvPr id="63" name="Rectangle 62"/>
          <p:cNvSpPr/>
          <p:nvPr/>
        </p:nvSpPr>
        <p:spPr>
          <a:xfrm>
            <a:off x="7560000" y="502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560000" y="5184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19</a:t>
            </a:r>
          </a:p>
        </p:txBody>
      </p:sp>
      <p:sp>
        <p:nvSpPr>
          <p:cNvPr id="65" name="TextBox 64"/>
          <p:cNvSpPr txBox="1"/>
          <p:nvPr/>
        </p:nvSpPr>
        <p:spPr>
          <a:xfrm>
            <a:off x="8136000" y="5202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Composants d'interface</a:t>
            </a:r>
          </a:p>
        </p:txBody>
      </p:sp>
      <p:sp>
        <p:nvSpPr>
          <p:cNvPr id="66" name="Rectangle 65"/>
          <p:cNvSpPr/>
          <p:nvPr/>
        </p:nvSpPr>
        <p:spPr>
          <a:xfrm>
            <a:off x="7560000" y="5634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7560000" y="5796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20</a:t>
            </a:r>
          </a:p>
        </p:txBody>
      </p:sp>
      <p:sp>
        <p:nvSpPr>
          <p:cNvPr id="68" name="TextBox 67"/>
          <p:cNvSpPr txBox="1"/>
          <p:nvPr/>
        </p:nvSpPr>
        <p:spPr>
          <a:xfrm>
            <a:off x="8136000" y="5814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Papeterie</a:t>
            </a:r>
          </a:p>
        </p:txBody>
      </p:sp>
      <p:sp>
        <p:nvSpPr>
          <p:cNvPr id="69" name="Rectangle 68"/>
          <p:cNvSpPr/>
          <p:nvPr/>
        </p:nvSpPr>
        <p:spPr>
          <a:xfrm>
            <a:off x="7560000" y="6246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7560000" y="6408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21</a:t>
            </a:r>
          </a:p>
        </p:txBody>
      </p:sp>
      <p:sp>
        <p:nvSpPr>
          <p:cNvPr id="71" name="TextBox 70"/>
          <p:cNvSpPr txBox="1"/>
          <p:nvPr/>
        </p:nvSpPr>
        <p:spPr>
          <a:xfrm>
            <a:off x="8136000" y="6426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Supports de terrain</a:t>
            </a:r>
          </a:p>
        </p:txBody>
      </p:sp>
      <p:sp>
        <p:nvSpPr>
          <p:cNvPr id="72" name="Rectangle 71"/>
          <p:cNvSpPr/>
          <p:nvPr/>
        </p:nvSpPr>
        <p:spPr>
          <a:xfrm>
            <a:off x="7560000" y="6858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560000" y="7020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22</a:t>
            </a:r>
          </a:p>
        </p:txBody>
      </p:sp>
      <p:sp>
        <p:nvSpPr>
          <p:cNvPr id="74" name="TextBox 73"/>
          <p:cNvSpPr txBox="1"/>
          <p:nvPr/>
        </p:nvSpPr>
        <p:spPr>
          <a:xfrm>
            <a:off x="8136000" y="7038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Digital et réseaux sociaux</a:t>
            </a:r>
          </a:p>
        </p:txBody>
      </p:sp>
      <p:sp>
        <p:nvSpPr>
          <p:cNvPr id="75" name="Rectangle 74"/>
          <p:cNvSpPr/>
          <p:nvPr/>
        </p:nvSpPr>
        <p:spPr>
          <a:xfrm>
            <a:off x="7560000" y="7470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7560000" y="7632000"/>
            <a:ext cx="504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9A6412"/>
                </a:solidFill>
                <a:latin typeface="Poppins"/>
              </a:rPr>
              <a:t>23</a:t>
            </a:r>
          </a:p>
        </p:txBody>
      </p:sp>
      <p:sp>
        <p:nvSpPr>
          <p:cNvPr id="77" name="TextBox 76"/>
          <p:cNvSpPr txBox="1"/>
          <p:nvPr/>
        </p:nvSpPr>
        <p:spPr>
          <a:xfrm>
            <a:off x="8136000" y="7650000"/>
            <a:ext cx="5940000" cy="288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Gouvernance de la marque</a:t>
            </a:r>
          </a:p>
        </p:txBody>
      </p:sp>
      <p:sp>
        <p:nvSpPr>
          <p:cNvPr id="78" name="Rectangle 77"/>
          <p:cNvSpPr/>
          <p:nvPr/>
        </p:nvSpPr>
        <p:spPr>
          <a:xfrm>
            <a:off x="7560000" y="8082000"/>
            <a:ext cx="640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01</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La marque en une page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03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6300000" cy="720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AgriWin Togo est une entreprise d'expertise et de prestation de services agricoles, de formation et d'écoulement de produits agricoles, spécialisée dans les plants tropicaux. Fondée en 2025, basée à Kégué.</a:t>
            </a:r>
          </a:p>
        </p:txBody>
      </p:sp>
      <p:sp>
        <p:nvSpPr>
          <p:cNvPr id="11" name="TextBox 10"/>
          <p:cNvSpPr txBox="1"/>
          <p:nvPr/>
        </p:nvSpPr>
        <p:spPr>
          <a:xfrm>
            <a:off x="720000" y="2232000"/>
            <a:ext cx="6300000" cy="648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Elle est née d'un constat simple : beaucoup de porteurs de projets agricoles manquent en même temps d'un accompagnement technique fiable, de plants de qualité et de débouchés pour leurs récoltes. AgriWin Togo répond aux trois dans une seule structure.</a:t>
            </a:r>
          </a:p>
        </p:txBody>
      </p:sp>
      <p:graphicFrame>
        <p:nvGraphicFramePr>
          <p:cNvPr id="12" name="Table 11"/>
          <p:cNvGraphicFramePr>
            <a:graphicFrameLocks noGrp="1"/>
          </p:cNvGraphicFramePr>
          <p:nvPr/>
        </p:nvGraphicFramePr>
        <p:xfrm>
          <a:off x="720000" y="3096000"/>
          <a:ext cx="6300000" cy="3600000"/>
        </p:xfrm>
        <a:graphic>
          <a:graphicData uri="http://schemas.openxmlformats.org/drawingml/2006/table">
            <a:tbl>
              <a:tblPr firstRow="1" bandRow="1">
                <a:tableStyleId>{5C22544A-7EE6-4342-B048-85BDC9FD1C3A}</a:tableStyleId>
              </a:tblPr>
              <a:tblGrid>
                <a:gridCol w="2142000"/>
                <a:gridCol w="4158000"/>
              </a:tblGrid>
              <a:tr h="360000">
                <a:tc>
                  <a:txBody>
                    <a:bodyPr/>
                    <a:lstStyle/>
                    <a:p>
                      <a:pPr>
                        <a:lnSpc>
                          <a:spcPct val="125000"/>
                        </a:lnSpc>
                      </a:pPr>
                      <a:r>
                        <a:rPr sz="900" b="1">
                          <a:solidFill>
                            <a:srgbClr val="FFFFFF"/>
                          </a:solidFill>
                          <a:latin typeface="Poppins"/>
                        </a:rPr>
                        <a:t>REPÈRE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VALEUR</a:t>
                      </a:r>
                    </a:p>
                  </a:txBody>
                  <a:tcPr marL="90000" marR="90000" marT="50400" marB="50400" anchor="ctr">
                    <a:solidFill>
                      <a:srgbClr val="1B5E20"/>
                    </a:solidFill>
                  </a:tcPr>
                </a:tc>
              </a:tr>
              <a:tr h="360000">
                <a:tc>
                  <a:txBody>
                    <a:bodyPr/>
                    <a:lstStyle/>
                    <a:p>
                      <a:pPr>
                        <a:lnSpc>
                          <a:spcPct val="125000"/>
                        </a:lnSpc>
                      </a:pPr>
                      <a:r>
                        <a:rPr sz="900" b="1">
                          <a:solidFill>
                            <a:srgbClr val="0F3D17"/>
                          </a:solidFill>
                          <a:latin typeface="Poppins"/>
                        </a:rPr>
                        <a:t>Raison sociale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AgriWin Togo</a:t>
                      </a:r>
                    </a:p>
                  </a:txBody>
                  <a:tcPr marL="90000" marR="90000" marT="50400" marB="50400" anchor="ctr">
                    <a:solidFill>
                      <a:srgbClr val="FFFFFF"/>
                    </a:solidFill>
                  </a:tcPr>
                </a:tc>
              </a:tr>
              <a:tr h="360000">
                <a:tc>
                  <a:txBody>
                    <a:bodyPr/>
                    <a:lstStyle/>
                    <a:p>
                      <a:pPr>
                        <a:lnSpc>
                          <a:spcPct val="125000"/>
                        </a:lnSpc>
                      </a:pPr>
                      <a:r>
                        <a:rPr sz="900" b="1">
                          <a:solidFill>
                            <a:srgbClr val="0F3D17"/>
                          </a:solidFill>
                          <a:latin typeface="Poppins"/>
                        </a:rPr>
                        <a:t>Signature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Votre partenaire agricole !</a:t>
                      </a:r>
                    </a:p>
                  </a:txBody>
                  <a:tcPr marL="90000" marR="90000" marT="50400" marB="50400" anchor="ctr">
                    <a:solidFill>
                      <a:srgbClr val="F7FAF5"/>
                    </a:solidFill>
                  </a:tcPr>
                </a:tc>
              </a:tr>
              <a:tr h="360000">
                <a:tc>
                  <a:txBody>
                    <a:bodyPr/>
                    <a:lstStyle/>
                    <a:p>
                      <a:pPr>
                        <a:lnSpc>
                          <a:spcPct val="125000"/>
                        </a:lnSpc>
                      </a:pPr>
                      <a:r>
                        <a:rPr sz="900" b="1">
                          <a:solidFill>
                            <a:srgbClr val="0F3D17"/>
                          </a:solidFill>
                          <a:latin typeface="Poppins"/>
                        </a:rPr>
                        <a:t>Création</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2025</a:t>
                      </a:r>
                    </a:p>
                  </a:txBody>
                  <a:tcPr marL="90000" marR="90000" marT="50400" marB="50400" anchor="ctr">
                    <a:solidFill>
                      <a:srgbClr val="FFFFFF"/>
                    </a:solidFill>
                  </a:tcPr>
                </a:tc>
              </a:tr>
              <a:tr h="360000">
                <a:tc>
                  <a:txBody>
                    <a:bodyPr/>
                    <a:lstStyle/>
                    <a:p>
                      <a:pPr>
                        <a:lnSpc>
                          <a:spcPct val="125000"/>
                        </a:lnSpc>
                      </a:pPr>
                      <a:r>
                        <a:rPr sz="900" b="1">
                          <a:solidFill>
                            <a:srgbClr val="0F3D17"/>
                          </a:solidFill>
                          <a:latin typeface="Poppins"/>
                        </a:rPr>
                        <a:t>Siège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Kégué, Togo</a:t>
                      </a:r>
                    </a:p>
                  </a:txBody>
                  <a:tcPr marL="90000" marR="90000" marT="50400" marB="50400" anchor="ctr">
                    <a:solidFill>
                      <a:srgbClr val="F7FAF5"/>
                    </a:solidFill>
                  </a:tcPr>
                </a:tc>
              </a:tr>
              <a:tr h="360000">
                <a:tc>
                  <a:txBody>
                    <a:bodyPr/>
                    <a:lstStyle/>
                    <a:p>
                      <a:pPr>
                        <a:lnSpc>
                          <a:spcPct val="125000"/>
                        </a:lnSpc>
                      </a:pPr>
                      <a:r>
                        <a:rPr sz="900" b="1">
                          <a:solidFill>
                            <a:srgbClr val="0F3D17"/>
                          </a:solidFill>
                          <a:latin typeface="Poppins"/>
                        </a:rPr>
                        <a:t>Dirigeant</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KEGNON Emmanuel, fondateur &amp; CEO</a:t>
                      </a:r>
                    </a:p>
                  </a:txBody>
                  <a:tcPr marL="90000" marR="90000" marT="50400" marB="50400" anchor="ctr">
                    <a:solidFill>
                      <a:srgbClr val="FFFFFF"/>
                    </a:solidFill>
                  </a:tcPr>
                </a:tc>
              </a:tr>
              <a:tr h="360000">
                <a:tc>
                  <a:txBody>
                    <a:bodyPr/>
                    <a:lstStyle/>
                    <a:p>
                      <a:pPr>
                        <a:lnSpc>
                          <a:spcPct val="125000"/>
                        </a:lnSpc>
                      </a:pPr>
                      <a:r>
                        <a:rPr sz="900" b="1">
                          <a:solidFill>
                            <a:srgbClr val="0F3D17"/>
                          </a:solidFill>
                          <a:latin typeface="Poppins"/>
                        </a:rPr>
                        <a:t>Métiers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Conseil · Formation · Pépinière · Écoulement · Élevage</a:t>
                      </a:r>
                    </a:p>
                  </a:txBody>
                  <a:tcPr marL="90000" marR="90000" marT="50400" marB="50400" anchor="ctr">
                    <a:solidFill>
                      <a:srgbClr val="F7FAF5"/>
                    </a:solidFill>
                  </a:tcPr>
                </a:tc>
              </a:tr>
              <a:tr h="360000">
                <a:tc>
                  <a:txBody>
                    <a:bodyPr/>
                    <a:lstStyle/>
                    <a:p>
                      <a:pPr>
                        <a:lnSpc>
                          <a:spcPct val="125000"/>
                        </a:lnSpc>
                      </a:pPr>
                      <a:r>
                        <a:rPr sz="900" b="1">
                          <a:solidFill>
                            <a:srgbClr val="0F3D17"/>
                          </a:solidFill>
                          <a:latin typeface="Poppins"/>
                        </a:rPr>
                        <a:t>Portée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Togo, Afrique de l'Ouest, international</a:t>
                      </a:r>
                    </a:p>
                  </a:txBody>
                  <a:tcPr marL="90000" marR="90000" marT="50400" marB="50400" anchor="ctr">
                    <a:solidFill>
                      <a:srgbClr val="FFFFFF"/>
                    </a:solidFill>
                  </a:tcPr>
                </a:tc>
              </a:tr>
              <a:tr h="360000">
                <a:tc>
                  <a:txBody>
                    <a:bodyPr/>
                    <a:lstStyle/>
                    <a:p>
                      <a:pPr>
                        <a:lnSpc>
                          <a:spcPct val="125000"/>
                        </a:lnSpc>
                      </a:pPr>
                      <a:r>
                        <a:rPr sz="900" b="1">
                          <a:solidFill>
                            <a:srgbClr val="0F3D17"/>
                          </a:solidFill>
                          <a:latin typeface="Poppins"/>
                        </a:rPr>
                        <a:t>Contact</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+228 96 63 82 00 · agriwintogo@gmail.com</a:t>
                      </a:r>
                    </a:p>
                  </a:txBody>
                  <a:tcPr marL="90000" marR="90000" marT="50400" marB="50400" anchor="ctr">
                    <a:solidFill>
                      <a:srgbClr val="F7FAF5"/>
                    </a:solidFill>
                  </a:tcPr>
                </a:tc>
              </a:tr>
              <a:tr h="360000">
                <a:tc>
                  <a:txBody>
                    <a:bodyPr/>
                    <a:lstStyle/>
                    <a:p>
                      <a:pPr>
                        <a:lnSpc>
                          <a:spcPct val="125000"/>
                        </a:lnSpc>
                      </a:pPr>
                      <a:r>
                        <a:rPr sz="900" b="1">
                          <a:solidFill>
                            <a:srgbClr val="0F3D17"/>
                          </a:solidFill>
                          <a:latin typeface="Poppins"/>
                        </a:rPr>
                        <a:t>Horaires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Lun–Sam : 8h – 18h</a:t>
                      </a:r>
                    </a:p>
                  </a:txBody>
                  <a:tcPr marL="90000" marR="90000" marT="50400" marB="50400" anchor="ctr">
                    <a:solidFill>
                      <a:srgbClr val="FFFFFF"/>
                    </a:solidFill>
                  </a:tcPr>
                </a:tc>
              </a:tr>
            </a:tbl>
          </a:graphicData>
        </a:graphic>
      </p:graphicFrame>
      <p:sp>
        <p:nvSpPr>
          <p:cNvPr id="13" name="Rounded Rectangle 12"/>
          <p:cNvSpPr/>
          <p:nvPr/>
        </p:nvSpPr>
        <p:spPr>
          <a:xfrm>
            <a:off x="7740000" y="1440000"/>
            <a:ext cx="6660000" cy="1872000"/>
          </a:xfrm>
          <a:prstGeom prst="roundRect">
            <a:avLst>
              <a:gd name="adj" fmla="val 6000"/>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92000" y="1656000"/>
            <a:ext cx="6156000" cy="1080000"/>
          </a:xfrm>
          <a:prstGeom prst="rect">
            <a:avLst/>
          </a:prstGeom>
          <a:noFill/>
        </p:spPr>
        <p:txBody>
          <a:bodyPr wrap="square" anchor="t" lIns="0" rIns="0" tIns="0" bIns="0">
            <a:spAutoFit/>
          </a:bodyPr>
          <a:lstStyle/>
          <a:p>
            <a:pPr algn="l">
              <a:lnSpc>
                <a:spcPct val="145000"/>
              </a:lnSpc>
              <a:spcAft>
                <a:spcPts val="400"/>
              </a:spcAft>
            </a:pPr>
            <a:r>
              <a:rPr sz="1500" b="0" i="1">
                <a:solidFill>
                  <a:srgbClr val="FFFFFF"/>
                </a:solidFill>
                <a:latin typeface="Playfair Display"/>
              </a:rPr>
              <a:t>« Nous voulons que chaque client, qu'il soit à Kégué ou à l'international, reçoive des plants de qualité et un accompagnement dans lequel il peut avoir une confiance totale. »</a:t>
            </a:r>
          </a:p>
        </p:txBody>
      </p:sp>
      <p:sp>
        <p:nvSpPr>
          <p:cNvPr id="15" name="TextBox 14"/>
          <p:cNvSpPr txBox="1"/>
          <p:nvPr/>
        </p:nvSpPr>
        <p:spPr>
          <a:xfrm>
            <a:off x="7992000" y="2880000"/>
            <a:ext cx="6156000" cy="252000"/>
          </a:xfrm>
          <a:prstGeom prst="rect">
            <a:avLst/>
          </a:prstGeom>
          <a:noFill/>
        </p:spPr>
        <p:txBody>
          <a:bodyPr wrap="square" anchor="t" lIns="0" rIns="0" tIns="0" bIns="0">
            <a:spAutoFit/>
          </a:bodyPr>
          <a:lstStyle/>
          <a:p>
            <a:pPr algn="l">
              <a:lnSpc>
                <a:spcPct val="135000"/>
              </a:lnSpc>
              <a:spcAft>
                <a:spcPts val="400"/>
              </a:spcAft>
            </a:pPr>
            <a:r>
              <a:rPr sz="900" b="0" i="0">
                <a:solidFill>
                  <a:srgbClr val="EAB866"/>
                </a:solidFill>
                <a:latin typeface="Inter"/>
              </a:rPr>
              <a:t>KEGNON Emmanuel — Fondateur &amp; CEO</a:t>
            </a:r>
          </a:p>
        </p:txBody>
      </p:sp>
      <p:sp>
        <p:nvSpPr>
          <p:cNvPr id="16" name="TextBox 15"/>
          <p:cNvSpPr txBox="1"/>
          <p:nvPr/>
        </p:nvSpPr>
        <p:spPr>
          <a:xfrm>
            <a:off x="7740000" y="360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Les six domaines</a:t>
            </a:r>
          </a:p>
        </p:txBody>
      </p:sp>
      <p:sp>
        <p:nvSpPr>
          <p:cNvPr id="17" name="Rounded Rectangle 16"/>
          <p:cNvSpPr/>
          <p:nvPr/>
        </p:nvSpPr>
        <p:spPr>
          <a:xfrm>
            <a:off x="7740000" y="4032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20000" y="4125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Expertise &amp; conseil</a:t>
            </a:r>
          </a:p>
        </p:txBody>
      </p:sp>
      <p:sp>
        <p:nvSpPr>
          <p:cNvPr id="19" name="Rounded Rectangle 18"/>
          <p:cNvSpPr/>
          <p:nvPr/>
        </p:nvSpPr>
        <p:spPr>
          <a:xfrm>
            <a:off x="11124000" y="4032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304000" y="4125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Formation agricole</a:t>
            </a:r>
          </a:p>
        </p:txBody>
      </p:sp>
      <p:sp>
        <p:nvSpPr>
          <p:cNvPr id="21" name="Rounded Rectangle 20"/>
          <p:cNvSpPr/>
          <p:nvPr/>
        </p:nvSpPr>
        <p:spPr>
          <a:xfrm>
            <a:off x="7740000" y="4536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20000" y="4629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Pépinière &amp; plants tropicaux</a:t>
            </a:r>
          </a:p>
        </p:txBody>
      </p:sp>
      <p:sp>
        <p:nvSpPr>
          <p:cNvPr id="23" name="Rounded Rectangle 22"/>
          <p:cNvSpPr/>
          <p:nvPr/>
        </p:nvSpPr>
        <p:spPr>
          <a:xfrm>
            <a:off x="11124000" y="4536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04000" y="4629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Prestations agricoles</a:t>
            </a:r>
          </a:p>
        </p:txBody>
      </p:sp>
      <p:sp>
        <p:nvSpPr>
          <p:cNvPr id="25" name="Rounded Rectangle 24"/>
          <p:cNvSpPr/>
          <p:nvPr/>
        </p:nvSpPr>
        <p:spPr>
          <a:xfrm>
            <a:off x="7740000" y="5040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920000" y="5133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Écoulement de produits</a:t>
            </a:r>
          </a:p>
        </p:txBody>
      </p:sp>
      <p:sp>
        <p:nvSpPr>
          <p:cNvPr id="27" name="Rounded Rectangle 26"/>
          <p:cNvSpPr/>
          <p:nvPr/>
        </p:nvSpPr>
        <p:spPr>
          <a:xfrm>
            <a:off x="11124000" y="5040000"/>
            <a:ext cx="3240000" cy="360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304000" y="5133600"/>
            <a:ext cx="2952000" cy="216000"/>
          </a:xfrm>
          <a:prstGeom prst="rect">
            <a:avLst/>
          </a:prstGeom>
          <a:noFill/>
        </p:spPr>
        <p:txBody>
          <a:bodyPr wrap="square" anchor="t" lIns="0" rIns="0" tIns="0" bIns="0">
            <a:spAutoFit/>
          </a:bodyPr>
          <a:lstStyle/>
          <a:p>
            <a:pPr algn="l">
              <a:lnSpc>
                <a:spcPct val="135000"/>
              </a:lnSpc>
              <a:spcAft>
                <a:spcPts val="400"/>
              </a:spcAft>
            </a:pPr>
            <a:r>
              <a:rPr sz="950" b="1" i="0">
                <a:solidFill>
                  <a:srgbClr val="1B5E20"/>
                </a:solidFill>
                <a:latin typeface="Poppins"/>
              </a:rPr>
              <a:t>Accompagnement en élevage</a:t>
            </a:r>
          </a:p>
        </p:txBody>
      </p:sp>
      <p:sp>
        <p:nvSpPr>
          <p:cNvPr id="29" name="TextBox 28"/>
          <p:cNvSpPr txBox="1"/>
          <p:nvPr/>
        </p:nvSpPr>
        <p:spPr>
          <a:xfrm>
            <a:off x="7740000" y="5832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Ce qui ne change jamais</a:t>
            </a:r>
          </a:p>
        </p:txBody>
      </p:sp>
      <p:sp>
        <p:nvSpPr>
          <p:cNvPr id="30" name="Oval 29"/>
          <p:cNvSpPr/>
          <p:nvPr/>
        </p:nvSpPr>
        <p:spPr>
          <a:xfrm>
            <a:off x="7740000" y="632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20000" y="6264000"/>
            <a:ext cx="648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nom s'écrit AgriWin Togo — deux majuscules internes, un espace avant Togo.</a:t>
            </a:r>
          </a:p>
        </p:txBody>
      </p:sp>
      <p:sp>
        <p:nvSpPr>
          <p:cNvPr id="32" name="Oval 31"/>
          <p:cNvSpPr/>
          <p:nvPr/>
        </p:nvSpPr>
        <p:spPr>
          <a:xfrm>
            <a:off x="7740000" y="671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20000" y="6660000"/>
            <a:ext cx="648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La signature porte son point d'exclamation et son espace insécable.</a:t>
            </a:r>
          </a:p>
        </p:txBody>
      </p:sp>
      <p:sp>
        <p:nvSpPr>
          <p:cNvPr id="34" name="Oval 33"/>
          <p:cNvSpPr/>
          <p:nvPr/>
        </p:nvSpPr>
        <p:spPr>
          <a:xfrm>
            <a:off x="7740000" y="711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20000" y="7056000"/>
            <a:ext cx="648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vert domine, l'or ponctue.</a:t>
            </a:r>
          </a:p>
        </p:txBody>
      </p:sp>
      <p:sp>
        <p:nvSpPr>
          <p:cNvPr id="36" name="Oval 35"/>
          <p:cNvSpPr/>
          <p:nvPr/>
        </p:nvSpPr>
        <p:spPr>
          <a:xfrm>
            <a:off x="7740000" y="7509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920000" y="7452000"/>
            <a:ext cx="648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Ce qui est promis est vérifiable.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02</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Mission, vision, promesse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04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4320000" cy="4680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52000" y="1944000"/>
            <a:ext cx="3456000" cy="252000"/>
          </a:xfrm>
          <a:prstGeom prst="rect">
            <a:avLst/>
          </a:prstGeom>
          <a:noFill/>
        </p:spPr>
        <p:txBody>
          <a:bodyPr wrap="square" anchor="t" lIns="0" rIns="0" tIns="0" bIns="0">
            <a:spAutoFit/>
          </a:bodyPr>
          <a:lstStyle/>
          <a:p>
            <a:pPr algn="l">
              <a:lnSpc>
                <a:spcPct val="135000"/>
              </a:lnSpc>
              <a:spcAft>
                <a:spcPts val="400"/>
              </a:spcAft>
            </a:pPr>
            <a:r>
              <a:rPr sz="1000" b="1" i="0">
                <a:solidFill>
                  <a:srgbClr val="2E7D32"/>
                </a:solidFill>
                <a:latin typeface="Poppins"/>
              </a:rPr>
              <a:t>MISSION</a:t>
            </a:r>
          </a:p>
        </p:txBody>
      </p:sp>
      <p:sp>
        <p:nvSpPr>
          <p:cNvPr id="12" name="TextBox 11"/>
          <p:cNvSpPr txBox="1"/>
          <p:nvPr/>
        </p:nvSpPr>
        <p:spPr>
          <a:xfrm>
            <a:off x="1152000" y="2448000"/>
            <a:ext cx="3456000" cy="2520000"/>
          </a:xfrm>
          <a:prstGeom prst="rect">
            <a:avLst/>
          </a:prstGeom>
          <a:noFill/>
        </p:spPr>
        <p:txBody>
          <a:bodyPr wrap="square" anchor="t" lIns="0" rIns="0" tIns="0" bIns="0">
            <a:spAutoFit/>
          </a:bodyPr>
          <a:lstStyle/>
          <a:p>
            <a:pPr algn="l">
              <a:lnSpc>
                <a:spcPct val="160000"/>
              </a:lnSpc>
              <a:spcAft>
                <a:spcPts val="400"/>
              </a:spcAft>
            </a:pPr>
            <a:r>
              <a:rPr sz="1200" b="0" i="0">
                <a:solidFill>
                  <a:srgbClr val="1A2417"/>
                </a:solidFill>
                <a:latin typeface="Inter"/>
              </a:rPr>
              <a:t>Rendre l'expertise agricole, les plants de qualité et les débouchés commerciaux accessibles à tous les porteurs de projets, quelle que soit leur taille, au Togo et au-delà.</a:t>
            </a:r>
          </a:p>
        </p:txBody>
      </p:sp>
      <p:sp>
        <p:nvSpPr>
          <p:cNvPr id="13" name="Rounded Rectangle 12"/>
          <p:cNvSpPr/>
          <p:nvPr/>
        </p:nvSpPr>
        <p:spPr>
          <a:xfrm>
            <a:off x="5292000" y="1512000"/>
            <a:ext cx="4320000" cy="4680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724000" y="1944000"/>
            <a:ext cx="3456000" cy="252000"/>
          </a:xfrm>
          <a:prstGeom prst="rect">
            <a:avLst/>
          </a:prstGeom>
          <a:noFill/>
        </p:spPr>
        <p:txBody>
          <a:bodyPr wrap="square" anchor="t" lIns="0" rIns="0" tIns="0" bIns="0">
            <a:spAutoFit/>
          </a:bodyPr>
          <a:lstStyle/>
          <a:p>
            <a:pPr algn="l">
              <a:lnSpc>
                <a:spcPct val="135000"/>
              </a:lnSpc>
              <a:spcAft>
                <a:spcPts val="400"/>
              </a:spcAft>
            </a:pPr>
            <a:r>
              <a:rPr sz="1000" b="1" i="0">
                <a:solidFill>
                  <a:srgbClr val="2E7D32"/>
                </a:solidFill>
                <a:latin typeface="Poppins"/>
              </a:rPr>
              <a:t>VISION</a:t>
            </a:r>
          </a:p>
        </p:txBody>
      </p:sp>
      <p:sp>
        <p:nvSpPr>
          <p:cNvPr id="15" name="TextBox 14"/>
          <p:cNvSpPr txBox="1"/>
          <p:nvPr/>
        </p:nvSpPr>
        <p:spPr>
          <a:xfrm>
            <a:off x="5724000" y="2448000"/>
            <a:ext cx="3456000" cy="2520000"/>
          </a:xfrm>
          <a:prstGeom prst="rect">
            <a:avLst/>
          </a:prstGeom>
          <a:noFill/>
        </p:spPr>
        <p:txBody>
          <a:bodyPr wrap="square" anchor="t" lIns="0" rIns="0" tIns="0" bIns="0">
            <a:spAutoFit/>
          </a:bodyPr>
          <a:lstStyle/>
          <a:p>
            <a:pPr algn="l">
              <a:lnSpc>
                <a:spcPct val="160000"/>
              </a:lnSpc>
              <a:spcAft>
                <a:spcPts val="400"/>
              </a:spcAft>
            </a:pPr>
            <a:r>
              <a:rPr sz="1200" b="0" i="0">
                <a:solidFill>
                  <a:srgbClr val="1A2417"/>
                </a:solidFill>
                <a:latin typeface="Inter"/>
              </a:rPr>
              <a:t>Devenir une référence ouest-africaine de l'accompagnement agricole intégré, reconnue pour la qualité de ses plants tropicaux et le sérieux de ses prestations.</a:t>
            </a:r>
          </a:p>
        </p:txBody>
      </p:sp>
      <p:sp>
        <p:nvSpPr>
          <p:cNvPr id="16" name="Rounded Rectangle 15"/>
          <p:cNvSpPr/>
          <p:nvPr/>
        </p:nvSpPr>
        <p:spPr>
          <a:xfrm>
            <a:off x="9864000" y="1512000"/>
            <a:ext cx="4320000" cy="4680000"/>
          </a:xfrm>
          <a:prstGeom prst="roundRect">
            <a:avLst>
              <a:gd name="adj" fmla="val 6000"/>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296000" y="1944000"/>
            <a:ext cx="3456000" cy="252000"/>
          </a:xfrm>
          <a:prstGeom prst="rect">
            <a:avLst/>
          </a:prstGeom>
          <a:noFill/>
        </p:spPr>
        <p:txBody>
          <a:bodyPr wrap="square" anchor="t" lIns="0" rIns="0" tIns="0" bIns="0">
            <a:spAutoFit/>
          </a:bodyPr>
          <a:lstStyle/>
          <a:p>
            <a:pPr algn="l">
              <a:lnSpc>
                <a:spcPct val="135000"/>
              </a:lnSpc>
              <a:spcAft>
                <a:spcPts val="400"/>
              </a:spcAft>
            </a:pPr>
            <a:r>
              <a:rPr sz="1000" b="1" i="0">
                <a:solidFill>
                  <a:srgbClr val="EAB866"/>
                </a:solidFill>
                <a:latin typeface="Poppins"/>
              </a:rPr>
              <a:t>PROMESSE</a:t>
            </a:r>
          </a:p>
        </p:txBody>
      </p:sp>
      <p:sp>
        <p:nvSpPr>
          <p:cNvPr id="18" name="TextBox 17"/>
          <p:cNvSpPr txBox="1"/>
          <p:nvPr/>
        </p:nvSpPr>
        <p:spPr>
          <a:xfrm>
            <a:off x="10296000" y="2448000"/>
            <a:ext cx="3456000" cy="720000"/>
          </a:xfrm>
          <a:prstGeom prst="rect">
            <a:avLst/>
          </a:prstGeom>
          <a:noFill/>
        </p:spPr>
        <p:txBody>
          <a:bodyPr wrap="square" anchor="t" lIns="0" rIns="0" tIns="0" bIns="0">
            <a:spAutoFit/>
          </a:bodyPr>
          <a:lstStyle/>
          <a:p>
            <a:pPr algn="l">
              <a:lnSpc>
                <a:spcPct val="110000"/>
              </a:lnSpc>
              <a:spcAft>
                <a:spcPts val="400"/>
              </a:spcAft>
            </a:pPr>
            <a:r>
              <a:rPr sz="2200" b="0" i="1">
                <a:solidFill>
                  <a:srgbClr val="EAB866"/>
                </a:solidFill>
                <a:latin typeface="Playfair Display"/>
              </a:rPr>
              <a:t>Votre partenaire agricole !</a:t>
            </a:r>
          </a:p>
        </p:txBody>
      </p:sp>
      <p:sp>
        <p:nvSpPr>
          <p:cNvPr id="19" name="TextBox 18"/>
          <p:cNvSpPr txBox="1"/>
          <p:nvPr/>
        </p:nvSpPr>
        <p:spPr>
          <a:xfrm>
            <a:off x="10296000" y="3528000"/>
            <a:ext cx="3456000" cy="1440000"/>
          </a:xfrm>
          <a:prstGeom prst="rect">
            <a:avLst/>
          </a:prstGeom>
          <a:noFill/>
        </p:spPr>
        <p:txBody>
          <a:bodyPr wrap="square" anchor="t" lIns="0" rIns="0" tIns="0" bIns="0">
            <a:spAutoFit/>
          </a:bodyPr>
          <a:lstStyle/>
          <a:p>
            <a:pPr algn="l">
              <a:lnSpc>
                <a:spcPct val="160000"/>
              </a:lnSpc>
              <a:spcAft>
                <a:spcPts val="400"/>
              </a:spcAft>
            </a:pPr>
            <a:r>
              <a:rPr sz="1200" b="0" i="0">
                <a:solidFill>
                  <a:srgbClr val="E3EBE0"/>
                </a:solidFill>
                <a:latin typeface="Inter"/>
              </a:rPr>
              <a:t>Un partenaire, pas un fournisseur : quelqu'un qui reste après la livraison.</a:t>
            </a:r>
          </a:p>
        </p:txBody>
      </p:sp>
      <p:sp>
        <p:nvSpPr>
          <p:cNvPr id="20" name="Rounded Rectangle 19"/>
          <p:cNvSpPr/>
          <p:nvPr/>
        </p:nvSpPr>
        <p:spPr>
          <a:xfrm>
            <a:off x="720000" y="6624000"/>
            <a:ext cx="13680000" cy="2952000"/>
          </a:xfrm>
          <a:prstGeom prst="roundRect">
            <a:avLst>
              <a:gd name="adj" fmla="val 6000"/>
            </a:avLst>
          </a:prstGeom>
          <a:solidFill>
            <a:srgbClr val="F4F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52000" y="698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Comment la promesse se prouve</a:t>
            </a:r>
          </a:p>
        </p:txBody>
      </p:sp>
      <p:sp>
        <p:nvSpPr>
          <p:cNvPr id="22" name="TextBox 21"/>
          <p:cNvSpPr txBox="1"/>
          <p:nvPr/>
        </p:nvSpPr>
        <p:spPr>
          <a:xfrm>
            <a:off x="1152000" y="7632000"/>
            <a:ext cx="4032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Avant</a:t>
            </a:r>
          </a:p>
        </p:txBody>
      </p:sp>
      <p:sp>
        <p:nvSpPr>
          <p:cNvPr id="23" name="TextBox 22"/>
          <p:cNvSpPr txBox="1"/>
          <p:nvPr/>
        </p:nvSpPr>
        <p:spPr>
          <a:xfrm>
            <a:off x="1152000" y="7992000"/>
            <a:ext cx="4032000" cy="108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Diagnostic du terrain et devis détaillé : variétés, quantités, calendrier, prix.</a:t>
            </a:r>
          </a:p>
        </p:txBody>
      </p:sp>
      <p:sp>
        <p:nvSpPr>
          <p:cNvPr id="24" name="TextBox 23"/>
          <p:cNvSpPr txBox="1"/>
          <p:nvPr/>
        </p:nvSpPr>
        <p:spPr>
          <a:xfrm>
            <a:off x="5544000" y="7632000"/>
            <a:ext cx="4032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Pendant</a:t>
            </a:r>
          </a:p>
        </p:txBody>
      </p:sp>
      <p:sp>
        <p:nvSpPr>
          <p:cNvPr id="25" name="TextBox 24"/>
          <p:cNvSpPr txBox="1"/>
          <p:nvPr/>
        </p:nvSpPr>
        <p:spPr>
          <a:xfrm>
            <a:off x="5544000" y="7992000"/>
            <a:ext cx="4032000" cy="108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Plants sélectionnés et contrôlés un par un avant de quitter la pépinière de Kégué.</a:t>
            </a:r>
          </a:p>
        </p:txBody>
      </p:sp>
      <p:sp>
        <p:nvSpPr>
          <p:cNvPr id="26" name="TextBox 25"/>
          <p:cNvSpPr txBox="1"/>
          <p:nvPr/>
        </p:nvSpPr>
        <p:spPr>
          <a:xfrm>
            <a:off x="9936000" y="7632000"/>
            <a:ext cx="4032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Après</a:t>
            </a:r>
          </a:p>
        </p:txBody>
      </p:sp>
      <p:sp>
        <p:nvSpPr>
          <p:cNvPr id="27" name="TextBox 26"/>
          <p:cNvSpPr txBox="1"/>
          <p:nvPr/>
        </p:nvSpPr>
        <p:spPr>
          <a:xfrm>
            <a:off x="9936000" y="7992000"/>
            <a:ext cx="4032000" cy="108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Suivi technique de la reprise et mise en relation avec des acheteurs pour la récolte.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03</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Valeurs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05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0800000" cy="432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Quatre valeurs, dans cet ordre. Chaque valeur est suivie de la preuve qui la rend vérifiable, sans quoi elle n'est qu'un mot.</a:t>
            </a:r>
          </a:p>
        </p:txBody>
      </p:sp>
      <p:sp>
        <p:nvSpPr>
          <p:cNvPr id="11" name="Rounded Rectangle 10"/>
          <p:cNvSpPr/>
          <p:nvPr/>
        </p:nvSpPr>
        <p:spPr>
          <a:xfrm>
            <a:off x="720000" y="2232000"/>
            <a:ext cx="3168000" cy="7020000"/>
          </a:xfrm>
          <a:prstGeom prst="roundRect">
            <a:avLst>
              <a:gd name="adj" fmla="val 6000"/>
            </a:avLst>
          </a:prstGeom>
          <a:solidFill>
            <a:srgbClr val="F4F9F1"/>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80000" y="2664000"/>
            <a:ext cx="504000" cy="504000"/>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80000" y="2826000"/>
            <a:ext cx="504000" cy="288000"/>
          </a:xfrm>
          <a:prstGeom prst="rect">
            <a:avLst/>
          </a:prstGeom>
          <a:noFill/>
        </p:spPr>
        <p:txBody>
          <a:bodyPr wrap="square" anchor="t" lIns="0" rIns="0" tIns="0" bIns="0">
            <a:spAutoFit/>
          </a:bodyPr>
          <a:lstStyle/>
          <a:p>
            <a:pPr algn="ctr">
              <a:lnSpc>
                <a:spcPct val="135000"/>
              </a:lnSpc>
              <a:spcAft>
                <a:spcPts val="400"/>
              </a:spcAft>
            </a:pPr>
            <a:r>
              <a:rPr sz="1300" b="1" i="0">
                <a:solidFill>
                  <a:srgbClr val="FFFFFF"/>
                </a:solidFill>
                <a:latin typeface="Poppins"/>
              </a:rPr>
              <a:t>1</a:t>
            </a:r>
          </a:p>
        </p:txBody>
      </p:sp>
      <p:sp>
        <p:nvSpPr>
          <p:cNvPr id="14" name="TextBox 13"/>
          <p:cNvSpPr txBox="1"/>
          <p:nvPr/>
        </p:nvSpPr>
        <p:spPr>
          <a:xfrm>
            <a:off x="1080000" y="3456000"/>
            <a:ext cx="2448000" cy="360000"/>
          </a:xfrm>
          <a:prstGeom prst="rect">
            <a:avLst/>
          </a:prstGeom>
          <a:noFill/>
        </p:spPr>
        <p:txBody>
          <a:bodyPr wrap="square" anchor="t" lIns="0" rIns="0" tIns="0" bIns="0">
            <a:spAutoFit/>
          </a:bodyPr>
          <a:lstStyle/>
          <a:p>
            <a:pPr algn="l">
              <a:lnSpc>
                <a:spcPct val="135000"/>
              </a:lnSpc>
              <a:spcAft>
                <a:spcPts val="400"/>
              </a:spcAft>
            </a:pPr>
            <a:r>
              <a:rPr sz="1600" b="1" i="0">
                <a:solidFill>
                  <a:srgbClr val="0F3D17"/>
                </a:solidFill>
                <a:latin typeface="Poppins"/>
              </a:rPr>
              <a:t>Fiabilité</a:t>
            </a:r>
          </a:p>
        </p:txBody>
      </p:sp>
      <p:sp>
        <p:nvSpPr>
          <p:cNvPr id="15" name="TextBox 14"/>
          <p:cNvSpPr txBox="1"/>
          <p:nvPr/>
        </p:nvSpPr>
        <p:spPr>
          <a:xfrm>
            <a:off x="1080000" y="4032000"/>
            <a:ext cx="2448000" cy="1440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Des engagements tenus, des délais respectés, un accompagnement suivi.</a:t>
            </a:r>
          </a:p>
        </p:txBody>
      </p:sp>
      <p:sp>
        <p:nvSpPr>
          <p:cNvPr id="16" name="Rectangle 15"/>
          <p:cNvSpPr/>
          <p:nvPr/>
        </p:nvSpPr>
        <p:spPr>
          <a:xfrm>
            <a:off x="1080000" y="7632000"/>
            <a:ext cx="244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80000" y="7848000"/>
            <a:ext cx="2448000" cy="1152000"/>
          </a:xfrm>
          <a:prstGeom prst="rect">
            <a:avLst/>
          </a:prstGeom>
          <a:noFill/>
        </p:spPr>
        <p:txBody>
          <a:bodyPr wrap="square" anchor="t" lIns="0" rIns="0" tIns="0" bIns="0">
            <a:spAutoFit/>
          </a:bodyPr>
          <a:lstStyle/>
          <a:p>
            <a:pPr algn="l">
              <a:lnSpc>
                <a:spcPct val="135000"/>
              </a:lnSpc>
              <a:spcAft>
                <a:spcPts val="400"/>
              </a:spcAft>
            </a:pPr>
            <a:r>
              <a:rPr sz="1000" b="0" i="1">
                <a:solidFill>
                  <a:srgbClr val="205E25"/>
                </a:solidFill>
                <a:latin typeface="Inter"/>
              </a:rPr>
              <a:t>On annonce une date de livraison et on la tient — ou on prévient avant.</a:t>
            </a:r>
          </a:p>
        </p:txBody>
      </p:sp>
      <p:sp>
        <p:nvSpPr>
          <p:cNvPr id="18" name="Rounded Rectangle 17"/>
          <p:cNvSpPr/>
          <p:nvPr/>
        </p:nvSpPr>
        <p:spPr>
          <a:xfrm>
            <a:off x="4140000" y="2232000"/>
            <a:ext cx="3168000" cy="7020000"/>
          </a:xfrm>
          <a:prstGeom prst="roundRect">
            <a:avLst>
              <a:gd name="adj" fmla="val 6000"/>
            </a:avLst>
          </a:prstGeom>
          <a:solidFill>
            <a:srgbClr val="F4F9F1"/>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500000" y="2664000"/>
            <a:ext cx="504000" cy="504000"/>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00000" y="2826000"/>
            <a:ext cx="504000" cy="288000"/>
          </a:xfrm>
          <a:prstGeom prst="rect">
            <a:avLst/>
          </a:prstGeom>
          <a:noFill/>
        </p:spPr>
        <p:txBody>
          <a:bodyPr wrap="square" anchor="t" lIns="0" rIns="0" tIns="0" bIns="0">
            <a:spAutoFit/>
          </a:bodyPr>
          <a:lstStyle/>
          <a:p>
            <a:pPr algn="ctr">
              <a:lnSpc>
                <a:spcPct val="135000"/>
              </a:lnSpc>
              <a:spcAft>
                <a:spcPts val="400"/>
              </a:spcAft>
            </a:pPr>
            <a:r>
              <a:rPr sz="1300" b="1" i="0">
                <a:solidFill>
                  <a:srgbClr val="FFFFFF"/>
                </a:solidFill>
                <a:latin typeface="Poppins"/>
              </a:rPr>
              <a:t>2</a:t>
            </a:r>
          </a:p>
        </p:txBody>
      </p:sp>
      <p:sp>
        <p:nvSpPr>
          <p:cNvPr id="21" name="TextBox 20"/>
          <p:cNvSpPr txBox="1"/>
          <p:nvPr/>
        </p:nvSpPr>
        <p:spPr>
          <a:xfrm>
            <a:off x="4500000" y="3456000"/>
            <a:ext cx="2448000" cy="360000"/>
          </a:xfrm>
          <a:prstGeom prst="rect">
            <a:avLst/>
          </a:prstGeom>
          <a:noFill/>
        </p:spPr>
        <p:txBody>
          <a:bodyPr wrap="square" anchor="t" lIns="0" rIns="0" tIns="0" bIns="0">
            <a:spAutoFit/>
          </a:bodyPr>
          <a:lstStyle/>
          <a:p>
            <a:pPr algn="l">
              <a:lnSpc>
                <a:spcPct val="135000"/>
              </a:lnSpc>
              <a:spcAft>
                <a:spcPts val="400"/>
              </a:spcAft>
            </a:pPr>
            <a:r>
              <a:rPr sz="1600" b="1" i="0">
                <a:solidFill>
                  <a:srgbClr val="0F3D17"/>
                </a:solidFill>
                <a:latin typeface="Poppins"/>
              </a:rPr>
              <a:t>Qualité</a:t>
            </a:r>
          </a:p>
        </p:txBody>
      </p:sp>
      <p:sp>
        <p:nvSpPr>
          <p:cNvPr id="22" name="TextBox 21"/>
          <p:cNvSpPr txBox="1"/>
          <p:nvPr/>
        </p:nvSpPr>
        <p:spPr>
          <a:xfrm>
            <a:off x="4500000" y="4032000"/>
            <a:ext cx="2448000" cy="1440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Des plants et des prestations sélectionnés selon des standards exigeants.</a:t>
            </a:r>
          </a:p>
        </p:txBody>
      </p:sp>
      <p:sp>
        <p:nvSpPr>
          <p:cNvPr id="23" name="Rectangle 22"/>
          <p:cNvSpPr/>
          <p:nvPr/>
        </p:nvSpPr>
        <p:spPr>
          <a:xfrm>
            <a:off x="4500000" y="7632000"/>
            <a:ext cx="244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00000" y="7848000"/>
            <a:ext cx="2448000" cy="1152000"/>
          </a:xfrm>
          <a:prstGeom prst="rect">
            <a:avLst/>
          </a:prstGeom>
          <a:noFill/>
        </p:spPr>
        <p:txBody>
          <a:bodyPr wrap="square" anchor="t" lIns="0" rIns="0" tIns="0" bIns="0">
            <a:spAutoFit/>
          </a:bodyPr>
          <a:lstStyle/>
          <a:p>
            <a:pPr algn="l">
              <a:lnSpc>
                <a:spcPct val="135000"/>
              </a:lnSpc>
              <a:spcAft>
                <a:spcPts val="400"/>
              </a:spcAft>
            </a:pPr>
            <a:r>
              <a:rPr sz="1000" b="0" i="1">
                <a:solidFill>
                  <a:srgbClr val="205E25"/>
                </a:solidFill>
                <a:latin typeface="Inter"/>
              </a:rPr>
              <a:t>Un plant qui ne passe pas le contrôle ne quitte pas la pépinière.</a:t>
            </a:r>
          </a:p>
        </p:txBody>
      </p:sp>
      <p:sp>
        <p:nvSpPr>
          <p:cNvPr id="25" name="Rounded Rectangle 24"/>
          <p:cNvSpPr/>
          <p:nvPr/>
        </p:nvSpPr>
        <p:spPr>
          <a:xfrm>
            <a:off x="7560000" y="2232000"/>
            <a:ext cx="3168000" cy="7020000"/>
          </a:xfrm>
          <a:prstGeom prst="roundRect">
            <a:avLst>
              <a:gd name="adj" fmla="val 6000"/>
            </a:avLst>
          </a:prstGeom>
          <a:solidFill>
            <a:srgbClr val="F4F9F1"/>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20000" y="2664000"/>
            <a:ext cx="504000" cy="504000"/>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20000" y="2826000"/>
            <a:ext cx="504000" cy="288000"/>
          </a:xfrm>
          <a:prstGeom prst="rect">
            <a:avLst/>
          </a:prstGeom>
          <a:noFill/>
        </p:spPr>
        <p:txBody>
          <a:bodyPr wrap="square" anchor="t" lIns="0" rIns="0" tIns="0" bIns="0">
            <a:spAutoFit/>
          </a:bodyPr>
          <a:lstStyle/>
          <a:p>
            <a:pPr algn="ctr">
              <a:lnSpc>
                <a:spcPct val="135000"/>
              </a:lnSpc>
              <a:spcAft>
                <a:spcPts val="400"/>
              </a:spcAft>
            </a:pPr>
            <a:r>
              <a:rPr sz="1300" b="1" i="0">
                <a:solidFill>
                  <a:srgbClr val="FFFFFF"/>
                </a:solidFill>
                <a:latin typeface="Poppins"/>
              </a:rPr>
              <a:t>3</a:t>
            </a:r>
          </a:p>
        </p:txBody>
      </p:sp>
      <p:sp>
        <p:nvSpPr>
          <p:cNvPr id="28" name="TextBox 27"/>
          <p:cNvSpPr txBox="1"/>
          <p:nvPr/>
        </p:nvSpPr>
        <p:spPr>
          <a:xfrm>
            <a:off x="7920000" y="3456000"/>
            <a:ext cx="2448000" cy="360000"/>
          </a:xfrm>
          <a:prstGeom prst="rect">
            <a:avLst/>
          </a:prstGeom>
          <a:noFill/>
        </p:spPr>
        <p:txBody>
          <a:bodyPr wrap="square" anchor="t" lIns="0" rIns="0" tIns="0" bIns="0">
            <a:spAutoFit/>
          </a:bodyPr>
          <a:lstStyle/>
          <a:p>
            <a:pPr algn="l">
              <a:lnSpc>
                <a:spcPct val="135000"/>
              </a:lnSpc>
              <a:spcAft>
                <a:spcPts val="400"/>
              </a:spcAft>
            </a:pPr>
            <a:r>
              <a:rPr sz="1600" b="1" i="0">
                <a:solidFill>
                  <a:srgbClr val="0F3D17"/>
                </a:solidFill>
                <a:latin typeface="Poppins"/>
              </a:rPr>
              <a:t>Proximité</a:t>
            </a:r>
          </a:p>
        </p:txBody>
      </p:sp>
      <p:sp>
        <p:nvSpPr>
          <p:cNvPr id="29" name="TextBox 28"/>
          <p:cNvSpPr txBox="1"/>
          <p:nvPr/>
        </p:nvSpPr>
        <p:spPr>
          <a:xfrm>
            <a:off x="7920000" y="4032000"/>
            <a:ext cx="2448000" cy="1440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Une équipe à l'écoute, disponible par téléphone et WhatsApp au quotidien.</a:t>
            </a:r>
          </a:p>
        </p:txBody>
      </p:sp>
      <p:sp>
        <p:nvSpPr>
          <p:cNvPr id="30" name="Rectangle 29"/>
          <p:cNvSpPr/>
          <p:nvPr/>
        </p:nvSpPr>
        <p:spPr>
          <a:xfrm>
            <a:off x="7920000" y="7632000"/>
            <a:ext cx="244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20000" y="7848000"/>
            <a:ext cx="2448000" cy="1152000"/>
          </a:xfrm>
          <a:prstGeom prst="rect">
            <a:avLst/>
          </a:prstGeom>
          <a:noFill/>
        </p:spPr>
        <p:txBody>
          <a:bodyPr wrap="square" anchor="t" lIns="0" rIns="0" tIns="0" bIns="0">
            <a:spAutoFit/>
          </a:bodyPr>
          <a:lstStyle/>
          <a:p>
            <a:pPr algn="l">
              <a:lnSpc>
                <a:spcPct val="135000"/>
              </a:lnSpc>
              <a:spcAft>
                <a:spcPts val="400"/>
              </a:spcAft>
            </a:pPr>
            <a:r>
              <a:rPr sz="1000" b="0" i="1">
                <a:solidFill>
                  <a:srgbClr val="205E25"/>
                </a:solidFill>
                <a:latin typeface="Inter"/>
              </a:rPr>
              <a:t>Un numéro unique, une réponse le jour même en semaine.</a:t>
            </a:r>
          </a:p>
        </p:txBody>
      </p:sp>
      <p:sp>
        <p:nvSpPr>
          <p:cNvPr id="32" name="Rounded Rectangle 31"/>
          <p:cNvSpPr/>
          <p:nvPr/>
        </p:nvSpPr>
        <p:spPr>
          <a:xfrm>
            <a:off x="10980000" y="2232000"/>
            <a:ext cx="3168000" cy="7020000"/>
          </a:xfrm>
          <a:prstGeom prst="roundRect">
            <a:avLst>
              <a:gd name="adj" fmla="val 6000"/>
            </a:avLst>
          </a:prstGeom>
          <a:solidFill>
            <a:srgbClr val="F4F9F1"/>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1340000" y="2664000"/>
            <a:ext cx="504000" cy="504000"/>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340000" y="2826000"/>
            <a:ext cx="504000" cy="288000"/>
          </a:xfrm>
          <a:prstGeom prst="rect">
            <a:avLst/>
          </a:prstGeom>
          <a:noFill/>
        </p:spPr>
        <p:txBody>
          <a:bodyPr wrap="square" anchor="t" lIns="0" rIns="0" tIns="0" bIns="0">
            <a:spAutoFit/>
          </a:bodyPr>
          <a:lstStyle/>
          <a:p>
            <a:pPr algn="ctr">
              <a:lnSpc>
                <a:spcPct val="135000"/>
              </a:lnSpc>
              <a:spcAft>
                <a:spcPts val="400"/>
              </a:spcAft>
            </a:pPr>
            <a:r>
              <a:rPr sz="1300" b="1" i="0">
                <a:solidFill>
                  <a:srgbClr val="FFFFFF"/>
                </a:solidFill>
                <a:latin typeface="Poppins"/>
              </a:rPr>
              <a:t>4</a:t>
            </a:r>
          </a:p>
        </p:txBody>
      </p:sp>
      <p:sp>
        <p:nvSpPr>
          <p:cNvPr id="35" name="TextBox 34"/>
          <p:cNvSpPr txBox="1"/>
          <p:nvPr/>
        </p:nvSpPr>
        <p:spPr>
          <a:xfrm>
            <a:off x="11340000" y="3456000"/>
            <a:ext cx="2448000" cy="360000"/>
          </a:xfrm>
          <a:prstGeom prst="rect">
            <a:avLst/>
          </a:prstGeom>
          <a:noFill/>
        </p:spPr>
        <p:txBody>
          <a:bodyPr wrap="square" anchor="t" lIns="0" rIns="0" tIns="0" bIns="0">
            <a:spAutoFit/>
          </a:bodyPr>
          <a:lstStyle/>
          <a:p>
            <a:pPr algn="l">
              <a:lnSpc>
                <a:spcPct val="135000"/>
              </a:lnSpc>
              <a:spcAft>
                <a:spcPts val="400"/>
              </a:spcAft>
            </a:pPr>
            <a:r>
              <a:rPr sz="1600" b="1" i="0">
                <a:solidFill>
                  <a:srgbClr val="0F3D17"/>
                </a:solidFill>
                <a:latin typeface="Poppins"/>
              </a:rPr>
              <a:t>Ouverture</a:t>
            </a:r>
          </a:p>
        </p:txBody>
      </p:sp>
      <p:sp>
        <p:nvSpPr>
          <p:cNvPr id="36" name="TextBox 35"/>
          <p:cNvSpPr txBox="1"/>
          <p:nvPr/>
        </p:nvSpPr>
        <p:spPr>
          <a:xfrm>
            <a:off x="11340000" y="4032000"/>
            <a:ext cx="2448000" cy="1440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Une clientèle locale et internationale, servie avec la même exigence.</a:t>
            </a:r>
          </a:p>
        </p:txBody>
      </p:sp>
      <p:sp>
        <p:nvSpPr>
          <p:cNvPr id="37" name="Rectangle 36"/>
          <p:cNvSpPr/>
          <p:nvPr/>
        </p:nvSpPr>
        <p:spPr>
          <a:xfrm>
            <a:off x="11340000" y="7632000"/>
            <a:ext cx="2448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1340000" y="7848000"/>
            <a:ext cx="2448000" cy="1152000"/>
          </a:xfrm>
          <a:prstGeom prst="rect">
            <a:avLst/>
          </a:prstGeom>
          <a:noFill/>
        </p:spPr>
        <p:txBody>
          <a:bodyPr wrap="square" anchor="t" lIns="0" rIns="0" tIns="0" bIns="0">
            <a:spAutoFit/>
          </a:bodyPr>
          <a:lstStyle/>
          <a:p>
            <a:pPr algn="l">
              <a:lnSpc>
                <a:spcPct val="135000"/>
              </a:lnSpc>
              <a:spcAft>
                <a:spcPts val="400"/>
              </a:spcAft>
            </a:pPr>
            <a:r>
              <a:rPr sz="1000" b="0" i="1">
                <a:solidFill>
                  <a:srgbClr val="205E25"/>
                </a:solidFill>
                <a:latin typeface="Inter"/>
              </a:rPr>
              <a:t>Le particulier de Kégué et l'ONG internationale ont le même interlocuteur.</a:t>
            </a:r>
          </a:p>
        </p:txBody>
      </p:sp>
      <p:sp>
        <p:nvSpPr>
          <p:cNvPr id="39" name="TextBox 38"/>
          <p:cNvSpPr txBox="1"/>
          <p:nvPr/>
        </p:nvSpPr>
        <p:spPr>
          <a:xfrm>
            <a:off x="720000" y="9540000"/>
            <a:ext cx="12240000" cy="28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Ces quatre valeurs sont la liste complète. N'en ajoutez pas pour remplir une grille, et ne les reformulez pas d'un support à l'autre.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04</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Territoire et publics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06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Cinq publics, un même interlocuteur</a:t>
            </a:r>
          </a:p>
        </p:txBody>
      </p:sp>
      <p:graphicFrame>
        <p:nvGraphicFramePr>
          <p:cNvPr id="11" name="Table 10"/>
          <p:cNvGraphicFramePr>
            <a:graphicFrameLocks noGrp="1"/>
          </p:cNvGraphicFramePr>
          <p:nvPr/>
        </p:nvGraphicFramePr>
        <p:xfrm>
          <a:off x="720000" y="1872000"/>
          <a:ext cx="6660000" cy="3240000"/>
        </p:xfrm>
        <a:graphic>
          <a:graphicData uri="http://schemas.openxmlformats.org/drawingml/2006/table">
            <a:tbl>
              <a:tblPr firstRow="1" bandRow="1">
                <a:tableStyleId>{5C22544A-7EE6-4342-B048-85BDC9FD1C3A}</a:tableStyleId>
              </a:tblPr>
              <a:tblGrid>
                <a:gridCol w="1864800"/>
                <a:gridCol w="4795200"/>
              </a:tblGrid>
              <a:tr h="540000">
                <a:tc>
                  <a:txBody>
                    <a:bodyPr/>
                    <a:lstStyle/>
                    <a:p>
                      <a:pPr>
                        <a:lnSpc>
                          <a:spcPct val="125000"/>
                        </a:lnSpc>
                      </a:pPr>
                      <a:r>
                        <a:rPr sz="900" b="1">
                          <a:solidFill>
                            <a:srgbClr val="FFFFFF"/>
                          </a:solidFill>
                          <a:latin typeface="Poppins"/>
                        </a:rPr>
                        <a:t>PUBLIC</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CE QU'IL VIENT CHERCHER</a:t>
                      </a:r>
                    </a:p>
                  </a:txBody>
                  <a:tcPr marL="90000" marR="90000" marT="50400" marB="50400" anchor="ctr">
                    <a:solidFill>
                      <a:srgbClr val="1B5E20"/>
                    </a:solidFill>
                  </a:tcPr>
                </a:tc>
              </a:tr>
              <a:tr h="540000">
                <a:tc>
                  <a:txBody>
                    <a:bodyPr/>
                    <a:lstStyle/>
                    <a:p>
                      <a:pPr>
                        <a:lnSpc>
                          <a:spcPct val="125000"/>
                        </a:lnSpc>
                      </a:pPr>
                      <a:r>
                        <a:rPr sz="900" b="1">
                          <a:solidFill>
                            <a:srgbClr val="0F3D17"/>
                          </a:solidFill>
                          <a:latin typeface="Poppins"/>
                        </a:rPr>
                        <a:t>Particuliers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Un jardin, un verger familial. Besoin : le bon plant et le bon conseil.</a:t>
                      </a:r>
                    </a:p>
                  </a:txBody>
                  <a:tcPr marL="90000" marR="90000" marT="50400" marB="50400" anchor="ctr">
                    <a:solidFill>
                      <a:srgbClr val="FFFFFF"/>
                    </a:solidFill>
                  </a:tcPr>
                </a:tc>
              </a:tr>
              <a:tr h="540000">
                <a:tc>
                  <a:txBody>
                    <a:bodyPr/>
                    <a:lstStyle/>
                    <a:p>
                      <a:pPr>
                        <a:lnSpc>
                          <a:spcPct val="125000"/>
                        </a:lnSpc>
                      </a:pPr>
                      <a:r>
                        <a:rPr sz="900" b="1">
                          <a:solidFill>
                            <a:srgbClr val="0F3D17"/>
                          </a:solidFill>
                          <a:latin typeface="Poppins"/>
                        </a:rPr>
                        <a:t>Petits producteurs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Une parcelle à planter. Besoin : volume, prix, calendrier.</a:t>
                      </a:r>
                    </a:p>
                  </a:txBody>
                  <a:tcPr marL="90000" marR="90000" marT="50400" marB="50400" anchor="ctr">
                    <a:solidFill>
                      <a:srgbClr val="F7FAF5"/>
                    </a:solidFill>
                  </a:tcPr>
                </a:tc>
              </a:tr>
              <a:tr h="540000">
                <a:tc>
                  <a:txBody>
                    <a:bodyPr/>
                    <a:lstStyle/>
                    <a:p>
                      <a:pPr>
                        <a:lnSpc>
                          <a:spcPct val="125000"/>
                        </a:lnSpc>
                      </a:pPr>
                      <a:r>
                        <a:rPr sz="900" b="1">
                          <a:solidFill>
                            <a:srgbClr val="0F3D17"/>
                          </a:solidFill>
                          <a:latin typeface="Poppins"/>
                        </a:rPr>
                        <a:t>Entreprises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Reboisement, plantation industrielle. Besoin : prestation complète.</a:t>
                      </a:r>
                    </a:p>
                  </a:txBody>
                  <a:tcPr marL="90000" marR="90000" marT="50400" marB="50400" anchor="ctr">
                    <a:solidFill>
                      <a:srgbClr val="FFFFFF"/>
                    </a:solidFill>
                  </a:tcPr>
                </a:tc>
              </a:tr>
              <a:tr h="540000">
                <a:tc>
                  <a:txBody>
                    <a:bodyPr/>
                    <a:lstStyle/>
                    <a:p>
                      <a:pPr>
                        <a:lnSpc>
                          <a:spcPct val="125000"/>
                        </a:lnSpc>
                      </a:pPr>
                      <a:r>
                        <a:rPr sz="900" b="1">
                          <a:solidFill>
                            <a:srgbClr val="0F3D17"/>
                          </a:solidFill>
                          <a:latin typeface="Poppins"/>
                        </a:rPr>
                        <a:t>ONG et projets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Programmes agricoles. Besoin : traçabilité, formation, reporting.</a:t>
                      </a:r>
                    </a:p>
                  </a:txBody>
                  <a:tcPr marL="90000" marR="90000" marT="50400" marB="50400" anchor="ctr">
                    <a:solidFill>
                      <a:srgbClr val="F7FAF5"/>
                    </a:solidFill>
                  </a:tcPr>
                </a:tc>
              </a:tr>
              <a:tr h="540000">
                <a:tc>
                  <a:txBody>
                    <a:bodyPr/>
                    <a:lstStyle/>
                    <a:p>
                      <a:pPr>
                        <a:lnSpc>
                          <a:spcPct val="125000"/>
                        </a:lnSpc>
                      </a:pPr>
                      <a:r>
                        <a:rPr sz="900" b="1">
                          <a:solidFill>
                            <a:srgbClr val="0F3D17"/>
                          </a:solidFill>
                          <a:latin typeface="Poppins"/>
                        </a:rPr>
                        <a:t>Investisseurs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Projet agricole au Togo. Besoin : un partenaire local fiable.</a:t>
                      </a:r>
                    </a:p>
                  </a:txBody>
                  <a:tcPr marL="90000" marR="90000" marT="50400" marB="50400" anchor="ctr">
                    <a:solidFill>
                      <a:srgbClr val="FFFFFF"/>
                    </a:solidFill>
                  </a:tcPr>
                </a:tc>
              </a:tr>
            </a:tbl>
          </a:graphicData>
        </a:graphic>
      </p:graphicFrame>
      <p:sp>
        <p:nvSpPr>
          <p:cNvPr id="12" name="TextBox 11"/>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Trois cercles</a:t>
            </a:r>
          </a:p>
        </p:txBody>
      </p:sp>
      <p:sp>
        <p:nvSpPr>
          <p:cNvPr id="13" name="Rounded Rectangle 12"/>
          <p:cNvSpPr/>
          <p:nvPr/>
        </p:nvSpPr>
        <p:spPr>
          <a:xfrm>
            <a:off x="8100000" y="1872000"/>
            <a:ext cx="6300000" cy="1008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88000" y="2052000"/>
            <a:ext cx="5760000" cy="252000"/>
          </a:xfrm>
          <a:prstGeom prst="rect">
            <a:avLst/>
          </a:prstGeom>
          <a:noFill/>
        </p:spPr>
        <p:txBody>
          <a:bodyPr wrap="square" anchor="t" lIns="0" rIns="0" tIns="0" bIns="0">
            <a:spAutoFit/>
          </a:bodyPr>
          <a:lstStyle/>
          <a:p>
            <a:pPr algn="l">
              <a:lnSpc>
                <a:spcPct val="135000"/>
              </a:lnSpc>
              <a:spcAft>
                <a:spcPts val="400"/>
              </a:spcAft>
            </a:pPr>
            <a:r>
              <a:rPr sz="1200" b="1" i="0">
                <a:solidFill>
                  <a:srgbClr val="FFFFFF"/>
                </a:solidFill>
                <a:latin typeface="Poppins"/>
              </a:rPr>
              <a:t>Kégué</a:t>
            </a:r>
          </a:p>
        </p:txBody>
      </p:sp>
      <p:sp>
        <p:nvSpPr>
          <p:cNvPr id="15" name="TextBox 14"/>
          <p:cNvSpPr txBox="1"/>
          <p:nvPr/>
        </p:nvSpPr>
        <p:spPr>
          <a:xfrm>
            <a:off x="8388000" y="2376000"/>
            <a:ext cx="576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E3EBE0"/>
                </a:solidFill>
                <a:latin typeface="Inter"/>
              </a:rPr>
              <a:t>La pépinière, l'atelier, le terrain. C'est d'ici que part chaque plant.</a:t>
            </a:r>
          </a:p>
        </p:txBody>
      </p:sp>
      <p:sp>
        <p:nvSpPr>
          <p:cNvPr id="16" name="Rounded Rectangle 15"/>
          <p:cNvSpPr/>
          <p:nvPr/>
        </p:nvSpPr>
        <p:spPr>
          <a:xfrm>
            <a:off x="8100000" y="3096000"/>
            <a:ext cx="6300000" cy="1008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88000" y="3276000"/>
            <a:ext cx="5760000" cy="252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Togo &amp; Afrique de l'Ouest</a:t>
            </a:r>
          </a:p>
        </p:txBody>
      </p:sp>
      <p:sp>
        <p:nvSpPr>
          <p:cNvPr id="18" name="TextBox 17"/>
          <p:cNvSpPr txBox="1"/>
          <p:nvPr/>
        </p:nvSpPr>
        <p:spPr>
          <a:xfrm>
            <a:off x="8388000" y="3600000"/>
            <a:ext cx="576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marché principal : plants tropicaux recherchés, prestations, formation.</a:t>
            </a:r>
          </a:p>
        </p:txBody>
      </p:sp>
      <p:sp>
        <p:nvSpPr>
          <p:cNvPr id="19" name="Rounded Rectangle 18"/>
          <p:cNvSpPr/>
          <p:nvPr/>
        </p:nvSpPr>
        <p:spPr>
          <a:xfrm>
            <a:off x="8100000" y="4320000"/>
            <a:ext cx="6300000" cy="100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88000" y="4500000"/>
            <a:ext cx="5760000" cy="252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International</a:t>
            </a:r>
          </a:p>
        </p:txBody>
      </p:sp>
      <p:sp>
        <p:nvSpPr>
          <p:cNvPr id="21" name="TextBox 20"/>
          <p:cNvSpPr txBox="1"/>
          <p:nvPr/>
        </p:nvSpPr>
        <p:spPr>
          <a:xfrm>
            <a:off x="8388000" y="4824000"/>
            <a:ext cx="576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Investisseurs et ONG qui cherchent un partenaire agricole au Togo.</a:t>
            </a:r>
          </a:p>
        </p:txBody>
      </p:sp>
      <p:sp>
        <p:nvSpPr>
          <p:cNvPr id="22" name="TextBox 21"/>
          <p:cNvSpPr txBox="1"/>
          <p:nvPr/>
        </p:nvSpPr>
        <p:spPr>
          <a:xfrm>
            <a:off x="8100000" y="5832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Ce que cela change dans les supports</a:t>
            </a:r>
          </a:p>
        </p:txBody>
      </p:sp>
      <p:sp>
        <p:nvSpPr>
          <p:cNvPr id="23" name="Oval 22"/>
          <p:cNvSpPr/>
          <p:nvPr/>
        </p:nvSpPr>
        <p:spPr>
          <a:xfrm>
            <a:off x="8100000" y="639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80000" y="6336000"/>
            <a:ext cx="6120000" cy="468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français est la langue de référence de tous les supports.</a:t>
            </a:r>
          </a:p>
        </p:txBody>
      </p:sp>
      <p:sp>
        <p:nvSpPr>
          <p:cNvPr id="25" name="Oval 24"/>
          <p:cNvSpPr/>
          <p:nvPr/>
        </p:nvSpPr>
        <p:spPr>
          <a:xfrm>
            <a:off x="8100000" y="686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80000" y="6804000"/>
            <a:ext cx="6120000" cy="468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Les prix s'affichent en francs CFA ; une conversion n'apparaît que sur demande.</a:t>
            </a:r>
          </a:p>
        </p:txBody>
      </p:sp>
      <p:sp>
        <p:nvSpPr>
          <p:cNvPr id="27" name="Oval 26"/>
          <p:cNvSpPr/>
          <p:nvPr/>
        </p:nvSpPr>
        <p:spPr>
          <a:xfrm>
            <a:off x="8100000" y="7329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80000" y="7272000"/>
            <a:ext cx="6120000" cy="468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numéro est toujours au format international : +228 96 63 82 00.</a:t>
            </a:r>
          </a:p>
        </p:txBody>
      </p:sp>
      <p:sp>
        <p:nvSpPr>
          <p:cNvPr id="29" name="Oval 28"/>
          <p:cNvSpPr/>
          <p:nvPr/>
        </p:nvSpPr>
        <p:spPr>
          <a:xfrm>
            <a:off x="8100000" y="779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80000" y="7740000"/>
            <a:ext cx="6120000" cy="468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WhatsApp est un canal de contact de premier rang, pas un canal de secours.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05</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Ton de voix</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07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2960000" cy="432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Le ton d'AgriWin Togo est celui d'un technicien qui explique, pas d'un commercial qui vend. Français, vouvoiement, phrases courtes, présent de l'indicatif. Le client est « vous », l'entreprise est « nous ».</a:t>
            </a:r>
          </a:p>
        </p:txBody>
      </p:sp>
      <p:sp>
        <p:nvSpPr>
          <p:cNvPr id="11" name="Rounded Rectangle 10"/>
          <p:cNvSpPr/>
          <p:nvPr/>
        </p:nvSpPr>
        <p:spPr>
          <a:xfrm>
            <a:off x="720000" y="2232000"/>
            <a:ext cx="6696000" cy="3312000"/>
          </a:xfrm>
          <a:prstGeom prst="roundRect">
            <a:avLst>
              <a:gd name="adj" fmla="val 6000"/>
            </a:avLst>
          </a:prstGeom>
          <a:solidFill>
            <a:srgbClr val="F4F9F1"/>
          </a:solidFill>
          <a:ln w="14376">
            <a:solidFill>
              <a:srgbClr val="66BB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52000" y="2592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On écrit</a:t>
            </a:r>
          </a:p>
        </p:txBody>
      </p:sp>
      <p:sp>
        <p:nvSpPr>
          <p:cNvPr id="13" name="TextBox 12"/>
          <p:cNvSpPr txBox="1"/>
          <p:nvPr/>
        </p:nvSpPr>
        <p:spPr>
          <a:xfrm>
            <a:off x="1152000" y="3168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a:t>
            </a:r>
          </a:p>
        </p:txBody>
      </p:sp>
      <p:sp>
        <p:nvSpPr>
          <p:cNvPr id="14" name="TextBox 13"/>
          <p:cNvSpPr txBox="1"/>
          <p:nvPr/>
        </p:nvSpPr>
        <p:spPr>
          <a:xfrm>
            <a:off x="1440000" y="3168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Chaque plant est contrôlé avant de quitter notre pépinière. »</a:t>
            </a:r>
          </a:p>
        </p:txBody>
      </p:sp>
      <p:sp>
        <p:nvSpPr>
          <p:cNvPr id="15" name="TextBox 14"/>
          <p:cNvSpPr txBox="1"/>
          <p:nvPr/>
        </p:nvSpPr>
        <p:spPr>
          <a:xfrm>
            <a:off x="1152000" y="3600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a:t>
            </a:r>
          </a:p>
        </p:txBody>
      </p:sp>
      <p:sp>
        <p:nvSpPr>
          <p:cNvPr id="16" name="TextBox 15"/>
          <p:cNvSpPr txBox="1"/>
          <p:nvPr/>
        </p:nvSpPr>
        <p:spPr>
          <a:xfrm>
            <a:off x="1440000" y="3600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Manguier greffé Kent, en sachet de 3 L — 3 500 F le plant. »</a:t>
            </a:r>
          </a:p>
        </p:txBody>
      </p:sp>
      <p:sp>
        <p:nvSpPr>
          <p:cNvPr id="17" name="TextBox 16"/>
          <p:cNvSpPr txBox="1"/>
          <p:nvPr/>
        </p:nvSpPr>
        <p:spPr>
          <a:xfrm>
            <a:off x="1152000" y="4032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a:t>
            </a:r>
          </a:p>
        </p:txBody>
      </p:sp>
      <p:sp>
        <p:nvSpPr>
          <p:cNvPr id="18" name="TextBox 17"/>
          <p:cNvSpPr txBox="1"/>
          <p:nvPr/>
        </p:nvSpPr>
        <p:spPr>
          <a:xfrm>
            <a:off x="1440000" y="4032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Nous vous rappelons sous 24 h ouvrées. »</a:t>
            </a:r>
          </a:p>
        </p:txBody>
      </p:sp>
      <p:sp>
        <p:nvSpPr>
          <p:cNvPr id="19" name="TextBox 18"/>
          <p:cNvSpPr txBox="1"/>
          <p:nvPr/>
        </p:nvSpPr>
        <p:spPr>
          <a:xfrm>
            <a:off x="1152000" y="4464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a:t>
            </a:r>
          </a:p>
        </p:txBody>
      </p:sp>
      <p:sp>
        <p:nvSpPr>
          <p:cNvPr id="20" name="TextBox 19"/>
          <p:cNvSpPr txBox="1"/>
          <p:nvPr/>
        </p:nvSpPr>
        <p:spPr>
          <a:xfrm>
            <a:off x="1440000" y="4464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Décrivez-nous votre besoin : surface, localisation, variétés. »</a:t>
            </a:r>
          </a:p>
        </p:txBody>
      </p:sp>
      <p:sp>
        <p:nvSpPr>
          <p:cNvPr id="21" name="TextBox 20"/>
          <p:cNvSpPr txBox="1"/>
          <p:nvPr/>
        </p:nvSpPr>
        <p:spPr>
          <a:xfrm>
            <a:off x="1152000" y="4896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a:t>
            </a:r>
          </a:p>
        </p:txBody>
      </p:sp>
      <p:sp>
        <p:nvSpPr>
          <p:cNvPr id="22" name="TextBox 21"/>
          <p:cNvSpPr txBox="1"/>
          <p:nvPr/>
        </p:nvSpPr>
        <p:spPr>
          <a:xfrm>
            <a:off x="1440000" y="4896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Demander un devis », « Voir le catalogue ».</a:t>
            </a:r>
          </a:p>
        </p:txBody>
      </p:sp>
      <p:sp>
        <p:nvSpPr>
          <p:cNvPr id="23" name="Rounded Rectangle 22"/>
          <p:cNvSpPr/>
          <p:nvPr/>
        </p:nvSpPr>
        <p:spPr>
          <a:xfrm>
            <a:off x="7632000" y="2232000"/>
            <a:ext cx="6696000" cy="331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64000" y="2592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On n'écrit pas</a:t>
            </a:r>
          </a:p>
        </p:txBody>
      </p:sp>
      <p:sp>
        <p:nvSpPr>
          <p:cNvPr id="25" name="TextBox 24"/>
          <p:cNvSpPr txBox="1"/>
          <p:nvPr/>
        </p:nvSpPr>
        <p:spPr>
          <a:xfrm>
            <a:off x="8064000" y="3168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B3261E"/>
                </a:solidFill>
                <a:latin typeface="Poppins"/>
              </a:rPr>
              <a:t>✕</a:t>
            </a:r>
          </a:p>
        </p:txBody>
      </p:sp>
      <p:sp>
        <p:nvSpPr>
          <p:cNvPr id="26" name="TextBox 25"/>
          <p:cNvSpPr txBox="1"/>
          <p:nvPr/>
        </p:nvSpPr>
        <p:spPr>
          <a:xfrm>
            <a:off x="8352000" y="3168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Les meilleurs plants d'Afrique de l'Ouest » — invérifiable.</a:t>
            </a:r>
          </a:p>
        </p:txBody>
      </p:sp>
      <p:sp>
        <p:nvSpPr>
          <p:cNvPr id="27" name="TextBox 26"/>
          <p:cNvSpPr txBox="1"/>
          <p:nvPr/>
        </p:nvSpPr>
        <p:spPr>
          <a:xfrm>
            <a:off x="8064000" y="3600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B3261E"/>
                </a:solidFill>
                <a:latin typeface="Poppins"/>
              </a:rPr>
              <a:t>✕</a:t>
            </a:r>
          </a:p>
        </p:txBody>
      </p:sp>
      <p:sp>
        <p:nvSpPr>
          <p:cNvPr id="28" name="TextBox 27"/>
          <p:cNvSpPr txBox="1"/>
          <p:nvPr/>
        </p:nvSpPr>
        <p:spPr>
          <a:xfrm>
            <a:off x="8352000" y="3600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100 % de clients satisfaits » — un chiffre sans source.</a:t>
            </a:r>
          </a:p>
        </p:txBody>
      </p:sp>
      <p:sp>
        <p:nvSpPr>
          <p:cNvPr id="29" name="TextBox 28"/>
          <p:cNvSpPr txBox="1"/>
          <p:nvPr/>
        </p:nvSpPr>
        <p:spPr>
          <a:xfrm>
            <a:off x="8064000" y="4032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B3261E"/>
                </a:solidFill>
                <a:latin typeface="Poppins"/>
              </a:rPr>
              <a:t>✕</a:t>
            </a:r>
          </a:p>
        </p:txBody>
      </p:sp>
      <p:sp>
        <p:nvSpPr>
          <p:cNvPr id="30" name="TextBox 29"/>
          <p:cNvSpPr txBox="1"/>
          <p:nvPr/>
        </p:nvSpPr>
        <p:spPr>
          <a:xfrm>
            <a:off x="8352000" y="4032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Nous mettons un point d'honneur à… » — du remplissage.</a:t>
            </a:r>
          </a:p>
        </p:txBody>
      </p:sp>
      <p:sp>
        <p:nvSpPr>
          <p:cNvPr id="31" name="TextBox 30"/>
          <p:cNvSpPr txBox="1"/>
          <p:nvPr/>
        </p:nvSpPr>
        <p:spPr>
          <a:xfrm>
            <a:off x="8064000" y="4464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B3261E"/>
                </a:solidFill>
                <a:latin typeface="Poppins"/>
              </a:rPr>
              <a:t>✕</a:t>
            </a:r>
          </a:p>
        </p:txBody>
      </p:sp>
      <p:sp>
        <p:nvSpPr>
          <p:cNvPr id="32" name="TextBox 31"/>
          <p:cNvSpPr txBox="1"/>
          <p:nvPr/>
        </p:nvSpPr>
        <p:spPr>
          <a:xfrm>
            <a:off x="8352000" y="4464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Cliquez ici » — un libellé qui ne dit pas ce qui se passe.</a:t>
            </a:r>
          </a:p>
        </p:txBody>
      </p:sp>
      <p:sp>
        <p:nvSpPr>
          <p:cNvPr id="33" name="TextBox 32"/>
          <p:cNvSpPr txBox="1"/>
          <p:nvPr/>
        </p:nvSpPr>
        <p:spPr>
          <a:xfrm>
            <a:off x="8064000" y="4896000"/>
            <a:ext cx="216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B3261E"/>
                </a:solidFill>
                <a:latin typeface="Poppins"/>
              </a:rPr>
              <a:t>✕</a:t>
            </a:r>
          </a:p>
        </p:txBody>
      </p:sp>
      <p:sp>
        <p:nvSpPr>
          <p:cNvPr id="34" name="TextBox 33"/>
          <p:cNvSpPr txBox="1"/>
          <p:nvPr/>
        </p:nvSpPr>
        <p:spPr>
          <a:xfrm>
            <a:off x="8352000" y="4896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 AGRIWIN TOGO » en capitales dans une phrase.</a:t>
            </a:r>
          </a:p>
        </p:txBody>
      </p:sp>
      <p:sp>
        <p:nvSpPr>
          <p:cNvPr id="35" name="Rounded Rectangle 34"/>
          <p:cNvSpPr/>
          <p:nvPr/>
        </p:nvSpPr>
        <p:spPr>
          <a:xfrm>
            <a:off x="720000" y="5976000"/>
            <a:ext cx="13680000" cy="3600000"/>
          </a:xfrm>
          <a:prstGeom prst="roundRect">
            <a:avLst>
              <a:gd name="adj" fmla="val 6000"/>
            </a:avLst>
          </a:prstGeom>
          <a:solidFill>
            <a:srgbClr val="F4F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52000" y="6336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Sept règles d'écriture</a:t>
            </a:r>
          </a:p>
        </p:txBody>
      </p:sp>
      <p:sp>
        <p:nvSpPr>
          <p:cNvPr id="37" name="TextBox 36"/>
          <p:cNvSpPr txBox="1"/>
          <p:nvPr/>
        </p:nvSpPr>
        <p:spPr>
          <a:xfrm>
            <a:off x="1152000" y="6984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Nom</a:t>
            </a:r>
          </a:p>
        </p:txBody>
      </p:sp>
      <p:sp>
        <p:nvSpPr>
          <p:cNvPr id="38" name="TextBox 37"/>
          <p:cNvSpPr txBox="1"/>
          <p:nvPr/>
        </p:nvSpPr>
        <p:spPr>
          <a:xfrm>
            <a:off x="1152000" y="7308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AgriWin Togo. Jamais Agriwin, AGRIWIN ni AgriWin-Togo.</a:t>
            </a:r>
          </a:p>
        </p:txBody>
      </p:sp>
      <p:sp>
        <p:nvSpPr>
          <p:cNvPr id="39" name="TextBox 38"/>
          <p:cNvSpPr txBox="1"/>
          <p:nvPr/>
        </p:nvSpPr>
        <p:spPr>
          <a:xfrm>
            <a:off x="4428000" y="6984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Prix</a:t>
            </a:r>
          </a:p>
        </p:txBody>
      </p:sp>
      <p:sp>
        <p:nvSpPr>
          <p:cNvPr id="40" name="TextBox 39"/>
          <p:cNvSpPr txBox="1"/>
          <p:nvPr/>
        </p:nvSpPr>
        <p:spPr>
          <a:xfrm>
            <a:off x="4428000" y="7308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3 500 F — espace fine, symbole après. Jamais « 3500FCFA ».</a:t>
            </a:r>
          </a:p>
        </p:txBody>
      </p:sp>
      <p:sp>
        <p:nvSpPr>
          <p:cNvPr id="41" name="TextBox 40"/>
          <p:cNvSpPr txBox="1"/>
          <p:nvPr/>
        </p:nvSpPr>
        <p:spPr>
          <a:xfrm>
            <a:off x="7704000" y="6984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Numéro</a:t>
            </a:r>
          </a:p>
        </p:txBody>
      </p:sp>
      <p:sp>
        <p:nvSpPr>
          <p:cNvPr id="42" name="TextBox 41"/>
          <p:cNvSpPr txBox="1"/>
          <p:nvPr/>
        </p:nvSpPr>
        <p:spPr>
          <a:xfrm>
            <a:off x="7704000" y="7308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+228 96 63 82 00, groupé par deux chiffres.</a:t>
            </a:r>
          </a:p>
        </p:txBody>
      </p:sp>
      <p:sp>
        <p:nvSpPr>
          <p:cNvPr id="43" name="TextBox 42"/>
          <p:cNvSpPr txBox="1"/>
          <p:nvPr/>
        </p:nvSpPr>
        <p:spPr>
          <a:xfrm>
            <a:off x="10980000" y="6984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Horaires</a:t>
            </a:r>
          </a:p>
        </p:txBody>
      </p:sp>
      <p:sp>
        <p:nvSpPr>
          <p:cNvPr id="44" name="TextBox 43"/>
          <p:cNvSpPr txBox="1"/>
          <p:nvPr/>
        </p:nvSpPr>
        <p:spPr>
          <a:xfrm>
            <a:off x="10980000" y="7308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Lun–Sam : 8h – 18h, avec un tiret demi-cadratin.</a:t>
            </a:r>
          </a:p>
        </p:txBody>
      </p:sp>
      <p:sp>
        <p:nvSpPr>
          <p:cNvPr id="45" name="TextBox 44"/>
          <p:cNvSpPr txBox="1"/>
          <p:nvPr/>
        </p:nvSpPr>
        <p:spPr>
          <a:xfrm>
            <a:off x="1152000" y="8352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Vocabulaire</a:t>
            </a:r>
          </a:p>
        </p:txBody>
      </p:sp>
      <p:sp>
        <p:nvSpPr>
          <p:cNvPr id="46" name="TextBox 45"/>
          <p:cNvSpPr txBox="1"/>
          <p:nvPr/>
        </p:nvSpPr>
        <p:spPr>
          <a:xfrm>
            <a:off x="1152000" y="8676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Les mots du métier : greffé, sachet de 3 L, taux de reprise.</a:t>
            </a:r>
          </a:p>
        </p:txBody>
      </p:sp>
      <p:sp>
        <p:nvSpPr>
          <p:cNvPr id="47" name="TextBox 46"/>
          <p:cNvSpPr txBox="1"/>
          <p:nvPr/>
        </p:nvSpPr>
        <p:spPr>
          <a:xfrm>
            <a:off x="4428000" y="8352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Emoji</a:t>
            </a:r>
          </a:p>
        </p:txBody>
      </p:sp>
      <p:sp>
        <p:nvSpPr>
          <p:cNvPr id="48" name="TextBox 47"/>
          <p:cNvSpPr txBox="1"/>
          <p:nvPr/>
        </p:nvSpPr>
        <p:spPr>
          <a:xfrm>
            <a:off x="4428000" y="8676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Aucun dans les supports de marque ; un seul par publication sociale.</a:t>
            </a:r>
          </a:p>
        </p:txBody>
      </p:sp>
      <p:sp>
        <p:nvSpPr>
          <p:cNvPr id="49" name="TextBox 48"/>
          <p:cNvSpPr txBox="1"/>
          <p:nvPr/>
        </p:nvSpPr>
        <p:spPr>
          <a:xfrm>
            <a:off x="7704000" y="8352000"/>
            <a:ext cx="302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205E25"/>
                </a:solidFill>
                <a:latin typeface="Poppins"/>
              </a:rPr>
              <a:t>Ponctuation</a:t>
            </a:r>
          </a:p>
        </p:txBody>
      </p:sp>
      <p:sp>
        <p:nvSpPr>
          <p:cNvPr id="50" name="TextBox 49"/>
          <p:cNvSpPr txBox="1"/>
          <p:nvPr/>
        </p:nvSpPr>
        <p:spPr>
          <a:xfrm>
            <a:off x="7704000" y="8676000"/>
            <a:ext cx="3024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Espace insécable avant : ; ! ? et avant le symbole monétaire.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06</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Le symbole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08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440000"/>
            <a:ext cx="6840000" cy="8136000"/>
          </a:xfrm>
          <a:prstGeom prst="roundRect">
            <a:avLst>
              <a:gd name="adj" fmla="val 6000"/>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griwin-icone.png"/>
          <p:cNvPicPr>
            <a:picLocks noChangeAspect="1"/>
          </p:cNvPicPr>
          <p:nvPr/>
        </p:nvPicPr>
        <p:blipFill>
          <a:blip r:embed="rId3"/>
          <a:stretch>
            <a:fillRect/>
          </a:stretch>
        </p:blipFill>
        <p:spPr>
          <a:xfrm>
            <a:off x="2592000" y="1800000"/>
            <a:ext cx="4749396" cy="7416000"/>
          </a:xfrm>
          <a:prstGeom prst="rect">
            <a:avLst/>
          </a:prstGeom>
        </p:spPr>
      </p:pic>
      <p:sp>
        <p:nvSpPr>
          <p:cNvPr id="12" name="TextBox 11"/>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Ce que le signe raconte</a:t>
            </a:r>
          </a:p>
        </p:txBody>
      </p:sp>
      <p:sp>
        <p:nvSpPr>
          <p:cNvPr id="13" name="TextBox 12"/>
          <p:cNvSpPr txBox="1"/>
          <p:nvPr/>
        </p:nvSpPr>
        <p:spPr>
          <a:xfrm>
            <a:off x="8100000" y="1872000"/>
            <a:ext cx="6300000" cy="648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Un plant de sisal à six feuilles, et une chèvre à son pied. Les deux métiers d'AgriWin Togo — la culture et l'élevage — tiennent dans un seul signe, sans qu'aucun mot soit nécessaire.</a:t>
            </a:r>
          </a:p>
        </p:txBody>
      </p:sp>
      <p:sp>
        <p:nvSpPr>
          <p:cNvPr id="14" name="TextBox 13"/>
          <p:cNvSpPr txBox="1"/>
          <p:nvPr/>
        </p:nvSpPr>
        <p:spPr>
          <a:xfrm>
            <a:off x="8100000" y="266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Comment il a été mis au propre</a:t>
            </a:r>
          </a:p>
        </p:txBody>
      </p:sp>
      <p:sp>
        <p:nvSpPr>
          <p:cNvPr id="15" name="TextBox 14"/>
          <p:cNvSpPr txBox="1"/>
          <p:nvPr/>
        </p:nvSpPr>
        <p:spPr>
          <a:xfrm>
            <a:off x="8100000" y="3096000"/>
            <a:ext cx="6300000" cy="648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Le signe n'a pas été redessiné : le logo d'origine a été vectorisé, puis ses valeurs ont été ramenées sur la palette de marque. Le plant, la chèvre et leurs proportions sont exactement ceux que l'entreprise utilise déjà.</a:t>
            </a:r>
          </a:p>
        </p:txBody>
      </p:sp>
      <p:graphicFrame>
        <p:nvGraphicFramePr>
          <p:cNvPr id="16" name="Table 15"/>
          <p:cNvGraphicFramePr>
            <a:graphicFrameLocks noGrp="1"/>
          </p:cNvGraphicFramePr>
          <p:nvPr/>
        </p:nvGraphicFramePr>
        <p:xfrm>
          <a:off x="8100000" y="3888000"/>
          <a:ext cx="6300000" cy="4032000"/>
        </p:xfrm>
        <a:graphic>
          <a:graphicData uri="http://schemas.openxmlformats.org/drawingml/2006/table">
            <a:tbl>
              <a:tblPr firstRow="1" bandRow="1">
                <a:tableStyleId>{5C22544A-7EE6-4342-B048-85BDC9FD1C3A}</a:tableStyleId>
              </a:tblPr>
              <a:tblGrid>
                <a:gridCol w="1638000"/>
                <a:gridCol w="4662000"/>
              </a:tblGrid>
              <a:tr h="504000">
                <a:tc>
                  <a:txBody>
                    <a:bodyPr/>
                    <a:lstStyle/>
                    <a:p>
                      <a:pPr>
                        <a:lnSpc>
                          <a:spcPct val="125000"/>
                        </a:lnSpc>
                      </a:pPr>
                      <a:r>
                        <a:rPr sz="900" b="1">
                          <a:solidFill>
                            <a:srgbClr val="FFFFFF"/>
                          </a:solidFill>
                          <a:latin typeface="Poppins"/>
                        </a:rPr>
                        <a:t>ÉLÉMENT</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RÈGLE</a:t>
                      </a:r>
                    </a:p>
                  </a:txBody>
                  <a:tcPr marL="90000" marR="90000" marT="50400" marB="50400" anchor="ctr">
                    <a:solidFill>
                      <a:srgbClr val="1B5E20"/>
                    </a:solidFill>
                  </a:tcPr>
                </a:tc>
              </a:tr>
              <a:tr h="504000">
                <a:tc>
                  <a:txBody>
                    <a:bodyPr/>
                    <a:lstStyle/>
                    <a:p>
                      <a:pPr>
                        <a:lnSpc>
                          <a:spcPct val="125000"/>
                        </a:lnSpc>
                      </a:pPr>
                      <a:r>
                        <a:rPr sz="900" b="1">
                          <a:solidFill>
                            <a:srgbClr val="0F3D17"/>
                          </a:solidFill>
                          <a:latin typeface="Poppins"/>
                        </a:rPr>
                        <a:t>Origine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Logo fourni par AgriWin Togo, vectorisé en courbes de Bézier.</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Structure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Six feuilles : deux hampes centrales, deux latérales, deux retombantes.</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Proportions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Rapport largeur / hauteur de 0,64 — plus haut que large.</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Modelé</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Six valeurs de vert, de green-400 aux nervures à green-950 aux contours.</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Chèvre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Dessin au trait à intérieur évidé, au pied de la feuille droite.</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Une seule encre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Silhouette pleine, contours repeints dans la couleur du fond.</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Fichier</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SVG vectoriel, six couches de la plus claire à la plus sombre.</a:t>
                      </a:r>
                    </a:p>
                  </a:txBody>
                  <a:tcPr marL="90000" marR="90000" marT="50400" marB="50400" anchor="ctr">
                    <a:solidFill>
                      <a:srgbClr val="FFFFFF"/>
                    </a:solidFill>
                  </a:tcPr>
                </a:tc>
              </a:tr>
            </a:tbl>
          </a:graphicData>
        </a:graphic>
      </p:graphicFrame>
      <p:sp>
        <p:nvSpPr>
          <p:cNvPr id="17" name="TextBox 16"/>
          <p:cNvSpPr txBox="1"/>
          <p:nvPr/>
        </p:nvSpPr>
        <p:spPr>
          <a:xfrm>
            <a:off x="8100000" y="7632000"/>
            <a:ext cx="6300000" cy="504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Le symbole est un fichier, pas un dessin à reproduire. Ne le redessinez pas : prenez le SVG dans le groupe Logos du design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07</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Les six variantes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09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4320000" cy="244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griwin-logo-principal.png"/>
          <p:cNvPicPr>
            <a:picLocks noChangeAspect="1"/>
          </p:cNvPicPr>
          <p:nvPr/>
        </p:nvPicPr>
        <p:blipFill>
          <a:blip r:embed="rId3"/>
          <a:stretch>
            <a:fillRect/>
          </a:stretch>
        </p:blipFill>
        <p:spPr>
          <a:xfrm>
            <a:off x="1440000" y="1872000"/>
            <a:ext cx="1324800" cy="1728000"/>
          </a:xfrm>
          <a:prstGeom prst="rect">
            <a:avLst/>
          </a:prstGeom>
        </p:spPr>
      </p:pic>
      <p:sp>
        <p:nvSpPr>
          <p:cNvPr id="12" name="TextBox 11"/>
          <p:cNvSpPr txBox="1"/>
          <p:nvPr/>
        </p:nvSpPr>
        <p:spPr>
          <a:xfrm>
            <a:off x="720000" y="417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Principal — vertical</a:t>
            </a:r>
          </a:p>
        </p:txBody>
      </p:sp>
      <p:sp>
        <p:nvSpPr>
          <p:cNvPr id="13" name="TextBox 12"/>
          <p:cNvSpPr txBox="1"/>
          <p:nvPr/>
        </p:nvSpPr>
        <p:spPr>
          <a:xfrm>
            <a:off x="720000" y="450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Format carré ou portrait : affiche, couverture, publication sociale.</a:t>
            </a:r>
          </a:p>
        </p:txBody>
      </p:sp>
      <p:sp>
        <p:nvSpPr>
          <p:cNvPr id="14" name="Rounded Rectangle 13"/>
          <p:cNvSpPr/>
          <p:nvPr/>
        </p:nvSpPr>
        <p:spPr>
          <a:xfrm>
            <a:off x="5292000" y="1512000"/>
            <a:ext cx="4320000" cy="244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agriwin-logo-horizontal.png"/>
          <p:cNvPicPr>
            <a:picLocks noChangeAspect="1"/>
          </p:cNvPicPr>
          <p:nvPr/>
        </p:nvPicPr>
        <p:blipFill>
          <a:blip r:embed="rId2"/>
          <a:stretch>
            <a:fillRect/>
          </a:stretch>
        </p:blipFill>
        <p:spPr>
          <a:xfrm>
            <a:off x="6012000" y="2249514"/>
            <a:ext cx="2880000" cy="972972"/>
          </a:xfrm>
          <a:prstGeom prst="rect">
            <a:avLst/>
          </a:prstGeom>
        </p:spPr>
      </p:pic>
      <p:sp>
        <p:nvSpPr>
          <p:cNvPr id="16" name="TextBox 15"/>
          <p:cNvSpPr txBox="1"/>
          <p:nvPr/>
        </p:nvSpPr>
        <p:spPr>
          <a:xfrm>
            <a:off x="5292000" y="417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Horizontal</a:t>
            </a:r>
          </a:p>
        </p:txBody>
      </p:sp>
      <p:sp>
        <p:nvSpPr>
          <p:cNvPr id="17" name="TextBox 16"/>
          <p:cNvSpPr txBox="1"/>
          <p:nvPr/>
        </p:nvSpPr>
        <p:spPr>
          <a:xfrm>
            <a:off x="5292000" y="450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En-tête de site, papeterie, bandeau, signature d'e-mail.</a:t>
            </a:r>
          </a:p>
        </p:txBody>
      </p:sp>
      <p:sp>
        <p:nvSpPr>
          <p:cNvPr id="18" name="Rounded Rectangle 17"/>
          <p:cNvSpPr/>
          <p:nvPr/>
        </p:nvSpPr>
        <p:spPr>
          <a:xfrm>
            <a:off x="9864000" y="1512000"/>
            <a:ext cx="4320000" cy="244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agriwin-icone.png"/>
          <p:cNvPicPr>
            <a:picLocks noChangeAspect="1"/>
          </p:cNvPicPr>
          <p:nvPr/>
        </p:nvPicPr>
        <p:blipFill>
          <a:blip r:embed="rId4"/>
          <a:stretch>
            <a:fillRect/>
          </a:stretch>
        </p:blipFill>
        <p:spPr>
          <a:xfrm>
            <a:off x="10584000" y="1872000"/>
            <a:ext cx="1106655" cy="1728000"/>
          </a:xfrm>
          <a:prstGeom prst="rect">
            <a:avLst/>
          </a:prstGeom>
        </p:spPr>
      </p:pic>
      <p:sp>
        <p:nvSpPr>
          <p:cNvPr id="20" name="TextBox 19"/>
          <p:cNvSpPr txBox="1"/>
          <p:nvPr/>
        </p:nvSpPr>
        <p:spPr>
          <a:xfrm>
            <a:off x="9864000" y="417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Symbole seul</a:t>
            </a:r>
          </a:p>
        </p:txBody>
      </p:sp>
      <p:sp>
        <p:nvSpPr>
          <p:cNvPr id="21" name="TextBox 20"/>
          <p:cNvSpPr txBox="1"/>
          <p:nvPr/>
        </p:nvSpPr>
        <p:spPr>
          <a:xfrm>
            <a:off x="9864000" y="450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Quand le nom est déjà écrit à côté : tampon, filigrane, motif.</a:t>
            </a:r>
          </a:p>
        </p:txBody>
      </p:sp>
      <p:sp>
        <p:nvSpPr>
          <p:cNvPr id="22" name="Rounded Rectangle 21"/>
          <p:cNvSpPr/>
          <p:nvPr/>
        </p:nvSpPr>
        <p:spPr>
          <a:xfrm>
            <a:off x="720000" y="5652000"/>
            <a:ext cx="4320000" cy="244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agriwin-logo-mono.png"/>
          <p:cNvPicPr>
            <a:picLocks noChangeAspect="1"/>
          </p:cNvPicPr>
          <p:nvPr/>
        </p:nvPicPr>
        <p:blipFill>
          <a:blip r:embed="rId5"/>
          <a:stretch>
            <a:fillRect/>
          </a:stretch>
        </p:blipFill>
        <p:spPr>
          <a:xfrm>
            <a:off x="1440000" y="6389514"/>
            <a:ext cx="2880000" cy="972972"/>
          </a:xfrm>
          <a:prstGeom prst="rect">
            <a:avLst/>
          </a:prstGeom>
        </p:spPr>
      </p:pic>
      <p:sp>
        <p:nvSpPr>
          <p:cNvPr id="24" name="TextBox 23"/>
          <p:cNvSpPr txBox="1"/>
          <p:nvPr/>
        </p:nvSpPr>
        <p:spPr>
          <a:xfrm>
            <a:off x="720000" y="831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Monochrome</a:t>
            </a:r>
          </a:p>
        </p:txBody>
      </p:sp>
      <p:sp>
        <p:nvSpPr>
          <p:cNvPr id="25" name="TextBox 24"/>
          <p:cNvSpPr txBox="1"/>
          <p:nvPr/>
        </p:nvSpPr>
        <p:spPr>
          <a:xfrm>
            <a:off x="720000" y="864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Une seule encre, green-950 : gravure, sérigraphie, télécopie.</a:t>
            </a:r>
          </a:p>
        </p:txBody>
      </p:sp>
      <p:sp>
        <p:nvSpPr>
          <p:cNvPr id="26" name="Rounded Rectangle 25"/>
          <p:cNvSpPr/>
          <p:nvPr/>
        </p:nvSpPr>
        <p:spPr>
          <a:xfrm>
            <a:off x="5292000" y="5652000"/>
            <a:ext cx="4320000" cy="2448000"/>
          </a:xfrm>
          <a:prstGeom prst="roundRect">
            <a:avLst>
              <a:gd name="adj" fmla="val 6000"/>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agriwin-logo-inverse.png"/>
          <p:cNvPicPr>
            <a:picLocks noChangeAspect="1"/>
          </p:cNvPicPr>
          <p:nvPr/>
        </p:nvPicPr>
        <p:blipFill>
          <a:blip r:embed="rId6"/>
          <a:stretch>
            <a:fillRect/>
          </a:stretch>
        </p:blipFill>
        <p:spPr>
          <a:xfrm>
            <a:off x="6012000" y="6389514"/>
            <a:ext cx="2880000" cy="972972"/>
          </a:xfrm>
          <a:prstGeom prst="rect">
            <a:avLst/>
          </a:prstGeom>
        </p:spPr>
      </p:pic>
      <p:sp>
        <p:nvSpPr>
          <p:cNvPr id="28" name="TextBox 27"/>
          <p:cNvSpPr txBox="1"/>
          <p:nvPr/>
        </p:nvSpPr>
        <p:spPr>
          <a:xfrm>
            <a:off x="5292000" y="831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Inversé</a:t>
            </a:r>
          </a:p>
        </p:txBody>
      </p:sp>
      <p:sp>
        <p:nvSpPr>
          <p:cNvPr id="29" name="TextBox 28"/>
          <p:cNvSpPr txBox="1"/>
          <p:nvPr/>
        </p:nvSpPr>
        <p:spPr>
          <a:xfrm>
            <a:off x="5292000" y="864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Sur aplat green-900 ou photo foncée. Le fond fait partie du fichier.</a:t>
            </a:r>
          </a:p>
        </p:txBody>
      </p:sp>
      <p:sp>
        <p:nvSpPr>
          <p:cNvPr id="30" name="Rounded Rectangle 29"/>
          <p:cNvSpPr/>
          <p:nvPr/>
        </p:nvSpPr>
        <p:spPr>
          <a:xfrm>
            <a:off x="9864000" y="5652000"/>
            <a:ext cx="4320000" cy="2448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agriwin-monogramme.png"/>
          <p:cNvPicPr>
            <a:picLocks noChangeAspect="1"/>
          </p:cNvPicPr>
          <p:nvPr/>
        </p:nvPicPr>
        <p:blipFill>
          <a:blip r:embed="rId7"/>
          <a:stretch>
            <a:fillRect/>
          </a:stretch>
        </p:blipFill>
        <p:spPr>
          <a:xfrm>
            <a:off x="10584000" y="6012000"/>
            <a:ext cx="1728000" cy="1728000"/>
          </a:xfrm>
          <a:prstGeom prst="rect">
            <a:avLst/>
          </a:prstGeom>
        </p:spPr>
      </p:pic>
      <p:sp>
        <p:nvSpPr>
          <p:cNvPr id="32" name="TextBox 31"/>
          <p:cNvSpPr txBox="1"/>
          <p:nvPr/>
        </p:nvSpPr>
        <p:spPr>
          <a:xfrm>
            <a:off x="9864000" y="8316000"/>
            <a:ext cx="4320000" cy="252000"/>
          </a:xfrm>
          <a:prstGeom prst="rect">
            <a:avLst/>
          </a:prstGeom>
          <a:noFill/>
        </p:spPr>
        <p:txBody>
          <a:bodyPr wrap="square" anchor="t" lIns="0" rIns="0" tIns="0" bIns="0">
            <a:spAutoFit/>
          </a:bodyPr>
          <a:lstStyle/>
          <a:p>
            <a:pPr algn="l">
              <a:lnSpc>
                <a:spcPct val="135000"/>
              </a:lnSpc>
              <a:spcAft>
                <a:spcPts val="400"/>
              </a:spcAft>
            </a:pPr>
            <a:r>
              <a:rPr sz="1150" b="1" i="0">
                <a:solidFill>
                  <a:srgbClr val="0F3D17"/>
                </a:solidFill>
                <a:latin typeface="Poppins"/>
              </a:rPr>
              <a:t>Monogramme</a:t>
            </a:r>
          </a:p>
        </p:txBody>
      </p:sp>
      <p:sp>
        <p:nvSpPr>
          <p:cNvPr id="33" name="TextBox 32"/>
          <p:cNvSpPr txBox="1"/>
          <p:nvPr/>
        </p:nvSpPr>
        <p:spPr>
          <a:xfrm>
            <a:off x="9864000" y="8640000"/>
            <a:ext cx="4320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Favicon, avatar de réseau social, tuile d'application.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08</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Zone de protection et tailles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10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La zone de protection</a:t>
            </a:r>
          </a:p>
        </p:txBody>
      </p:sp>
      <p:sp>
        <p:nvSpPr>
          <p:cNvPr id="11" name="TextBox 10"/>
          <p:cNvSpPr txBox="1"/>
          <p:nvPr/>
        </p:nvSpPr>
        <p:spPr>
          <a:xfrm>
            <a:off x="720000" y="1872000"/>
            <a:ext cx="6480000" cy="576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L'unité x est la hauteur de la hampe centrale divisée par quatre. Cette marge est libre sur les quatre côtés : aucun texte, aucun filet, aucune image, aucun bord de page n'y entre.</a:t>
            </a:r>
          </a:p>
        </p:txBody>
      </p:sp>
      <p:sp>
        <p:nvSpPr>
          <p:cNvPr id="12" name="Rectangle 11"/>
          <p:cNvSpPr/>
          <p:nvPr/>
        </p:nvSpPr>
        <p:spPr>
          <a:xfrm>
            <a:off x="720000" y="2736000"/>
            <a:ext cx="6480000" cy="4320000"/>
          </a:xfrm>
          <a:prstGeom prst="rect">
            <a:avLst/>
          </a:prstGeom>
          <a:solidFill>
            <a:srgbClr val="F7FAF5"/>
          </a:solidFill>
          <a:ln w="17970">
            <a:solidFill>
              <a:srgbClr val="4E9F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800000" y="3816000"/>
            <a:ext cx="4320000" cy="2160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griwin-logo-horizontal.png"/>
          <p:cNvPicPr>
            <a:picLocks noChangeAspect="1"/>
          </p:cNvPicPr>
          <p:nvPr/>
        </p:nvPicPr>
        <p:blipFill>
          <a:blip r:embed="rId2"/>
          <a:stretch>
            <a:fillRect/>
          </a:stretch>
        </p:blipFill>
        <p:spPr>
          <a:xfrm>
            <a:off x="2088000" y="4392000"/>
            <a:ext cx="3744000" cy="1264865"/>
          </a:xfrm>
          <a:prstGeom prst="rect">
            <a:avLst/>
          </a:prstGeom>
        </p:spPr>
      </p:pic>
      <p:sp>
        <p:nvSpPr>
          <p:cNvPr id="15" name="TextBox 14"/>
          <p:cNvSpPr txBox="1"/>
          <p:nvPr/>
        </p:nvSpPr>
        <p:spPr>
          <a:xfrm>
            <a:off x="3888000" y="3168000"/>
            <a:ext cx="28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x</a:t>
            </a:r>
          </a:p>
        </p:txBody>
      </p:sp>
      <p:sp>
        <p:nvSpPr>
          <p:cNvPr id="16" name="TextBox 15"/>
          <p:cNvSpPr txBox="1"/>
          <p:nvPr/>
        </p:nvSpPr>
        <p:spPr>
          <a:xfrm>
            <a:off x="3888000" y="6336000"/>
            <a:ext cx="28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x</a:t>
            </a:r>
          </a:p>
        </p:txBody>
      </p:sp>
      <p:sp>
        <p:nvSpPr>
          <p:cNvPr id="17" name="TextBox 16"/>
          <p:cNvSpPr txBox="1"/>
          <p:nvPr/>
        </p:nvSpPr>
        <p:spPr>
          <a:xfrm>
            <a:off x="1152000" y="4788000"/>
            <a:ext cx="28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x</a:t>
            </a:r>
          </a:p>
        </p:txBody>
      </p:sp>
      <p:sp>
        <p:nvSpPr>
          <p:cNvPr id="18" name="TextBox 17"/>
          <p:cNvSpPr txBox="1"/>
          <p:nvPr/>
        </p:nvSpPr>
        <p:spPr>
          <a:xfrm>
            <a:off x="6480000" y="4788000"/>
            <a:ext cx="28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2E7D32"/>
                </a:solidFill>
                <a:latin typeface="Poppins"/>
              </a:rPr>
              <a:t>x</a:t>
            </a:r>
          </a:p>
        </p:txBody>
      </p:sp>
      <p:sp>
        <p:nvSpPr>
          <p:cNvPr id="19" name="TextBox 18"/>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Tailles minimales</a:t>
            </a:r>
          </a:p>
        </p:txBody>
      </p:sp>
      <p:graphicFrame>
        <p:nvGraphicFramePr>
          <p:cNvPr id="20" name="Table 19"/>
          <p:cNvGraphicFramePr>
            <a:graphicFrameLocks noGrp="1"/>
          </p:cNvGraphicFramePr>
          <p:nvPr/>
        </p:nvGraphicFramePr>
        <p:xfrm>
          <a:off x="8100000" y="1872000"/>
          <a:ext cx="6300000" cy="2772000"/>
        </p:xfrm>
        <a:graphic>
          <a:graphicData uri="http://schemas.openxmlformats.org/drawingml/2006/table">
            <a:tbl>
              <a:tblPr firstRow="1" bandRow="1">
                <a:tableStyleId>{5C22544A-7EE6-4342-B048-85BDC9FD1C3A}</a:tableStyleId>
              </a:tblPr>
              <a:tblGrid>
                <a:gridCol w="3654000"/>
                <a:gridCol w="2646000"/>
              </a:tblGrid>
              <a:tr h="396000">
                <a:tc>
                  <a:txBody>
                    <a:bodyPr/>
                    <a:lstStyle/>
                    <a:p>
                      <a:pPr>
                        <a:lnSpc>
                          <a:spcPct val="125000"/>
                        </a:lnSpc>
                      </a:pPr>
                      <a:r>
                        <a:rPr sz="900" b="1">
                          <a:solidFill>
                            <a:srgbClr val="FFFFFF"/>
                          </a:solidFill>
                          <a:latin typeface="Poppins"/>
                        </a:rPr>
                        <a:t>VARIANTE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TAILLE MINIMALE</a:t>
                      </a:r>
                    </a:p>
                  </a:txBody>
                  <a:tcPr marL="90000" marR="90000" marT="50400" marB="50400" anchor="ctr">
                    <a:solidFill>
                      <a:srgbClr val="1B5E20"/>
                    </a:solidFill>
                  </a:tcPr>
                </a:tc>
              </a:tr>
              <a:tr h="396000">
                <a:tc>
                  <a:txBody>
                    <a:bodyPr/>
                    <a:lstStyle/>
                    <a:p>
                      <a:pPr>
                        <a:lnSpc>
                          <a:spcPct val="125000"/>
                        </a:lnSpc>
                      </a:pPr>
                      <a:r>
                        <a:rPr sz="900" b="1">
                          <a:solidFill>
                            <a:srgbClr val="0F3D17"/>
                          </a:solidFill>
                          <a:latin typeface="Poppins"/>
                        </a:rPr>
                        <a:t>Horizontal — impression</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28 mm de large</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Horizontal — écran</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120 px de large</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Principal vertical — impression</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22 mm de large</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Principal vertical — écran</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96 px de large</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Symbole seul — écran</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32 px</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Monogramme — favicon</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16, 32 et 180 px</a:t>
                      </a:r>
                    </a:p>
                  </a:txBody>
                  <a:tcPr marL="90000" marR="90000" marT="50400" marB="50400" anchor="ctr">
                    <a:solidFill>
                      <a:srgbClr val="F7FAF5"/>
                    </a:solidFill>
                  </a:tcPr>
                </a:tc>
              </a:tr>
            </a:tbl>
          </a:graphicData>
        </a:graphic>
      </p:graphicFrame>
      <p:sp>
        <p:nvSpPr>
          <p:cNvPr id="21" name="TextBox 20"/>
          <p:cNvSpPr txBox="1"/>
          <p:nvPr/>
        </p:nvSpPr>
        <p:spPr>
          <a:xfrm>
            <a:off x="8100000" y="50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En dessous de ces tailles</a:t>
            </a:r>
          </a:p>
        </p:txBody>
      </p:sp>
      <p:sp>
        <p:nvSpPr>
          <p:cNvPr id="22" name="TextBox 21"/>
          <p:cNvSpPr txBox="1"/>
          <p:nvPr/>
        </p:nvSpPr>
        <p:spPr>
          <a:xfrm>
            <a:off x="8100000" y="5472000"/>
            <a:ext cx="6300000" cy="576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La chèvre et les nervures se referment et le signe devient une tache. Passez alors au monogramme, qui est dessiné pour cette échelle.</a:t>
            </a:r>
          </a:p>
        </p:txBody>
      </p:sp>
      <p:pic>
        <p:nvPicPr>
          <p:cNvPr id="23" name="Picture 22" descr="agriwin-logo-horizontal.png"/>
          <p:cNvPicPr>
            <a:picLocks noChangeAspect="1"/>
          </p:cNvPicPr>
          <p:nvPr/>
        </p:nvPicPr>
        <p:blipFill>
          <a:blip r:embed="rId2"/>
          <a:stretch>
            <a:fillRect/>
          </a:stretch>
        </p:blipFill>
        <p:spPr>
          <a:xfrm>
            <a:off x="8100000" y="6480000"/>
            <a:ext cx="1512000" cy="510811"/>
          </a:xfrm>
          <a:prstGeom prst="rect">
            <a:avLst/>
          </a:prstGeom>
        </p:spPr>
      </p:pic>
      <p:pic>
        <p:nvPicPr>
          <p:cNvPr id="24" name="Picture 23" descr="agriwin-monogramme.png"/>
          <p:cNvPicPr>
            <a:picLocks noChangeAspect="1"/>
          </p:cNvPicPr>
          <p:nvPr/>
        </p:nvPicPr>
        <p:blipFill>
          <a:blip r:embed="rId3"/>
          <a:stretch>
            <a:fillRect/>
          </a:stretch>
        </p:blipFill>
        <p:spPr>
          <a:xfrm>
            <a:off x="10080000" y="6408000"/>
            <a:ext cx="576000" cy="576000"/>
          </a:xfrm>
          <a:prstGeom prst="rect">
            <a:avLst/>
          </a:prstGeom>
        </p:spPr>
      </p:pic>
      <p:pic>
        <p:nvPicPr>
          <p:cNvPr id="25" name="Picture 24" descr="agriwin-monogramme.png"/>
          <p:cNvPicPr>
            <a:picLocks noChangeAspect="1"/>
          </p:cNvPicPr>
          <p:nvPr/>
        </p:nvPicPr>
        <p:blipFill>
          <a:blip r:embed="rId3"/>
          <a:stretch>
            <a:fillRect/>
          </a:stretch>
        </p:blipFill>
        <p:spPr>
          <a:xfrm>
            <a:off x="11160000" y="6516000"/>
            <a:ext cx="396000" cy="396000"/>
          </a:xfrm>
          <a:prstGeom prst="rect">
            <a:avLst/>
          </a:prstGeom>
        </p:spPr>
      </p:pic>
      <p:sp>
        <p:nvSpPr>
          <p:cNvPr id="26" name="TextBox 25"/>
          <p:cNvSpPr txBox="1"/>
          <p:nvPr/>
        </p:nvSpPr>
        <p:spPr>
          <a:xfrm>
            <a:off x="8100000" y="7056000"/>
            <a:ext cx="1512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120 px — limite basse</a:t>
            </a:r>
          </a:p>
        </p:txBody>
      </p:sp>
      <p:sp>
        <p:nvSpPr>
          <p:cNvPr id="27" name="TextBox 26"/>
          <p:cNvSpPr txBox="1"/>
          <p:nvPr/>
        </p:nvSpPr>
        <p:spPr>
          <a:xfrm>
            <a:off x="10080000" y="7056000"/>
            <a:ext cx="10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44 px — monogramme</a:t>
            </a:r>
          </a:p>
        </p:txBody>
      </p:sp>
      <p:sp>
        <p:nvSpPr>
          <p:cNvPr id="28" name="TextBox 27"/>
          <p:cNvSpPr txBox="1"/>
          <p:nvPr/>
        </p:nvSpPr>
        <p:spPr>
          <a:xfrm>
            <a:off x="11160000" y="7056000"/>
            <a:ext cx="10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32 px — favicon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09</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Usages interdits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11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2240000" cy="360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Huit façons d'abîmer la marque. Chacune s'est déjà produite quelque part : la liste est là pour qu'elle ne se produise pas ici.</a:t>
            </a:r>
          </a:p>
        </p:txBody>
      </p:sp>
      <p:sp>
        <p:nvSpPr>
          <p:cNvPr id="11" name="Rounded Rectangle 10"/>
          <p:cNvSpPr/>
          <p:nvPr/>
        </p:nvSpPr>
        <p:spPr>
          <a:xfrm>
            <a:off x="720000" y="223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griwin-logo-horizontal.png"/>
          <p:cNvPicPr>
            <a:picLocks noChangeAspect="1"/>
          </p:cNvPicPr>
          <p:nvPr/>
        </p:nvPicPr>
        <p:blipFill>
          <a:blip r:embed="rId2"/>
          <a:stretch>
            <a:fillRect/>
          </a:stretch>
        </p:blipFill>
        <p:spPr>
          <a:xfrm>
            <a:off x="1224000" y="2880000"/>
            <a:ext cx="2160000" cy="729730"/>
          </a:xfrm>
          <a:prstGeom prst="rect">
            <a:avLst/>
          </a:prstGeom>
        </p:spPr>
      </p:pic>
      <p:sp>
        <p:nvSpPr>
          <p:cNvPr id="13" name="Oval 12"/>
          <p:cNvSpPr/>
          <p:nvPr/>
        </p:nvSpPr>
        <p:spPr>
          <a:xfrm>
            <a:off x="3456000" y="237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56000" y="244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15" name="TextBox 14"/>
          <p:cNvSpPr txBox="1"/>
          <p:nvPr/>
        </p:nvSpPr>
        <p:spPr>
          <a:xfrm>
            <a:off x="720000" y="432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Déformer</a:t>
            </a:r>
          </a:p>
        </p:txBody>
      </p:sp>
      <p:sp>
        <p:nvSpPr>
          <p:cNvPr id="16" name="TextBox 15"/>
          <p:cNvSpPr txBox="1"/>
          <p:nvPr/>
        </p:nvSpPr>
        <p:spPr>
          <a:xfrm>
            <a:off x="720000" y="464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Le symbole garde son ratio. Redimensionnez toujours proportionnellement.</a:t>
            </a:r>
          </a:p>
        </p:txBody>
      </p:sp>
      <p:sp>
        <p:nvSpPr>
          <p:cNvPr id="17" name="Rounded Rectangle 16"/>
          <p:cNvSpPr/>
          <p:nvPr/>
        </p:nvSpPr>
        <p:spPr>
          <a:xfrm>
            <a:off x="4140000" y="223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griwin-logo-horizontal.png"/>
          <p:cNvPicPr>
            <a:picLocks noChangeAspect="1"/>
          </p:cNvPicPr>
          <p:nvPr/>
        </p:nvPicPr>
        <p:blipFill>
          <a:blip r:embed="rId2"/>
          <a:stretch>
            <a:fillRect/>
          </a:stretch>
        </p:blipFill>
        <p:spPr>
          <a:xfrm>
            <a:off x="4644000" y="2880000"/>
            <a:ext cx="2160000" cy="729730"/>
          </a:xfrm>
          <a:prstGeom prst="rect">
            <a:avLst/>
          </a:prstGeom>
        </p:spPr>
      </p:pic>
      <p:sp>
        <p:nvSpPr>
          <p:cNvPr id="19" name="Oval 18"/>
          <p:cNvSpPr/>
          <p:nvPr/>
        </p:nvSpPr>
        <p:spPr>
          <a:xfrm>
            <a:off x="6876000" y="237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76000" y="244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21" name="TextBox 20"/>
          <p:cNvSpPr txBox="1"/>
          <p:nvPr/>
        </p:nvSpPr>
        <p:spPr>
          <a:xfrm>
            <a:off x="4140000" y="432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Incliner</a:t>
            </a:r>
          </a:p>
        </p:txBody>
      </p:sp>
      <p:sp>
        <p:nvSpPr>
          <p:cNvPr id="22" name="TextBox 21"/>
          <p:cNvSpPr txBox="1"/>
          <p:nvPr/>
        </p:nvSpPr>
        <p:spPr>
          <a:xfrm>
            <a:off x="4140000" y="464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Le logo est horizontal. Aucune rotation, même « dynamique ».</a:t>
            </a:r>
          </a:p>
        </p:txBody>
      </p:sp>
      <p:sp>
        <p:nvSpPr>
          <p:cNvPr id="23" name="Rounded Rectangle 22"/>
          <p:cNvSpPr/>
          <p:nvPr/>
        </p:nvSpPr>
        <p:spPr>
          <a:xfrm>
            <a:off x="7560000" y="223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agriwin-logo-horizontal.png"/>
          <p:cNvPicPr>
            <a:picLocks noChangeAspect="1"/>
          </p:cNvPicPr>
          <p:nvPr/>
        </p:nvPicPr>
        <p:blipFill>
          <a:blip r:embed="rId2"/>
          <a:stretch>
            <a:fillRect/>
          </a:stretch>
        </p:blipFill>
        <p:spPr>
          <a:xfrm>
            <a:off x="8064000" y="2880000"/>
            <a:ext cx="2160000" cy="729730"/>
          </a:xfrm>
          <a:prstGeom prst="rect">
            <a:avLst/>
          </a:prstGeom>
        </p:spPr>
      </p:pic>
      <p:sp>
        <p:nvSpPr>
          <p:cNvPr id="25" name="Oval 24"/>
          <p:cNvSpPr/>
          <p:nvPr/>
        </p:nvSpPr>
        <p:spPr>
          <a:xfrm>
            <a:off x="10296000" y="237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96000" y="244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27" name="TextBox 26"/>
          <p:cNvSpPr txBox="1"/>
          <p:nvPr/>
        </p:nvSpPr>
        <p:spPr>
          <a:xfrm>
            <a:off x="7560000" y="432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Recolorer</a:t>
            </a:r>
          </a:p>
        </p:txBody>
      </p:sp>
      <p:sp>
        <p:nvSpPr>
          <p:cNvPr id="28" name="TextBox 27"/>
          <p:cNvSpPr txBox="1"/>
          <p:nvPr/>
        </p:nvSpPr>
        <p:spPr>
          <a:xfrm>
            <a:off x="7560000" y="464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Les verts sont fixés. Pour changer d'encre, changez de fichier.</a:t>
            </a:r>
          </a:p>
        </p:txBody>
      </p:sp>
      <p:sp>
        <p:nvSpPr>
          <p:cNvPr id="29" name="Rounded Rectangle 28"/>
          <p:cNvSpPr/>
          <p:nvPr/>
        </p:nvSpPr>
        <p:spPr>
          <a:xfrm>
            <a:off x="10980000" y="223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agriwin-logo-horizontal.png"/>
          <p:cNvPicPr>
            <a:picLocks noChangeAspect="1"/>
          </p:cNvPicPr>
          <p:nvPr/>
        </p:nvPicPr>
        <p:blipFill>
          <a:blip r:embed="rId2"/>
          <a:stretch>
            <a:fillRect/>
          </a:stretch>
        </p:blipFill>
        <p:spPr>
          <a:xfrm>
            <a:off x="11484000" y="2880000"/>
            <a:ext cx="2160000" cy="729730"/>
          </a:xfrm>
          <a:prstGeom prst="rect">
            <a:avLst/>
          </a:prstGeom>
        </p:spPr>
      </p:pic>
      <p:sp>
        <p:nvSpPr>
          <p:cNvPr id="31" name="Oval 30"/>
          <p:cNvSpPr/>
          <p:nvPr/>
        </p:nvSpPr>
        <p:spPr>
          <a:xfrm>
            <a:off x="13716000" y="237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716000" y="244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33" name="TextBox 32"/>
          <p:cNvSpPr txBox="1"/>
          <p:nvPr/>
        </p:nvSpPr>
        <p:spPr>
          <a:xfrm>
            <a:off x="10980000" y="432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Ombrer</a:t>
            </a:r>
          </a:p>
        </p:txBody>
      </p:sp>
      <p:sp>
        <p:nvSpPr>
          <p:cNvPr id="34" name="TextBox 33"/>
          <p:cNvSpPr txBox="1"/>
          <p:nvPr/>
        </p:nvSpPr>
        <p:spPr>
          <a:xfrm>
            <a:off x="10980000" y="464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Pas d'ombre portée, pas de relief, pas de contour.</a:t>
            </a:r>
          </a:p>
        </p:txBody>
      </p:sp>
      <p:sp>
        <p:nvSpPr>
          <p:cNvPr id="35" name="Rounded Rectangle 34"/>
          <p:cNvSpPr/>
          <p:nvPr/>
        </p:nvSpPr>
        <p:spPr>
          <a:xfrm>
            <a:off x="720000" y="601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agriwin-logo-horizontal.png"/>
          <p:cNvPicPr>
            <a:picLocks noChangeAspect="1"/>
          </p:cNvPicPr>
          <p:nvPr/>
        </p:nvPicPr>
        <p:blipFill>
          <a:blip r:embed="rId2"/>
          <a:stretch>
            <a:fillRect/>
          </a:stretch>
        </p:blipFill>
        <p:spPr>
          <a:xfrm>
            <a:off x="1224000" y="6660000"/>
            <a:ext cx="2160000" cy="729730"/>
          </a:xfrm>
          <a:prstGeom prst="rect">
            <a:avLst/>
          </a:prstGeom>
        </p:spPr>
      </p:pic>
      <p:sp>
        <p:nvSpPr>
          <p:cNvPr id="37" name="Oval 36"/>
          <p:cNvSpPr/>
          <p:nvPr/>
        </p:nvSpPr>
        <p:spPr>
          <a:xfrm>
            <a:off x="3456000" y="615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456000" y="622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39" name="TextBox 38"/>
          <p:cNvSpPr txBox="1"/>
          <p:nvPr/>
        </p:nvSpPr>
        <p:spPr>
          <a:xfrm>
            <a:off x="720000" y="810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Délaver</a:t>
            </a:r>
          </a:p>
        </p:txBody>
      </p:sp>
      <p:sp>
        <p:nvSpPr>
          <p:cNvPr id="40" name="TextBox 39"/>
          <p:cNvSpPr txBox="1"/>
          <p:nvPr/>
        </p:nvSpPr>
        <p:spPr>
          <a:xfrm>
            <a:off x="720000" y="842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Le logo reste à pleine opacité. Pour un filigrane, utilisez le symbole seul.</a:t>
            </a:r>
          </a:p>
        </p:txBody>
      </p:sp>
      <p:sp>
        <p:nvSpPr>
          <p:cNvPr id="41" name="Rounded Rectangle 40"/>
          <p:cNvSpPr/>
          <p:nvPr/>
        </p:nvSpPr>
        <p:spPr>
          <a:xfrm>
            <a:off x="4140000" y="601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agriwin-logo-horizontal.png"/>
          <p:cNvPicPr>
            <a:picLocks noChangeAspect="1"/>
          </p:cNvPicPr>
          <p:nvPr/>
        </p:nvPicPr>
        <p:blipFill>
          <a:blip r:embed="rId2"/>
          <a:stretch>
            <a:fillRect/>
          </a:stretch>
        </p:blipFill>
        <p:spPr>
          <a:xfrm>
            <a:off x="4644000" y="6660000"/>
            <a:ext cx="2160000" cy="729730"/>
          </a:xfrm>
          <a:prstGeom prst="rect">
            <a:avLst/>
          </a:prstGeom>
        </p:spPr>
      </p:pic>
      <p:sp>
        <p:nvSpPr>
          <p:cNvPr id="43" name="Oval 42"/>
          <p:cNvSpPr/>
          <p:nvPr/>
        </p:nvSpPr>
        <p:spPr>
          <a:xfrm>
            <a:off x="6876000" y="615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76000" y="622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45" name="TextBox 44"/>
          <p:cNvSpPr txBox="1"/>
          <p:nvPr/>
        </p:nvSpPr>
        <p:spPr>
          <a:xfrm>
            <a:off x="4140000" y="810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Inverser les valeurs</a:t>
            </a:r>
          </a:p>
        </p:txBody>
      </p:sp>
      <p:sp>
        <p:nvSpPr>
          <p:cNvPr id="46" name="TextBox 45"/>
          <p:cNvSpPr txBox="1"/>
          <p:nvPr/>
        </p:nvSpPr>
        <p:spPr>
          <a:xfrm>
            <a:off x="4140000" y="842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Sur fond sombre, prenez la version inversée fournie.</a:t>
            </a:r>
          </a:p>
        </p:txBody>
      </p:sp>
      <p:sp>
        <p:nvSpPr>
          <p:cNvPr id="47" name="Rounded Rectangle 46"/>
          <p:cNvSpPr/>
          <p:nvPr/>
        </p:nvSpPr>
        <p:spPr>
          <a:xfrm>
            <a:off x="7560000" y="601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agriwin-logo-horizontal.png"/>
          <p:cNvPicPr>
            <a:picLocks noChangeAspect="1"/>
          </p:cNvPicPr>
          <p:nvPr/>
        </p:nvPicPr>
        <p:blipFill>
          <a:blip r:embed="rId2"/>
          <a:stretch>
            <a:fillRect/>
          </a:stretch>
        </p:blipFill>
        <p:spPr>
          <a:xfrm>
            <a:off x="8064000" y="6660000"/>
            <a:ext cx="2160000" cy="729730"/>
          </a:xfrm>
          <a:prstGeom prst="rect">
            <a:avLst/>
          </a:prstGeom>
        </p:spPr>
      </p:pic>
      <p:sp>
        <p:nvSpPr>
          <p:cNvPr id="49" name="Oval 48"/>
          <p:cNvSpPr/>
          <p:nvPr/>
        </p:nvSpPr>
        <p:spPr>
          <a:xfrm>
            <a:off x="10296000" y="615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296000" y="622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51" name="TextBox 50"/>
          <p:cNvSpPr txBox="1"/>
          <p:nvPr/>
        </p:nvSpPr>
        <p:spPr>
          <a:xfrm>
            <a:off x="7560000" y="810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Étouffer</a:t>
            </a:r>
          </a:p>
        </p:txBody>
      </p:sp>
      <p:sp>
        <p:nvSpPr>
          <p:cNvPr id="52" name="TextBox 51"/>
          <p:cNvSpPr txBox="1"/>
          <p:nvPr/>
        </p:nvSpPr>
        <p:spPr>
          <a:xfrm>
            <a:off x="7560000" y="842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La zone de protection est libre : rien ne s'en approche.</a:t>
            </a:r>
          </a:p>
        </p:txBody>
      </p:sp>
      <p:sp>
        <p:nvSpPr>
          <p:cNvPr id="53" name="Rounded Rectangle 52"/>
          <p:cNvSpPr/>
          <p:nvPr/>
        </p:nvSpPr>
        <p:spPr>
          <a:xfrm>
            <a:off x="10980000" y="6012000"/>
            <a:ext cx="3168000" cy="1872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agriwin-logo-horizontal.png"/>
          <p:cNvPicPr>
            <a:picLocks noChangeAspect="1"/>
          </p:cNvPicPr>
          <p:nvPr/>
        </p:nvPicPr>
        <p:blipFill>
          <a:blip r:embed="rId2"/>
          <a:stretch>
            <a:fillRect/>
          </a:stretch>
        </p:blipFill>
        <p:spPr>
          <a:xfrm>
            <a:off x="11484000" y="6660000"/>
            <a:ext cx="2160000" cy="729730"/>
          </a:xfrm>
          <a:prstGeom prst="rect">
            <a:avLst/>
          </a:prstGeom>
        </p:spPr>
      </p:pic>
      <p:sp>
        <p:nvSpPr>
          <p:cNvPr id="55" name="Oval 54"/>
          <p:cNvSpPr/>
          <p:nvPr/>
        </p:nvSpPr>
        <p:spPr>
          <a:xfrm>
            <a:off x="13716000" y="6156000"/>
            <a:ext cx="288000" cy="2880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3716000" y="6228000"/>
            <a:ext cx="288000" cy="216000"/>
          </a:xfrm>
          <a:prstGeom prst="rect">
            <a:avLst/>
          </a:prstGeom>
          <a:noFill/>
        </p:spPr>
        <p:txBody>
          <a:bodyPr wrap="square" anchor="t" lIns="0" rIns="0" tIns="0" bIns="0">
            <a:spAutoFit/>
          </a:bodyPr>
          <a:lstStyle/>
          <a:p>
            <a:pPr algn="ctr">
              <a:lnSpc>
                <a:spcPct val="135000"/>
              </a:lnSpc>
              <a:spcAft>
                <a:spcPts val="400"/>
              </a:spcAft>
            </a:pPr>
            <a:r>
              <a:rPr sz="900" b="1" i="0">
                <a:solidFill>
                  <a:srgbClr val="FFFFFF"/>
                </a:solidFill>
                <a:latin typeface="Poppins"/>
              </a:rPr>
              <a:t>✕</a:t>
            </a:r>
          </a:p>
        </p:txBody>
      </p:sp>
      <p:sp>
        <p:nvSpPr>
          <p:cNvPr id="57" name="TextBox 56"/>
          <p:cNvSpPr txBox="1"/>
          <p:nvPr/>
        </p:nvSpPr>
        <p:spPr>
          <a:xfrm>
            <a:off x="10980000" y="8100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Poser sur du chargé</a:t>
            </a:r>
          </a:p>
        </p:txBody>
      </p:sp>
      <p:sp>
        <p:nvSpPr>
          <p:cNvPr id="58" name="TextBox 57"/>
          <p:cNvSpPr txBox="1"/>
          <p:nvPr/>
        </p:nvSpPr>
        <p:spPr>
          <a:xfrm>
            <a:off x="10980000" y="8424000"/>
            <a:ext cx="3168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Sur une photo texturée, posez d'abord un aplat green-900.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10</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Palette verte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12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2240000" cy="360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Neuf verts, du plus sombre au plus clair. Le vert est la couleur de la marque : sur une page, il occupe l'essentiel de la surface colorée.</a:t>
            </a:r>
          </a:p>
        </p:txBody>
      </p:sp>
      <p:sp>
        <p:nvSpPr>
          <p:cNvPr id="11" name="Rectangle 10"/>
          <p:cNvSpPr/>
          <p:nvPr/>
        </p:nvSpPr>
        <p:spPr>
          <a:xfrm>
            <a:off x="720000" y="2088000"/>
            <a:ext cx="4392000" cy="918720"/>
          </a:xfrm>
          <a:prstGeom prst="rect">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0000" y="3006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8000" y="2754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#0F3D17</a:t>
            </a:r>
          </a:p>
        </p:txBody>
      </p:sp>
      <p:sp>
        <p:nvSpPr>
          <p:cNvPr id="14" name="TextBox 13"/>
          <p:cNvSpPr txBox="1"/>
          <p:nvPr/>
        </p:nvSpPr>
        <p:spPr>
          <a:xfrm>
            <a:off x="828000" y="3114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--green-950</a:t>
            </a:r>
          </a:p>
        </p:txBody>
      </p:sp>
      <p:sp>
        <p:nvSpPr>
          <p:cNvPr id="15" name="TextBox 14"/>
          <p:cNvSpPr txBox="1"/>
          <p:nvPr/>
        </p:nvSpPr>
        <p:spPr>
          <a:xfrm>
            <a:off x="828000" y="3330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Encre de marque. Titres, symbole monochrome, texte sur fond or.</a:t>
            </a:r>
          </a:p>
        </p:txBody>
      </p:sp>
      <p:sp>
        <p:nvSpPr>
          <p:cNvPr id="16" name="Rectangle 15"/>
          <p:cNvSpPr/>
          <p:nvPr/>
        </p:nvSpPr>
        <p:spPr>
          <a:xfrm>
            <a:off x="5328000" y="2088000"/>
            <a:ext cx="4392000" cy="91872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328000" y="3006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36000" y="2754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#1B5E20</a:t>
            </a:r>
          </a:p>
        </p:txBody>
      </p:sp>
      <p:sp>
        <p:nvSpPr>
          <p:cNvPr id="19" name="TextBox 18"/>
          <p:cNvSpPr txBox="1"/>
          <p:nvPr/>
        </p:nvSpPr>
        <p:spPr>
          <a:xfrm>
            <a:off x="5436000" y="3114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--green-900</a:t>
            </a:r>
          </a:p>
        </p:txBody>
      </p:sp>
      <p:sp>
        <p:nvSpPr>
          <p:cNvPr id="20" name="TextBox 19"/>
          <p:cNvSpPr txBox="1"/>
          <p:nvPr/>
        </p:nvSpPr>
        <p:spPr>
          <a:xfrm>
            <a:off x="5436000" y="3330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principal. Aplats de marque, en-têtes, fonds pleins.</a:t>
            </a:r>
          </a:p>
        </p:txBody>
      </p:sp>
      <p:sp>
        <p:nvSpPr>
          <p:cNvPr id="21" name="Rectangle 20"/>
          <p:cNvSpPr/>
          <p:nvPr/>
        </p:nvSpPr>
        <p:spPr>
          <a:xfrm>
            <a:off x="9936000" y="2088000"/>
            <a:ext cx="4392000" cy="918720"/>
          </a:xfrm>
          <a:prstGeom prst="rect">
            <a:avLst/>
          </a:prstGeom>
          <a:solidFill>
            <a:srgbClr val="205E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936000" y="3006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44000" y="2754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#205E25</a:t>
            </a:r>
          </a:p>
        </p:txBody>
      </p:sp>
      <p:sp>
        <p:nvSpPr>
          <p:cNvPr id="24" name="TextBox 23"/>
          <p:cNvSpPr txBox="1"/>
          <p:nvPr/>
        </p:nvSpPr>
        <p:spPr>
          <a:xfrm>
            <a:off x="10044000" y="3114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--green-800</a:t>
            </a:r>
          </a:p>
        </p:txBody>
      </p:sp>
      <p:sp>
        <p:nvSpPr>
          <p:cNvPr id="25" name="TextBox 24"/>
          <p:cNvSpPr txBox="1"/>
          <p:nvPr/>
        </p:nvSpPr>
        <p:spPr>
          <a:xfrm>
            <a:off x="10044000" y="3330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de survol sur fond clair, second plan des dégradés.</a:t>
            </a:r>
          </a:p>
        </p:txBody>
      </p:sp>
      <p:sp>
        <p:nvSpPr>
          <p:cNvPr id="26" name="Rectangle 25"/>
          <p:cNvSpPr/>
          <p:nvPr/>
        </p:nvSpPr>
        <p:spPr>
          <a:xfrm>
            <a:off x="720000" y="4392000"/>
            <a:ext cx="4392000" cy="918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0000" y="5310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8000" y="5058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#2E7D32</a:t>
            </a:r>
          </a:p>
        </p:txBody>
      </p:sp>
      <p:sp>
        <p:nvSpPr>
          <p:cNvPr id="29" name="TextBox 28"/>
          <p:cNvSpPr txBox="1"/>
          <p:nvPr/>
        </p:nvSpPr>
        <p:spPr>
          <a:xfrm>
            <a:off x="828000" y="5418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--green-700</a:t>
            </a:r>
          </a:p>
        </p:txBody>
      </p:sp>
      <p:sp>
        <p:nvSpPr>
          <p:cNvPr id="30" name="TextBox 29"/>
          <p:cNvSpPr txBox="1"/>
          <p:nvPr/>
        </p:nvSpPr>
        <p:spPr>
          <a:xfrm>
            <a:off x="828000" y="5634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d'action. Boutons pleins, liens, icônes, surtitres.</a:t>
            </a:r>
          </a:p>
        </p:txBody>
      </p:sp>
      <p:sp>
        <p:nvSpPr>
          <p:cNvPr id="31" name="Rectangle 30"/>
          <p:cNvSpPr/>
          <p:nvPr/>
        </p:nvSpPr>
        <p:spPr>
          <a:xfrm>
            <a:off x="5328000" y="4392000"/>
            <a:ext cx="4392000" cy="918720"/>
          </a:xfrm>
          <a:prstGeom prst="rect">
            <a:avLst/>
          </a:prstGeom>
          <a:solidFill>
            <a:srgbClr val="388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328000" y="5310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36000" y="5058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#388E3C</a:t>
            </a:r>
          </a:p>
        </p:txBody>
      </p:sp>
      <p:sp>
        <p:nvSpPr>
          <p:cNvPr id="34" name="TextBox 33"/>
          <p:cNvSpPr txBox="1"/>
          <p:nvPr/>
        </p:nvSpPr>
        <p:spPr>
          <a:xfrm>
            <a:off x="5436000" y="5418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--green-600</a:t>
            </a:r>
          </a:p>
        </p:txBody>
      </p:sp>
      <p:sp>
        <p:nvSpPr>
          <p:cNvPr id="35" name="TextBox 34"/>
          <p:cNvSpPr txBox="1"/>
          <p:nvPr/>
        </p:nvSpPr>
        <p:spPr>
          <a:xfrm>
            <a:off x="5436000" y="5634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de survol du bouton vert, variantes d'illustration.</a:t>
            </a:r>
          </a:p>
        </p:txBody>
      </p:sp>
      <p:sp>
        <p:nvSpPr>
          <p:cNvPr id="36" name="Rectangle 35"/>
          <p:cNvSpPr/>
          <p:nvPr/>
        </p:nvSpPr>
        <p:spPr>
          <a:xfrm>
            <a:off x="9936000" y="4392000"/>
            <a:ext cx="4392000" cy="918720"/>
          </a:xfrm>
          <a:prstGeom prst="rect">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936000" y="5310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44000" y="5058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#4E9F3D</a:t>
            </a:r>
          </a:p>
        </p:txBody>
      </p:sp>
      <p:sp>
        <p:nvSpPr>
          <p:cNvPr id="39" name="TextBox 38"/>
          <p:cNvSpPr txBox="1"/>
          <p:nvPr/>
        </p:nvSpPr>
        <p:spPr>
          <a:xfrm>
            <a:off x="10044000" y="5418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--green-500</a:t>
            </a:r>
          </a:p>
        </p:txBody>
      </p:sp>
      <p:sp>
        <p:nvSpPr>
          <p:cNvPr id="40" name="TextBox 39"/>
          <p:cNvSpPr txBox="1"/>
          <p:nvPr/>
        </p:nvSpPr>
        <p:spPr>
          <a:xfrm>
            <a:off x="10044000" y="5634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lumineux. Lame centrale du symbole, accents graphiques.</a:t>
            </a:r>
          </a:p>
        </p:txBody>
      </p:sp>
      <p:sp>
        <p:nvSpPr>
          <p:cNvPr id="41" name="Rectangle 40"/>
          <p:cNvSpPr/>
          <p:nvPr/>
        </p:nvSpPr>
        <p:spPr>
          <a:xfrm>
            <a:off x="720000" y="6696000"/>
            <a:ext cx="4392000" cy="918720"/>
          </a:xfrm>
          <a:prstGeom prst="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20000" y="7614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8000" y="7362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#66BB6A</a:t>
            </a:r>
          </a:p>
        </p:txBody>
      </p:sp>
      <p:sp>
        <p:nvSpPr>
          <p:cNvPr id="44" name="TextBox 43"/>
          <p:cNvSpPr txBox="1"/>
          <p:nvPr/>
        </p:nvSpPr>
        <p:spPr>
          <a:xfrm>
            <a:off x="828000" y="7722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--green-400</a:t>
            </a:r>
          </a:p>
        </p:txBody>
      </p:sp>
      <p:sp>
        <p:nvSpPr>
          <p:cNvPr id="45" name="TextBox 44"/>
          <p:cNvSpPr txBox="1"/>
          <p:nvPr/>
        </p:nvSpPr>
        <p:spPr>
          <a:xfrm>
            <a:off x="828000" y="7938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Vert clair. Décor, illustrations, jamais de texte dessus.</a:t>
            </a:r>
          </a:p>
        </p:txBody>
      </p:sp>
      <p:sp>
        <p:nvSpPr>
          <p:cNvPr id="46" name="Rectangle 45"/>
          <p:cNvSpPr/>
          <p:nvPr/>
        </p:nvSpPr>
        <p:spPr>
          <a:xfrm>
            <a:off x="5328000" y="6696000"/>
            <a:ext cx="4392000" cy="918720"/>
          </a:xfrm>
          <a:prstGeom prst="rect">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5328000" y="7614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436000" y="7362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#E5F3E1</a:t>
            </a:r>
          </a:p>
        </p:txBody>
      </p:sp>
      <p:sp>
        <p:nvSpPr>
          <p:cNvPr id="49" name="TextBox 48"/>
          <p:cNvSpPr txBox="1"/>
          <p:nvPr/>
        </p:nvSpPr>
        <p:spPr>
          <a:xfrm>
            <a:off x="5436000" y="7722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--green-100</a:t>
            </a:r>
          </a:p>
        </p:txBody>
      </p:sp>
      <p:sp>
        <p:nvSpPr>
          <p:cNvPr id="50" name="TextBox 49"/>
          <p:cNvSpPr txBox="1"/>
          <p:nvPr/>
        </p:nvSpPr>
        <p:spPr>
          <a:xfrm>
            <a:off x="5436000" y="7938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Fond de pastille (surtitre), puces, états sélectionnés.</a:t>
            </a:r>
          </a:p>
        </p:txBody>
      </p:sp>
      <p:sp>
        <p:nvSpPr>
          <p:cNvPr id="51" name="Rectangle 50"/>
          <p:cNvSpPr/>
          <p:nvPr/>
        </p:nvSpPr>
        <p:spPr>
          <a:xfrm>
            <a:off x="9936000" y="6696000"/>
            <a:ext cx="4392000" cy="918720"/>
          </a:xfrm>
          <a:prstGeom prst="rect">
            <a:avLst/>
          </a:prstGeom>
          <a:solidFill>
            <a:srgbClr val="F4F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936000" y="7614720"/>
            <a:ext cx="4392000" cy="116928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044000" y="7362720"/>
            <a:ext cx="417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#F4F9F1</a:t>
            </a:r>
          </a:p>
        </p:txBody>
      </p:sp>
      <p:sp>
        <p:nvSpPr>
          <p:cNvPr id="54" name="TextBox 53"/>
          <p:cNvSpPr txBox="1"/>
          <p:nvPr/>
        </p:nvSpPr>
        <p:spPr>
          <a:xfrm>
            <a:off x="10044000" y="7722720"/>
            <a:ext cx="417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--green-50</a:t>
            </a:r>
          </a:p>
        </p:txBody>
      </p:sp>
      <p:sp>
        <p:nvSpPr>
          <p:cNvPr id="55" name="TextBox 54"/>
          <p:cNvSpPr txBox="1"/>
          <p:nvPr/>
        </p:nvSpPr>
        <p:spPr>
          <a:xfrm>
            <a:off x="10044000" y="7938720"/>
            <a:ext cx="4176000" cy="77328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Fond de section très clair, alternance de blocs.</a:t>
            </a:r>
          </a:p>
        </p:txBody>
      </p:sp>
      <p:sp>
        <p:nvSpPr>
          <p:cNvPr id="56" name="Rounded Rectangle 55"/>
          <p:cNvSpPr/>
          <p:nvPr/>
        </p:nvSpPr>
        <p:spPr>
          <a:xfrm>
            <a:off x="720000" y="8928000"/>
            <a:ext cx="4392000" cy="720000"/>
          </a:xfrm>
          <a:prstGeom prst="roundRect">
            <a:avLst>
              <a:gd name="adj" fmla="val 6000"/>
            </a:avLst>
          </a:prstGeom>
          <a:gradFill rotWithShape="1">
            <a:gsLst>
              <a:gs pos="0">
                <a:srgbClr val="1B5E20"/>
              </a:gs>
              <a:gs pos="100000">
                <a:srgbClr val="2E7D32"/>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00000" y="9288000"/>
            <a:ext cx="4032000" cy="252000"/>
          </a:xfrm>
          <a:prstGeom prst="rect">
            <a:avLst/>
          </a:prstGeom>
          <a:noFill/>
        </p:spPr>
        <p:txBody>
          <a:bodyPr wrap="square" anchor="t" lIns="0" rIns="0" tIns="0" bIns="0">
            <a:spAutoFit/>
          </a:bodyPr>
          <a:lstStyle/>
          <a:p>
            <a:pPr algn="l">
              <a:lnSpc>
                <a:spcPct val="135000"/>
              </a:lnSpc>
              <a:spcAft>
                <a:spcPts val="400"/>
              </a:spcAft>
            </a:pPr>
            <a:r>
              <a:rPr sz="850" b="0" i="0">
                <a:solidFill>
                  <a:srgbClr val="FFFFFF"/>
                </a:solidFill>
                <a:latin typeface="Poppins"/>
              </a:rPr>
              <a:t>green-900 → green-700 · Bande de chiffres</a:t>
            </a:r>
          </a:p>
        </p:txBody>
      </p:sp>
      <p:sp>
        <p:nvSpPr>
          <p:cNvPr id="58" name="Rounded Rectangle 57"/>
          <p:cNvSpPr/>
          <p:nvPr/>
        </p:nvSpPr>
        <p:spPr>
          <a:xfrm>
            <a:off x="5328000" y="8928000"/>
            <a:ext cx="4392000" cy="720000"/>
          </a:xfrm>
          <a:prstGeom prst="roundRect">
            <a:avLst>
              <a:gd name="adj" fmla="val 6000"/>
            </a:avLst>
          </a:prstGeom>
          <a:gradFill rotWithShape="1">
            <a:gsLst>
              <a:gs pos="0">
                <a:srgbClr val="1B5E20"/>
              </a:gs>
              <a:gs pos="100000">
                <a:srgbClr val="388E3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5508000" y="9288000"/>
            <a:ext cx="4032000" cy="252000"/>
          </a:xfrm>
          <a:prstGeom prst="rect">
            <a:avLst/>
          </a:prstGeom>
          <a:noFill/>
        </p:spPr>
        <p:txBody>
          <a:bodyPr wrap="square" anchor="t" lIns="0" rIns="0" tIns="0" bIns="0">
            <a:spAutoFit/>
          </a:bodyPr>
          <a:lstStyle/>
          <a:p>
            <a:pPr algn="l">
              <a:lnSpc>
                <a:spcPct val="135000"/>
              </a:lnSpc>
              <a:spcAft>
                <a:spcPts val="400"/>
              </a:spcAft>
            </a:pPr>
            <a:r>
              <a:rPr sz="850" b="0" i="0">
                <a:solidFill>
                  <a:srgbClr val="FFFFFF"/>
                </a:solidFill>
                <a:latin typeface="Poppins"/>
              </a:rPr>
              <a:t>green-900 → green-600 · Bandeau d'appel à l'action</a:t>
            </a:r>
          </a:p>
        </p:txBody>
      </p:sp>
      <p:sp>
        <p:nvSpPr>
          <p:cNvPr id="60" name="Rounded Rectangle 59"/>
          <p:cNvSpPr/>
          <p:nvPr/>
        </p:nvSpPr>
        <p:spPr>
          <a:xfrm>
            <a:off x="9936000" y="8928000"/>
            <a:ext cx="4392000" cy="720000"/>
          </a:xfrm>
          <a:prstGeom prst="roundRect">
            <a:avLst>
              <a:gd name="adj" fmla="val 6000"/>
            </a:avLst>
          </a:prstGeom>
          <a:gradFill rotWithShape="1">
            <a:gsLst>
              <a:gs pos="0">
                <a:srgbClr val="2E7D32"/>
              </a:gs>
              <a:gs pos="100000">
                <a:srgbClr val="4E9F3D"/>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116000" y="9288000"/>
            <a:ext cx="4032000" cy="252000"/>
          </a:xfrm>
          <a:prstGeom prst="rect">
            <a:avLst/>
          </a:prstGeom>
          <a:noFill/>
        </p:spPr>
        <p:txBody>
          <a:bodyPr wrap="square" anchor="t" lIns="0" rIns="0" tIns="0" bIns="0">
            <a:spAutoFit/>
          </a:bodyPr>
          <a:lstStyle/>
          <a:p>
            <a:pPr algn="l">
              <a:lnSpc>
                <a:spcPct val="135000"/>
              </a:lnSpc>
              <a:spcAft>
                <a:spcPts val="400"/>
              </a:spcAft>
            </a:pPr>
            <a:r>
              <a:rPr sz="850" b="0" i="0">
                <a:solidFill>
                  <a:srgbClr val="FFFFFF"/>
                </a:solidFill>
                <a:latin typeface="Poppins"/>
              </a:rPr>
              <a:t>green-700 → green-500 · Pictogramme de carte service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11</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Or et neutres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13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L'accent de terre</a:t>
            </a:r>
          </a:p>
        </p:txBody>
      </p:sp>
      <p:sp>
        <p:nvSpPr>
          <p:cNvPr id="11" name="TextBox 10"/>
          <p:cNvSpPr txBox="1"/>
          <p:nvPr/>
        </p:nvSpPr>
        <p:spPr>
          <a:xfrm>
            <a:off x="720000" y="1872000"/>
            <a:ext cx="6480000" cy="504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L'or vient de la terre et de la récolte. Il ponctue : sur une page, il ne dépasse pas un dixième de la surface colorée. Une seule action or par écran.</a:t>
            </a:r>
          </a:p>
        </p:txBody>
      </p:sp>
      <p:sp>
        <p:nvSpPr>
          <p:cNvPr id="12" name="Rectangle 11"/>
          <p:cNvSpPr/>
          <p:nvPr/>
        </p:nvSpPr>
        <p:spPr>
          <a:xfrm>
            <a:off x="720000" y="2520000"/>
            <a:ext cx="3132000" cy="855360"/>
          </a:xfrm>
          <a:prstGeom prst="rect">
            <a:avLst/>
          </a:prstGeom>
          <a:solidFill>
            <a:srgbClr val="9A6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20000" y="3375360"/>
            <a:ext cx="3132000" cy="108864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8000" y="3123360"/>
            <a:ext cx="291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#9A6412</a:t>
            </a:r>
          </a:p>
        </p:txBody>
      </p:sp>
      <p:sp>
        <p:nvSpPr>
          <p:cNvPr id="15" name="TextBox 14"/>
          <p:cNvSpPr txBox="1"/>
          <p:nvPr/>
        </p:nvSpPr>
        <p:spPr>
          <a:xfrm>
            <a:off x="828000" y="3483360"/>
            <a:ext cx="291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--gold-700</a:t>
            </a:r>
          </a:p>
        </p:txBody>
      </p:sp>
      <p:sp>
        <p:nvSpPr>
          <p:cNvPr id="16" name="TextBox 15"/>
          <p:cNvSpPr txBox="1"/>
          <p:nvPr/>
        </p:nvSpPr>
        <p:spPr>
          <a:xfrm>
            <a:off x="828000" y="3699360"/>
            <a:ext cx="2916000" cy="69264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Or lisible. Seule teinte or autorisée pour du texte sur fond clair (ajout du design system : l'or du site ne passait pas le seuil WCAG).</a:t>
            </a:r>
          </a:p>
        </p:txBody>
      </p:sp>
      <p:sp>
        <p:nvSpPr>
          <p:cNvPr id="17" name="Rectangle 16"/>
          <p:cNvSpPr/>
          <p:nvPr/>
        </p:nvSpPr>
        <p:spPr>
          <a:xfrm>
            <a:off x="4068000" y="2520000"/>
            <a:ext cx="3132000" cy="855360"/>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068000" y="3375360"/>
            <a:ext cx="3132000" cy="108864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176000" y="3123360"/>
            <a:ext cx="291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#C98A2B</a:t>
            </a:r>
          </a:p>
        </p:txBody>
      </p:sp>
      <p:sp>
        <p:nvSpPr>
          <p:cNvPr id="20" name="TextBox 19"/>
          <p:cNvSpPr txBox="1"/>
          <p:nvPr/>
        </p:nvSpPr>
        <p:spPr>
          <a:xfrm>
            <a:off x="4176000" y="3483360"/>
            <a:ext cx="291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--gold-600</a:t>
            </a:r>
          </a:p>
        </p:txBody>
      </p:sp>
      <p:sp>
        <p:nvSpPr>
          <p:cNvPr id="21" name="TextBox 20"/>
          <p:cNvSpPr txBox="1"/>
          <p:nvPr/>
        </p:nvSpPr>
        <p:spPr>
          <a:xfrm>
            <a:off x="4176000" y="3699360"/>
            <a:ext cx="2916000" cy="69264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Or profond, décoratif : filets épais, aplats, pictogrammes pleins. Jamais de texte ni de trait fin sur fond clair.</a:t>
            </a:r>
          </a:p>
        </p:txBody>
      </p:sp>
      <p:sp>
        <p:nvSpPr>
          <p:cNvPr id="22" name="Rectangle 21"/>
          <p:cNvSpPr/>
          <p:nvPr/>
        </p:nvSpPr>
        <p:spPr>
          <a:xfrm>
            <a:off x="720000" y="4680000"/>
            <a:ext cx="3132000" cy="855360"/>
          </a:xfrm>
          <a:prstGeom prst="rect">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0000" y="5535360"/>
            <a:ext cx="3132000" cy="108864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8000" y="5283360"/>
            <a:ext cx="291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#E0A83D</a:t>
            </a:r>
          </a:p>
        </p:txBody>
      </p:sp>
      <p:sp>
        <p:nvSpPr>
          <p:cNvPr id="25" name="TextBox 24"/>
          <p:cNvSpPr txBox="1"/>
          <p:nvPr/>
        </p:nvSpPr>
        <p:spPr>
          <a:xfrm>
            <a:off x="828000" y="5643360"/>
            <a:ext cx="291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--gold-500</a:t>
            </a:r>
          </a:p>
        </p:txBody>
      </p:sp>
      <p:sp>
        <p:nvSpPr>
          <p:cNvPr id="26" name="TextBox 25"/>
          <p:cNvSpPr txBox="1"/>
          <p:nvPr/>
        </p:nvSpPr>
        <p:spPr>
          <a:xfrm>
            <a:off x="828000" y="5859360"/>
            <a:ext cx="2916000" cy="69264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Or principal. Bouton d'appel à l'action, soulignements.</a:t>
            </a:r>
          </a:p>
        </p:txBody>
      </p:sp>
      <p:sp>
        <p:nvSpPr>
          <p:cNvPr id="27" name="Rectangle 26"/>
          <p:cNvSpPr/>
          <p:nvPr/>
        </p:nvSpPr>
        <p:spPr>
          <a:xfrm>
            <a:off x="4068000" y="4680000"/>
            <a:ext cx="3132000" cy="855360"/>
          </a:xfrm>
          <a:prstGeom prst="rect">
            <a:avLst/>
          </a:prstGeom>
          <a:solidFill>
            <a:srgbClr val="EAB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068000" y="5535360"/>
            <a:ext cx="3132000" cy="108864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176000" y="5283360"/>
            <a:ext cx="291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#EAB866</a:t>
            </a:r>
          </a:p>
        </p:txBody>
      </p:sp>
      <p:sp>
        <p:nvSpPr>
          <p:cNvPr id="30" name="TextBox 29"/>
          <p:cNvSpPr txBox="1"/>
          <p:nvPr/>
        </p:nvSpPr>
        <p:spPr>
          <a:xfrm>
            <a:off x="4176000" y="5643360"/>
            <a:ext cx="291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--gold-400</a:t>
            </a:r>
          </a:p>
        </p:txBody>
      </p:sp>
      <p:sp>
        <p:nvSpPr>
          <p:cNvPr id="31" name="TextBox 30"/>
          <p:cNvSpPr txBox="1"/>
          <p:nvPr/>
        </p:nvSpPr>
        <p:spPr>
          <a:xfrm>
            <a:off x="4176000" y="5859360"/>
            <a:ext cx="2916000" cy="69264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Or clair. Survol du bouton or, aplats décoratifs.</a:t>
            </a:r>
          </a:p>
        </p:txBody>
      </p:sp>
      <p:sp>
        <p:nvSpPr>
          <p:cNvPr id="32" name="TextBox 31"/>
          <p:cNvSpPr txBox="1"/>
          <p:nvPr/>
        </p:nvSpPr>
        <p:spPr>
          <a:xfrm>
            <a:off x="720000" y="7056000"/>
            <a:ext cx="6480000" cy="864000"/>
          </a:xfrm>
          <a:prstGeom prst="rect">
            <a:avLst/>
          </a:prstGeom>
          <a:noFill/>
        </p:spPr>
        <p:txBody>
          <a:bodyPr wrap="square" anchor="t" lIns="0" rIns="0" tIns="0" bIns="0">
            <a:spAutoFit/>
          </a:bodyPr>
          <a:lstStyle/>
          <a:p>
            <a:pPr algn="l">
              <a:lnSpc>
                <a:spcPct val="135000"/>
              </a:lnSpc>
              <a:spcAft>
                <a:spcPts val="400"/>
              </a:spcAft>
            </a:pPr>
            <a:r>
              <a:rPr sz="950" b="0" i="0">
                <a:solidFill>
                  <a:srgbClr val="5C665A"/>
                </a:solidFill>
                <a:latin typeface="Inter"/>
              </a:rPr>
              <a:t>gold-700 est un ajout de ce système. L'or du site (gold-600) ne donne que 2.94:1 sur blanc : il ne pouvait pas porter de texte. gold-700 (#9A6412) atteint 4.99:1 et reprend tous les usages textuels de l'or.</a:t>
            </a:r>
          </a:p>
        </p:txBody>
      </p:sp>
      <p:sp>
        <p:nvSpPr>
          <p:cNvPr id="33" name="TextBox 32"/>
          <p:cNvSpPr txBox="1"/>
          <p:nvPr/>
        </p:nvSpPr>
        <p:spPr>
          <a:xfrm>
            <a:off x="720000" y="806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Couleur de service</a:t>
            </a:r>
          </a:p>
        </p:txBody>
      </p:sp>
      <p:sp>
        <p:nvSpPr>
          <p:cNvPr id="34" name="Rectangle 33"/>
          <p:cNvSpPr/>
          <p:nvPr/>
        </p:nvSpPr>
        <p:spPr>
          <a:xfrm>
            <a:off x="720000" y="8496000"/>
            <a:ext cx="3132000" cy="728640"/>
          </a:xfrm>
          <a:prstGeom prst="rect">
            <a:avLst/>
          </a:prstGeom>
          <a:solidFill>
            <a:srgbClr val="25D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20000" y="9224640"/>
            <a:ext cx="3132000" cy="9273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8000" y="8972640"/>
            <a:ext cx="2916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#25D366</a:t>
            </a:r>
          </a:p>
        </p:txBody>
      </p:sp>
      <p:sp>
        <p:nvSpPr>
          <p:cNvPr id="37" name="TextBox 36"/>
          <p:cNvSpPr txBox="1"/>
          <p:nvPr/>
        </p:nvSpPr>
        <p:spPr>
          <a:xfrm>
            <a:off x="828000" y="9332640"/>
            <a:ext cx="2916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--whatsapp</a:t>
            </a:r>
          </a:p>
        </p:txBody>
      </p:sp>
      <p:sp>
        <p:nvSpPr>
          <p:cNvPr id="38" name="TextBox 37"/>
          <p:cNvSpPr txBox="1"/>
          <p:nvPr/>
        </p:nvSpPr>
        <p:spPr>
          <a:xfrm>
            <a:off x="828000" y="9548640"/>
            <a:ext cx="2916000" cy="5313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Couleur de service imposée par WhatsApp. Usage réservé au bouton WhatsApp.</a:t>
            </a:r>
          </a:p>
        </p:txBody>
      </p:sp>
      <p:sp>
        <p:nvSpPr>
          <p:cNvPr id="39" name="TextBox 38"/>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Encres et fonds</a:t>
            </a:r>
          </a:p>
        </p:txBody>
      </p:sp>
      <p:sp>
        <p:nvSpPr>
          <p:cNvPr id="40" name="Rectangle 39"/>
          <p:cNvSpPr/>
          <p:nvPr/>
        </p:nvSpPr>
        <p:spPr>
          <a:xfrm>
            <a:off x="8100000" y="1872000"/>
            <a:ext cx="3060000" cy="887040"/>
          </a:xfrm>
          <a:prstGeom prst="rect">
            <a:avLst/>
          </a:prstGeom>
          <a:solidFill>
            <a:srgbClr val="1A2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100000" y="2759040"/>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208000" y="2507040"/>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#1A2417</a:t>
            </a:r>
          </a:p>
        </p:txBody>
      </p:sp>
      <p:sp>
        <p:nvSpPr>
          <p:cNvPr id="43" name="TextBox 42"/>
          <p:cNvSpPr txBox="1"/>
          <p:nvPr/>
        </p:nvSpPr>
        <p:spPr>
          <a:xfrm>
            <a:off x="8208000" y="2867040"/>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--ink-900</a:t>
            </a:r>
          </a:p>
        </p:txBody>
      </p:sp>
      <p:sp>
        <p:nvSpPr>
          <p:cNvPr id="44" name="TextBox 43"/>
          <p:cNvSpPr txBox="1"/>
          <p:nvPr/>
        </p:nvSpPr>
        <p:spPr>
          <a:xfrm>
            <a:off x="8208000" y="3083040"/>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Texte courant sur fond clair.</a:t>
            </a:r>
          </a:p>
        </p:txBody>
      </p:sp>
      <p:sp>
        <p:nvSpPr>
          <p:cNvPr id="45" name="Rectangle 44"/>
          <p:cNvSpPr/>
          <p:nvPr/>
        </p:nvSpPr>
        <p:spPr>
          <a:xfrm>
            <a:off x="11376000" y="1872000"/>
            <a:ext cx="3060000" cy="887040"/>
          </a:xfrm>
          <a:prstGeom prst="rect">
            <a:avLst/>
          </a:prstGeom>
          <a:solidFill>
            <a:srgbClr val="36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1376000" y="2759040"/>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1484000" y="2507040"/>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FFFFFF"/>
                </a:solidFill>
                <a:latin typeface="Poppins"/>
              </a:rPr>
              <a:t>#364033</a:t>
            </a:r>
          </a:p>
        </p:txBody>
      </p:sp>
      <p:sp>
        <p:nvSpPr>
          <p:cNvPr id="48" name="TextBox 47"/>
          <p:cNvSpPr txBox="1"/>
          <p:nvPr/>
        </p:nvSpPr>
        <p:spPr>
          <a:xfrm>
            <a:off x="11484000" y="2867040"/>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--ink-700</a:t>
            </a:r>
          </a:p>
        </p:txBody>
      </p:sp>
      <p:sp>
        <p:nvSpPr>
          <p:cNvPr id="49" name="TextBox 48"/>
          <p:cNvSpPr txBox="1"/>
          <p:nvPr/>
        </p:nvSpPr>
        <p:spPr>
          <a:xfrm>
            <a:off x="11484000" y="3083040"/>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Texte de paragraphe, descriptions.</a:t>
            </a:r>
          </a:p>
        </p:txBody>
      </p:sp>
      <p:sp>
        <p:nvSpPr>
          <p:cNvPr id="50" name="Rectangle 49"/>
          <p:cNvSpPr/>
          <p:nvPr/>
        </p:nvSpPr>
        <p:spPr>
          <a:xfrm>
            <a:off x="8100000" y="4104000"/>
            <a:ext cx="3060000" cy="887040"/>
          </a:xfrm>
          <a:prstGeom prst="rect">
            <a:avLst/>
          </a:prstGeom>
          <a:solidFill>
            <a:srgbClr val="5C6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8100000" y="4991039"/>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208000" y="4739039"/>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#5C665A</a:t>
            </a:r>
          </a:p>
        </p:txBody>
      </p:sp>
      <p:sp>
        <p:nvSpPr>
          <p:cNvPr id="53" name="TextBox 52"/>
          <p:cNvSpPr txBox="1"/>
          <p:nvPr/>
        </p:nvSpPr>
        <p:spPr>
          <a:xfrm>
            <a:off x="8208000" y="5099039"/>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--ink-500</a:t>
            </a:r>
          </a:p>
        </p:txBody>
      </p:sp>
      <p:sp>
        <p:nvSpPr>
          <p:cNvPr id="54" name="TextBox 53"/>
          <p:cNvSpPr txBox="1"/>
          <p:nvPr/>
        </p:nvSpPr>
        <p:spPr>
          <a:xfrm>
            <a:off x="8208000" y="5315039"/>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Texte secondaire, légendes, mentions.</a:t>
            </a:r>
          </a:p>
        </p:txBody>
      </p:sp>
      <p:sp>
        <p:nvSpPr>
          <p:cNvPr id="55" name="Rectangle 54"/>
          <p:cNvSpPr/>
          <p:nvPr/>
        </p:nvSpPr>
        <p:spPr>
          <a:xfrm>
            <a:off x="11376000" y="4104000"/>
            <a:ext cx="3060000" cy="887040"/>
          </a:xfrm>
          <a:prstGeom prst="rect">
            <a:avLst/>
          </a:prstGeom>
          <a:solidFill>
            <a:srgbClr val="8A9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1376000" y="4991039"/>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1484000" y="4739039"/>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#8A938890</a:t>
            </a:r>
          </a:p>
        </p:txBody>
      </p:sp>
      <p:sp>
        <p:nvSpPr>
          <p:cNvPr id="58" name="TextBox 57"/>
          <p:cNvSpPr txBox="1"/>
          <p:nvPr/>
        </p:nvSpPr>
        <p:spPr>
          <a:xfrm>
            <a:off x="11484000" y="5099039"/>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--ink-300</a:t>
            </a:r>
          </a:p>
        </p:txBody>
      </p:sp>
      <p:sp>
        <p:nvSpPr>
          <p:cNvPr id="59" name="TextBox 58"/>
          <p:cNvSpPr txBox="1"/>
          <p:nvPr/>
        </p:nvSpPr>
        <p:spPr>
          <a:xfrm>
            <a:off x="11484000" y="5315039"/>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Texte désactivé et séparateurs discrets (déjà semi-transparent).</a:t>
            </a:r>
          </a:p>
        </p:txBody>
      </p:sp>
      <p:sp>
        <p:nvSpPr>
          <p:cNvPr id="60" name="Rectangle 59"/>
          <p:cNvSpPr/>
          <p:nvPr/>
        </p:nvSpPr>
        <p:spPr>
          <a:xfrm>
            <a:off x="8100000" y="6336000"/>
            <a:ext cx="3060000" cy="887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8100000" y="7223039"/>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208000" y="6971039"/>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#FFFFFF</a:t>
            </a:r>
          </a:p>
        </p:txBody>
      </p:sp>
      <p:sp>
        <p:nvSpPr>
          <p:cNvPr id="63" name="TextBox 62"/>
          <p:cNvSpPr txBox="1"/>
          <p:nvPr/>
        </p:nvSpPr>
        <p:spPr>
          <a:xfrm>
            <a:off x="8208000" y="7331039"/>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--white</a:t>
            </a:r>
          </a:p>
        </p:txBody>
      </p:sp>
      <p:sp>
        <p:nvSpPr>
          <p:cNvPr id="64" name="TextBox 63"/>
          <p:cNvSpPr txBox="1"/>
          <p:nvPr/>
        </p:nvSpPr>
        <p:spPr>
          <a:xfrm>
            <a:off x="8208000" y="7547039"/>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Fond de base, texte sur aplats verts.</a:t>
            </a:r>
          </a:p>
        </p:txBody>
      </p:sp>
      <p:sp>
        <p:nvSpPr>
          <p:cNvPr id="65" name="Rectangle 64"/>
          <p:cNvSpPr/>
          <p:nvPr/>
        </p:nvSpPr>
        <p:spPr>
          <a:xfrm>
            <a:off x="11376000" y="6336000"/>
            <a:ext cx="3060000" cy="88704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1376000" y="7223039"/>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1484000" y="6971039"/>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#F7FAF5</a:t>
            </a:r>
          </a:p>
        </p:txBody>
      </p:sp>
      <p:sp>
        <p:nvSpPr>
          <p:cNvPr id="68" name="TextBox 67"/>
          <p:cNvSpPr txBox="1"/>
          <p:nvPr/>
        </p:nvSpPr>
        <p:spPr>
          <a:xfrm>
            <a:off x="11484000" y="7331039"/>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--bg-soft</a:t>
            </a:r>
          </a:p>
        </p:txBody>
      </p:sp>
      <p:sp>
        <p:nvSpPr>
          <p:cNvPr id="69" name="TextBox 68"/>
          <p:cNvSpPr txBox="1"/>
          <p:nvPr/>
        </p:nvSpPr>
        <p:spPr>
          <a:xfrm>
            <a:off x="11484000" y="7547039"/>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Fond de section alterné, très légèrement teinté de vert.</a:t>
            </a:r>
          </a:p>
        </p:txBody>
      </p:sp>
      <p:sp>
        <p:nvSpPr>
          <p:cNvPr id="70" name="Rectangle 69"/>
          <p:cNvSpPr/>
          <p:nvPr/>
        </p:nvSpPr>
        <p:spPr>
          <a:xfrm>
            <a:off x="8100000" y="8568000"/>
            <a:ext cx="3060000" cy="88704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8100000" y="9455040"/>
            <a:ext cx="3060000" cy="112896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208000" y="9203040"/>
            <a:ext cx="2844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#E3EBE0</a:t>
            </a:r>
          </a:p>
        </p:txBody>
      </p:sp>
      <p:sp>
        <p:nvSpPr>
          <p:cNvPr id="73" name="TextBox 72"/>
          <p:cNvSpPr txBox="1"/>
          <p:nvPr/>
        </p:nvSpPr>
        <p:spPr>
          <a:xfrm>
            <a:off x="8208000" y="9563040"/>
            <a:ext cx="2844000" cy="180000"/>
          </a:xfrm>
          <a:prstGeom prst="rect">
            <a:avLst/>
          </a:prstGeom>
          <a:noFill/>
        </p:spPr>
        <p:txBody>
          <a:bodyPr wrap="square" anchor="t" lIns="0" rIns="0" tIns="0" bIns="0">
            <a:spAutoFit/>
          </a:bodyPr>
          <a:lstStyle/>
          <a:p>
            <a:pPr algn="l">
              <a:lnSpc>
                <a:spcPct val="135000"/>
              </a:lnSpc>
              <a:spcAft>
                <a:spcPts val="400"/>
              </a:spcAft>
            </a:pPr>
            <a:r>
              <a:rPr sz="850" b="1" i="0">
                <a:solidFill>
                  <a:srgbClr val="0F3D17"/>
                </a:solidFill>
                <a:latin typeface="Poppins"/>
              </a:rPr>
              <a:t>--border-soft</a:t>
            </a:r>
          </a:p>
        </p:txBody>
      </p:sp>
      <p:sp>
        <p:nvSpPr>
          <p:cNvPr id="74" name="TextBox 73"/>
          <p:cNvSpPr txBox="1"/>
          <p:nvPr/>
        </p:nvSpPr>
        <p:spPr>
          <a:xfrm>
            <a:off x="8208000" y="9779040"/>
            <a:ext cx="2844000" cy="73296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Bordure de carte, séparateurs, contours de champ.</a:t>
            </a:r>
          </a:p>
        </p:txBody>
      </p:sp>
      <p:sp>
        <p:nvSpPr>
          <p:cNvPr id="75" name="TextBox 74"/>
          <p:cNvSpPr txBox="1"/>
          <p:nvPr/>
        </p:nvSpPr>
        <p:spPr>
          <a:xfrm>
            <a:off x="8100000" y="9072000"/>
            <a:ext cx="6300000" cy="648000"/>
          </a:xfrm>
          <a:prstGeom prst="rect">
            <a:avLst/>
          </a:prstGeom>
          <a:noFill/>
        </p:spPr>
        <p:txBody>
          <a:bodyPr wrap="square" anchor="t" lIns="0" rIns="0" tIns="0" bIns="0">
            <a:spAutoFit/>
          </a:bodyPr>
          <a:lstStyle/>
          <a:p>
            <a:pPr algn="l">
              <a:lnSpc>
                <a:spcPct val="135000"/>
              </a:lnSpc>
              <a:spcAft>
                <a:spcPts val="400"/>
              </a:spcAft>
            </a:pPr>
            <a:r>
              <a:rPr sz="950" b="0" i="0">
                <a:solidFill>
                  <a:srgbClr val="5C665A"/>
                </a:solidFill>
                <a:latin typeface="Inter"/>
              </a:rPr>
              <a:t>ink-300 est déjà semi-transparent dans la source du site (#8A938890, soit 56 % d'opacité) : c'est volontaire, il sert aux séparateurs et au texte désactivé, jamais au texte lu.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12</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Répartition et contrastes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14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Les 19 paires validées</a:t>
            </a:r>
          </a:p>
        </p:txBody>
      </p:sp>
      <p:sp>
        <p:nvSpPr>
          <p:cNvPr id="11" name="Rectangle 10"/>
          <p:cNvSpPr/>
          <p:nvPr/>
        </p:nvSpPr>
        <p:spPr>
          <a:xfrm>
            <a:off x="720000" y="1872000"/>
            <a:ext cx="6984000" cy="324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2000" y="1962000"/>
            <a:ext cx="2880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ASSOCIATION</a:t>
            </a:r>
          </a:p>
        </p:txBody>
      </p:sp>
      <p:sp>
        <p:nvSpPr>
          <p:cNvPr id="13" name="TextBox 12"/>
          <p:cNvSpPr txBox="1"/>
          <p:nvPr/>
        </p:nvSpPr>
        <p:spPr>
          <a:xfrm>
            <a:off x="3816000" y="1962000"/>
            <a:ext cx="93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TEXTE</a:t>
            </a:r>
          </a:p>
        </p:txBody>
      </p:sp>
      <p:sp>
        <p:nvSpPr>
          <p:cNvPr id="14" name="TextBox 13"/>
          <p:cNvSpPr txBox="1"/>
          <p:nvPr/>
        </p:nvSpPr>
        <p:spPr>
          <a:xfrm>
            <a:off x="4896000" y="1962000"/>
            <a:ext cx="93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FOND</a:t>
            </a:r>
          </a:p>
        </p:txBody>
      </p:sp>
      <p:sp>
        <p:nvSpPr>
          <p:cNvPr id="15" name="TextBox 14"/>
          <p:cNvSpPr txBox="1"/>
          <p:nvPr/>
        </p:nvSpPr>
        <p:spPr>
          <a:xfrm>
            <a:off x="5976000" y="1962000"/>
            <a:ext cx="57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RATIO</a:t>
            </a:r>
          </a:p>
        </p:txBody>
      </p:sp>
      <p:sp>
        <p:nvSpPr>
          <p:cNvPr id="16" name="TextBox 15"/>
          <p:cNvSpPr txBox="1"/>
          <p:nvPr/>
        </p:nvSpPr>
        <p:spPr>
          <a:xfrm>
            <a:off x="6696000" y="1962000"/>
            <a:ext cx="93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NIVEAU</a:t>
            </a:r>
          </a:p>
        </p:txBody>
      </p:sp>
      <p:sp>
        <p:nvSpPr>
          <p:cNvPr id="17" name="Rectangle 16"/>
          <p:cNvSpPr/>
          <p:nvPr/>
        </p:nvSpPr>
        <p:spPr>
          <a:xfrm>
            <a:off x="720000" y="21960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2000" y="22896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Texte courant sur fond blanc</a:t>
            </a:r>
          </a:p>
        </p:txBody>
      </p:sp>
      <p:sp>
        <p:nvSpPr>
          <p:cNvPr id="19" name="TextBox 18"/>
          <p:cNvSpPr txBox="1"/>
          <p:nvPr/>
        </p:nvSpPr>
        <p:spPr>
          <a:xfrm>
            <a:off x="3816000" y="2289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ink-900</a:t>
            </a:r>
          </a:p>
        </p:txBody>
      </p:sp>
      <p:sp>
        <p:nvSpPr>
          <p:cNvPr id="20" name="TextBox 19"/>
          <p:cNvSpPr txBox="1"/>
          <p:nvPr/>
        </p:nvSpPr>
        <p:spPr>
          <a:xfrm>
            <a:off x="4896000" y="2289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21" name="TextBox 20"/>
          <p:cNvSpPr txBox="1"/>
          <p:nvPr/>
        </p:nvSpPr>
        <p:spPr>
          <a:xfrm>
            <a:off x="5976000" y="22896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16.05:1</a:t>
            </a:r>
          </a:p>
        </p:txBody>
      </p:sp>
      <p:sp>
        <p:nvSpPr>
          <p:cNvPr id="22" name="TextBox 21"/>
          <p:cNvSpPr txBox="1"/>
          <p:nvPr/>
        </p:nvSpPr>
        <p:spPr>
          <a:xfrm>
            <a:off x="6696000" y="2289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23" name="TextBox 22"/>
          <p:cNvSpPr txBox="1"/>
          <p:nvPr/>
        </p:nvSpPr>
        <p:spPr>
          <a:xfrm>
            <a:off x="792000" y="26640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Paragraphe sur fond blanc</a:t>
            </a:r>
          </a:p>
        </p:txBody>
      </p:sp>
      <p:sp>
        <p:nvSpPr>
          <p:cNvPr id="24" name="TextBox 23"/>
          <p:cNvSpPr txBox="1"/>
          <p:nvPr/>
        </p:nvSpPr>
        <p:spPr>
          <a:xfrm>
            <a:off x="3816000" y="2664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ink-700</a:t>
            </a:r>
          </a:p>
        </p:txBody>
      </p:sp>
      <p:sp>
        <p:nvSpPr>
          <p:cNvPr id="25" name="TextBox 24"/>
          <p:cNvSpPr txBox="1"/>
          <p:nvPr/>
        </p:nvSpPr>
        <p:spPr>
          <a:xfrm>
            <a:off x="4896000" y="2664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26" name="TextBox 25"/>
          <p:cNvSpPr txBox="1"/>
          <p:nvPr/>
        </p:nvSpPr>
        <p:spPr>
          <a:xfrm>
            <a:off x="5976000" y="26640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10.84:1</a:t>
            </a:r>
          </a:p>
        </p:txBody>
      </p:sp>
      <p:sp>
        <p:nvSpPr>
          <p:cNvPr id="27" name="TextBox 26"/>
          <p:cNvSpPr txBox="1"/>
          <p:nvPr/>
        </p:nvSpPr>
        <p:spPr>
          <a:xfrm>
            <a:off x="6696000" y="2664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28" name="Rectangle 27"/>
          <p:cNvSpPr/>
          <p:nvPr/>
        </p:nvSpPr>
        <p:spPr>
          <a:xfrm>
            <a:off x="720000" y="29448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2000" y="3038399"/>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Texte secondaire sur fond blanc</a:t>
            </a:r>
          </a:p>
        </p:txBody>
      </p:sp>
      <p:sp>
        <p:nvSpPr>
          <p:cNvPr id="30" name="TextBox 29"/>
          <p:cNvSpPr txBox="1"/>
          <p:nvPr/>
        </p:nvSpPr>
        <p:spPr>
          <a:xfrm>
            <a:off x="3816000" y="30383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ink-500</a:t>
            </a:r>
          </a:p>
        </p:txBody>
      </p:sp>
      <p:sp>
        <p:nvSpPr>
          <p:cNvPr id="31" name="TextBox 30"/>
          <p:cNvSpPr txBox="1"/>
          <p:nvPr/>
        </p:nvSpPr>
        <p:spPr>
          <a:xfrm>
            <a:off x="4896000" y="30383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32" name="TextBox 31"/>
          <p:cNvSpPr txBox="1"/>
          <p:nvPr/>
        </p:nvSpPr>
        <p:spPr>
          <a:xfrm>
            <a:off x="5976000" y="3038399"/>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5.99:1</a:t>
            </a:r>
          </a:p>
        </p:txBody>
      </p:sp>
      <p:sp>
        <p:nvSpPr>
          <p:cNvPr id="33" name="TextBox 32"/>
          <p:cNvSpPr txBox="1"/>
          <p:nvPr/>
        </p:nvSpPr>
        <p:spPr>
          <a:xfrm>
            <a:off x="6696000" y="30383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34" name="TextBox 33"/>
          <p:cNvSpPr txBox="1"/>
          <p:nvPr/>
        </p:nvSpPr>
        <p:spPr>
          <a:xfrm>
            <a:off x="792000" y="34128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Paragraphe sur fond doux</a:t>
            </a:r>
          </a:p>
        </p:txBody>
      </p:sp>
      <p:sp>
        <p:nvSpPr>
          <p:cNvPr id="35" name="TextBox 34"/>
          <p:cNvSpPr txBox="1"/>
          <p:nvPr/>
        </p:nvSpPr>
        <p:spPr>
          <a:xfrm>
            <a:off x="3816000" y="3412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ink-700</a:t>
            </a:r>
          </a:p>
        </p:txBody>
      </p:sp>
      <p:sp>
        <p:nvSpPr>
          <p:cNvPr id="36" name="TextBox 35"/>
          <p:cNvSpPr txBox="1"/>
          <p:nvPr/>
        </p:nvSpPr>
        <p:spPr>
          <a:xfrm>
            <a:off x="4896000" y="3412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bg-soft</a:t>
            </a:r>
          </a:p>
        </p:txBody>
      </p:sp>
      <p:sp>
        <p:nvSpPr>
          <p:cNvPr id="37" name="TextBox 36"/>
          <p:cNvSpPr txBox="1"/>
          <p:nvPr/>
        </p:nvSpPr>
        <p:spPr>
          <a:xfrm>
            <a:off x="5976000" y="34128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10.29:1</a:t>
            </a:r>
          </a:p>
        </p:txBody>
      </p:sp>
      <p:sp>
        <p:nvSpPr>
          <p:cNvPr id="38" name="TextBox 37"/>
          <p:cNvSpPr txBox="1"/>
          <p:nvPr/>
        </p:nvSpPr>
        <p:spPr>
          <a:xfrm>
            <a:off x="6696000" y="3412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39" name="Rectangle 38"/>
          <p:cNvSpPr/>
          <p:nvPr/>
        </p:nvSpPr>
        <p:spPr>
          <a:xfrm>
            <a:off x="720000" y="36936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92000" y="3787199"/>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Titre sur fond blanc</a:t>
            </a:r>
          </a:p>
        </p:txBody>
      </p:sp>
      <p:sp>
        <p:nvSpPr>
          <p:cNvPr id="41" name="TextBox 40"/>
          <p:cNvSpPr txBox="1"/>
          <p:nvPr/>
        </p:nvSpPr>
        <p:spPr>
          <a:xfrm>
            <a:off x="3816000" y="37871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42" name="TextBox 41"/>
          <p:cNvSpPr txBox="1"/>
          <p:nvPr/>
        </p:nvSpPr>
        <p:spPr>
          <a:xfrm>
            <a:off x="4896000" y="37871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43" name="TextBox 42"/>
          <p:cNvSpPr txBox="1"/>
          <p:nvPr/>
        </p:nvSpPr>
        <p:spPr>
          <a:xfrm>
            <a:off x="5976000" y="3787199"/>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12.35:1</a:t>
            </a:r>
          </a:p>
        </p:txBody>
      </p:sp>
      <p:sp>
        <p:nvSpPr>
          <p:cNvPr id="44" name="TextBox 43"/>
          <p:cNvSpPr txBox="1"/>
          <p:nvPr/>
        </p:nvSpPr>
        <p:spPr>
          <a:xfrm>
            <a:off x="6696000" y="37871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45" name="TextBox 44"/>
          <p:cNvSpPr txBox="1"/>
          <p:nvPr/>
        </p:nvSpPr>
        <p:spPr>
          <a:xfrm>
            <a:off x="792000" y="41616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Titre sur fond doux</a:t>
            </a:r>
          </a:p>
        </p:txBody>
      </p:sp>
      <p:sp>
        <p:nvSpPr>
          <p:cNvPr id="46" name="TextBox 45"/>
          <p:cNvSpPr txBox="1"/>
          <p:nvPr/>
        </p:nvSpPr>
        <p:spPr>
          <a:xfrm>
            <a:off x="3816000" y="4161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47" name="TextBox 46"/>
          <p:cNvSpPr txBox="1"/>
          <p:nvPr/>
        </p:nvSpPr>
        <p:spPr>
          <a:xfrm>
            <a:off x="4896000" y="4161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bg-soft</a:t>
            </a:r>
          </a:p>
        </p:txBody>
      </p:sp>
      <p:sp>
        <p:nvSpPr>
          <p:cNvPr id="48" name="TextBox 47"/>
          <p:cNvSpPr txBox="1"/>
          <p:nvPr/>
        </p:nvSpPr>
        <p:spPr>
          <a:xfrm>
            <a:off x="5976000" y="41616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11.73:1</a:t>
            </a:r>
          </a:p>
        </p:txBody>
      </p:sp>
      <p:sp>
        <p:nvSpPr>
          <p:cNvPr id="49" name="TextBox 48"/>
          <p:cNvSpPr txBox="1"/>
          <p:nvPr/>
        </p:nvSpPr>
        <p:spPr>
          <a:xfrm>
            <a:off x="6696000" y="4161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50" name="Rectangle 49"/>
          <p:cNvSpPr/>
          <p:nvPr/>
        </p:nvSpPr>
        <p:spPr>
          <a:xfrm>
            <a:off x="720000" y="44424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92000" y="45360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Lien et bouton vert sur blanc</a:t>
            </a:r>
          </a:p>
        </p:txBody>
      </p:sp>
      <p:sp>
        <p:nvSpPr>
          <p:cNvPr id="52" name="TextBox 51"/>
          <p:cNvSpPr txBox="1"/>
          <p:nvPr/>
        </p:nvSpPr>
        <p:spPr>
          <a:xfrm>
            <a:off x="3816000" y="4536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green-700</a:t>
            </a:r>
          </a:p>
        </p:txBody>
      </p:sp>
      <p:sp>
        <p:nvSpPr>
          <p:cNvPr id="53" name="TextBox 52"/>
          <p:cNvSpPr txBox="1"/>
          <p:nvPr/>
        </p:nvSpPr>
        <p:spPr>
          <a:xfrm>
            <a:off x="4896000" y="4536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54" name="TextBox 53"/>
          <p:cNvSpPr txBox="1"/>
          <p:nvPr/>
        </p:nvSpPr>
        <p:spPr>
          <a:xfrm>
            <a:off x="5976000" y="45360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5.13:1</a:t>
            </a:r>
          </a:p>
        </p:txBody>
      </p:sp>
      <p:sp>
        <p:nvSpPr>
          <p:cNvPr id="55" name="TextBox 54"/>
          <p:cNvSpPr txBox="1"/>
          <p:nvPr/>
        </p:nvSpPr>
        <p:spPr>
          <a:xfrm>
            <a:off x="6696000" y="4536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56" name="TextBox 55"/>
          <p:cNvSpPr txBox="1"/>
          <p:nvPr/>
        </p:nvSpPr>
        <p:spPr>
          <a:xfrm>
            <a:off x="792000" y="49104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Surtitre vert sur pastille claire</a:t>
            </a:r>
          </a:p>
        </p:txBody>
      </p:sp>
      <p:sp>
        <p:nvSpPr>
          <p:cNvPr id="57" name="TextBox 56"/>
          <p:cNvSpPr txBox="1"/>
          <p:nvPr/>
        </p:nvSpPr>
        <p:spPr>
          <a:xfrm>
            <a:off x="3816000" y="4910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green-900</a:t>
            </a:r>
          </a:p>
        </p:txBody>
      </p:sp>
      <p:sp>
        <p:nvSpPr>
          <p:cNvPr id="58" name="TextBox 57"/>
          <p:cNvSpPr txBox="1"/>
          <p:nvPr/>
        </p:nvSpPr>
        <p:spPr>
          <a:xfrm>
            <a:off x="4896000" y="4910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green-100</a:t>
            </a:r>
          </a:p>
        </p:txBody>
      </p:sp>
      <p:sp>
        <p:nvSpPr>
          <p:cNvPr id="59" name="TextBox 58"/>
          <p:cNvSpPr txBox="1"/>
          <p:nvPr/>
        </p:nvSpPr>
        <p:spPr>
          <a:xfrm>
            <a:off x="5976000" y="49104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6.83:1</a:t>
            </a:r>
          </a:p>
        </p:txBody>
      </p:sp>
      <p:sp>
        <p:nvSpPr>
          <p:cNvPr id="60" name="TextBox 59"/>
          <p:cNvSpPr txBox="1"/>
          <p:nvPr/>
        </p:nvSpPr>
        <p:spPr>
          <a:xfrm>
            <a:off x="6696000" y="4910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61" name="Rectangle 60"/>
          <p:cNvSpPr/>
          <p:nvPr/>
        </p:nvSpPr>
        <p:spPr>
          <a:xfrm>
            <a:off x="720000" y="51912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2000" y="5284799"/>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Blanc sur vert principal</a:t>
            </a:r>
          </a:p>
        </p:txBody>
      </p:sp>
      <p:sp>
        <p:nvSpPr>
          <p:cNvPr id="63" name="TextBox 62"/>
          <p:cNvSpPr txBox="1"/>
          <p:nvPr/>
        </p:nvSpPr>
        <p:spPr>
          <a:xfrm>
            <a:off x="3816000" y="52847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64" name="TextBox 63"/>
          <p:cNvSpPr txBox="1"/>
          <p:nvPr/>
        </p:nvSpPr>
        <p:spPr>
          <a:xfrm>
            <a:off x="4896000" y="52847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green-900</a:t>
            </a:r>
          </a:p>
        </p:txBody>
      </p:sp>
      <p:sp>
        <p:nvSpPr>
          <p:cNvPr id="65" name="TextBox 64"/>
          <p:cNvSpPr txBox="1"/>
          <p:nvPr/>
        </p:nvSpPr>
        <p:spPr>
          <a:xfrm>
            <a:off x="5976000" y="5284799"/>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7.87:1</a:t>
            </a:r>
          </a:p>
        </p:txBody>
      </p:sp>
      <p:sp>
        <p:nvSpPr>
          <p:cNvPr id="66" name="TextBox 65"/>
          <p:cNvSpPr txBox="1"/>
          <p:nvPr/>
        </p:nvSpPr>
        <p:spPr>
          <a:xfrm>
            <a:off x="6696000" y="5284799"/>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67" name="TextBox 66"/>
          <p:cNvSpPr txBox="1"/>
          <p:nvPr/>
        </p:nvSpPr>
        <p:spPr>
          <a:xfrm>
            <a:off x="792000" y="56592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Blanc sur vert d'action</a:t>
            </a:r>
          </a:p>
        </p:txBody>
      </p:sp>
      <p:sp>
        <p:nvSpPr>
          <p:cNvPr id="68" name="TextBox 67"/>
          <p:cNvSpPr txBox="1"/>
          <p:nvPr/>
        </p:nvSpPr>
        <p:spPr>
          <a:xfrm>
            <a:off x="3816000" y="5659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69" name="TextBox 68"/>
          <p:cNvSpPr txBox="1"/>
          <p:nvPr/>
        </p:nvSpPr>
        <p:spPr>
          <a:xfrm>
            <a:off x="4896000" y="5659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green-700</a:t>
            </a:r>
          </a:p>
        </p:txBody>
      </p:sp>
      <p:sp>
        <p:nvSpPr>
          <p:cNvPr id="70" name="TextBox 69"/>
          <p:cNvSpPr txBox="1"/>
          <p:nvPr/>
        </p:nvSpPr>
        <p:spPr>
          <a:xfrm>
            <a:off x="5976000" y="56592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5.13:1</a:t>
            </a:r>
          </a:p>
        </p:txBody>
      </p:sp>
      <p:sp>
        <p:nvSpPr>
          <p:cNvPr id="71" name="TextBox 70"/>
          <p:cNvSpPr txBox="1"/>
          <p:nvPr/>
        </p:nvSpPr>
        <p:spPr>
          <a:xfrm>
            <a:off x="6696000" y="5659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72" name="Rectangle 71"/>
          <p:cNvSpPr/>
          <p:nvPr/>
        </p:nvSpPr>
        <p:spPr>
          <a:xfrm>
            <a:off x="720000" y="59400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92000" y="60336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Blanc sur encre de marque</a:t>
            </a:r>
          </a:p>
        </p:txBody>
      </p:sp>
      <p:sp>
        <p:nvSpPr>
          <p:cNvPr id="74" name="TextBox 73"/>
          <p:cNvSpPr txBox="1"/>
          <p:nvPr/>
        </p:nvSpPr>
        <p:spPr>
          <a:xfrm>
            <a:off x="3816000" y="6033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75" name="TextBox 74"/>
          <p:cNvSpPr txBox="1"/>
          <p:nvPr/>
        </p:nvSpPr>
        <p:spPr>
          <a:xfrm>
            <a:off x="4896000" y="6033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76" name="TextBox 75"/>
          <p:cNvSpPr txBox="1"/>
          <p:nvPr/>
        </p:nvSpPr>
        <p:spPr>
          <a:xfrm>
            <a:off x="5976000" y="60336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12.35:1</a:t>
            </a:r>
          </a:p>
        </p:txBody>
      </p:sp>
      <p:sp>
        <p:nvSpPr>
          <p:cNvPr id="77" name="TextBox 76"/>
          <p:cNvSpPr txBox="1"/>
          <p:nvPr/>
        </p:nvSpPr>
        <p:spPr>
          <a:xfrm>
            <a:off x="6696000" y="6033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78" name="TextBox 77"/>
          <p:cNvSpPr txBox="1"/>
          <p:nvPr/>
        </p:nvSpPr>
        <p:spPr>
          <a:xfrm>
            <a:off x="792000" y="64080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Texte du bouton or</a:t>
            </a:r>
          </a:p>
        </p:txBody>
      </p:sp>
      <p:sp>
        <p:nvSpPr>
          <p:cNvPr id="79" name="TextBox 78"/>
          <p:cNvSpPr txBox="1"/>
          <p:nvPr/>
        </p:nvSpPr>
        <p:spPr>
          <a:xfrm>
            <a:off x="3816000" y="6408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80" name="TextBox 79"/>
          <p:cNvSpPr txBox="1"/>
          <p:nvPr/>
        </p:nvSpPr>
        <p:spPr>
          <a:xfrm>
            <a:off x="4896000" y="6408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gold-500</a:t>
            </a:r>
          </a:p>
        </p:txBody>
      </p:sp>
      <p:sp>
        <p:nvSpPr>
          <p:cNvPr id="81" name="TextBox 80"/>
          <p:cNvSpPr txBox="1"/>
          <p:nvPr/>
        </p:nvSpPr>
        <p:spPr>
          <a:xfrm>
            <a:off x="5976000" y="64080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5.79:1</a:t>
            </a:r>
          </a:p>
        </p:txBody>
      </p:sp>
      <p:sp>
        <p:nvSpPr>
          <p:cNvPr id="82" name="TextBox 81"/>
          <p:cNvSpPr txBox="1"/>
          <p:nvPr/>
        </p:nvSpPr>
        <p:spPr>
          <a:xfrm>
            <a:off x="6696000" y="6408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83" name="Rectangle 82"/>
          <p:cNvSpPr/>
          <p:nvPr/>
        </p:nvSpPr>
        <p:spPr>
          <a:xfrm>
            <a:off x="720000" y="66888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792000" y="67824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Texte du bouton or au survol</a:t>
            </a:r>
          </a:p>
        </p:txBody>
      </p:sp>
      <p:sp>
        <p:nvSpPr>
          <p:cNvPr id="85" name="TextBox 84"/>
          <p:cNvSpPr txBox="1"/>
          <p:nvPr/>
        </p:nvSpPr>
        <p:spPr>
          <a:xfrm>
            <a:off x="3816000" y="6782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86" name="TextBox 85"/>
          <p:cNvSpPr txBox="1"/>
          <p:nvPr/>
        </p:nvSpPr>
        <p:spPr>
          <a:xfrm>
            <a:off x="4896000" y="6782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gold-400</a:t>
            </a:r>
          </a:p>
        </p:txBody>
      </p:sp>
      <p:sp>
        <p:nvSpPr>
          <p:cNvPr id="87" name="TextBox 86"/>
          <p:cNvSpPr txBox="1"/>
          <p:nvPr/>
        </p:nvSpPr>
        <p:spPr>
          <a:xfrm>
            <a:off x="5976000" y="67824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6.79:1</a:t>
            </a:r>
          </a:p>
        </p:txBody>
      </p:sp>
      <p:sp>
        <p:nvSpPr>
          <p:cNvPr id="88" name="TextBox 87"/>
          <p:cNvSpPr txBox="1"/>
          <p:nvPr/>
        </p:nvSpPr>
        <p:spPr>
          <a:xfrm>
            <a:off x="6696000" y="6782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89" name="TextBox 88"/>
          <p:cNvSpPr txBox="1"/>
          <p:nvPr/>
        </p:nvSpPr>
        <p:spPr>
          <a:xfrm>
            <a:off x="792000" y="71568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Accent or sur fond blanc</a:t>
            </a:r>
          </a:p>
        </p:txBody>
      </p:sp>
      <p:sp>
        <p:nvSpPr>
          <p:cNvPr id="90" name="TextBox 89"/>
          <p:cNvSpPr txBox="1"/>
          <p:nvPr/>
        </p:nvSpPr>
        <p:spPr>
          <a:xfrm>
            <a:off x="3816000" y="7156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gold-700</a:t>
            </a:r>
          </a:p>
        </p:txBody>
      </p:sp>
      <p:sp>
        <p:nvSpPr>
          <p:cNvPr id="91" name="TextBox 90"/>
          <p:cNvSpPr txBox="1"/>
          <p:nvPr/>
        </p:nvSpPr>
        <p:spPr>
          <a:xfrm>
            <a:off x="4896000" y="7156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92" name="TextBox 91"/>
          <p:cNvSpPr txBox="1"/>
          <p:nvPr/>
        </p:nvSpPr>
        <p:spPr>
          <a:xfrm>
            <a:off x="5976000" y="71568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4.99:1</a:t>
            </a:r>
          </a:p>
        </p:txBody>
      </p:sp>
      <p:sp>
        <p:nvSpPr>
          <p:cNvPr id="93" name="TextBox 92"/>
          <p:cNvSpPr txBox="1"/>
          <p:nvPr/>
        </p:nvSpPr>
        <p:spPr>
          <a:xfrm>
            <a:off x="6696000" y="7156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94" name="Rectangle 93"/>
          <p:cNvSpPr/>
          <p:nvPr/>
        </p:nvSpPr>
        <p:spPr>
          <a:xfrm>
            <a:off x="720000" y="74376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792000" y="75312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Accent or sur fond doux</a:t>
            </a:r>
          </a:p>
        </p:txBody>
      </p:sp>
      <p:sp>
        <p:nvSpPr>
          <p:cNvPr id="96" name="TextBox 95"/>
          <p:cNvSpPr txBox="1"/>
          <p:nvPr/>
        </p:nvSpPr>
        <p:spPr>
          <a:xfrm>
            <a:off x="3816000" y="7531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gold-700</a:t>
            </a:r>
          </a:p>
        </p:txBody>
      </p:sp>
      <p:sp>
        <p:nvSpPr>
          <p:cNvPr id="97" name="TextBox 96"/>
          <p:cNvSpPr txBox="1"/>
          <p:nvPr/>
        </p:nvSpPr>
        <p:spPr>
          <a:xfrm>
            <a:off x="4896000" y="7531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bg-soft</a:t>
            </a:r>
          </a:p>
        </p:txBody>
      </p:sp>
      <p:sp>
        <p:nvSpPr>
          <p:cNvPr id="98" name="TextBox 97"/>
          <p:cNvSpPr txBox="1"/>
          <p:nvPr/>
        </p:nvSpPr>
        <p:spPr>
          <a:xfrm>
            <a:off x="5976000" y="75312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4.74:1</a:t>
            </a:r>
          </a:p>
        </p:txBody>
      </p:sp>
      <p:sp>
        <p:nvSpPr>
          <p:cNvPr id="99" name="TextBox 98"/>
          <p:cNvSpPr txBox="1"/>
          <p:nvPr/>
        </p:nvSpPr>
        <p:spPr>
          <a:xfrm>
            <a:off x="6696000" y="75312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100" name="TextBox 99"/>
          <p:cNvSpPr txBox="1"/>
          <p:nvPr/>
        </p:nvSpPr>
        <p:spPr>
          <a:xfrm>
            <a:off x="792000" y="79056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Or clair sur vert principal (grand texte uniquement)</a:t>
            </a:r>
          </a:p>
        </p:txBody>
      </p:sp>
      <p:sp>
        <p:nvSpPr>
          <p:cNvPr id="101" name="TextBox 100"/>
          <p:cNvSpPr txBox="1"/>
          <p:nvPr/>
        </p:nvSpPr>
        <p:spPr>
          <a:xfrm>
            <a:off x="3816000" y="7905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gold-400</a:t>
            </a:r>
          </a:p>
        </p:txBody>
      </p:sp>
      <p:sp>
        <p:nvSpPr>
          <p:cNvPr id="102" name="TextBox 101"/>
          <p:cNvSpPr txBox="1"/>
          <p:nvPr/>
        </p:nvSpPr>
        <p:spPr>
          <a:xfrm>
            <a:off x="4896000" y="7905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green-900</a:t>
            </a:r>
          </a:p>
        </p:txBody>
      </p:sp>
      <p:sp>
        <p:nvSpPr>
          <p:cNvPr id="103" name="TextBox 102"/>
          <p:cNvSpPr txBox="1"/>
          <p:nvPr/>
        </p:nvSpPr>
        <p:spPr>
          <a:xfrm>
            <a:off x="5976000" y="79056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4.33:1</a:t>
            </a:r>
          </a:p>
        </p:txBody>
      </p:sp>
      <p:sp>
        <p:nvSpPr>
          <p:cNvPr id="104" name="TextBox 103"/>
          <p:cNvSpPr txBox="1"/>
          <p:nvPr/>
        </p:nvSpPr>
        <p:spPr>
          <a:xfrm>
            <a:off x="6696000" y="79056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 grand texte</a:t>
            </a:r>
          </a:p>
        </p:txBody>
      </p:sp>
      <p:sp>
        <p:nvSpPr>
          <p:cNvPr id="105" name="Rectangle 104"/>
          <p:cNvSpPr/>
          <p:nvPr/>
        </p:nvSpPr>
        <p:spPr>
          <a:xfrm>
            <a:off x="720000" y="81864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792000" y="82800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Or principal sur encre de marque</a:t>
            </a:r>
          </a:p>
        </p:txBody>
      </p:sp>
      <p:sp>
        <p:nvSpPr>
          <p:cNvPr id="107" name="TextBox 106"/>
          <p:cNvSpPr txBox="1"/>
          <p:nvPr/>
        </p:nvSpPr>
        <p:spPr>
          <a:xfrm>
            <a:off x="3816000" y="8280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gold-500</a:t>
            </a:r>
          </a:p>
        </p:txBody>
      </p:sp>
      <p:sp>
        <p:nvSpPr>
          <p:cNvPr id="108" name="TextBox 107"/>
          <p:cNvSpPr txBox="1"/>
          <p:nvPr/>
        </p:nvSpPr>
        <p:spPr>
          <a:xfrm>
            <a:off x="4896000" y="8280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green-950</a:t>
            </a:r>
          </a:p>
        </p:txBody>
      </p:sp>
      <p:sp>
        <p:nvSpPr>
          <p:cNvPr id="109" name="TextBox 108"/>
          <p:cNvSpPr txBox="1"/>
          <p:nvPr/>
        </p:nvSpPr>
        <p:spPr>
          <a:xfrm>
            <a:off x="5976000" y="82800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5.79:1</a:t>
            </a:r>
          </a:p>
        </p:txBody>
      </p:sp>
      <p:sp>
        <p:nvSpPr>
          <p:cNvPr id="110" name="TextBox 109"/>
          <p:cNvSpPr txBox="1"/>
          <p:nvPr/>
        </p:nvSpPr>
        <p:spPr>
          <a:xfrm>
            <a:off x="6696000" y="82800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a:t>
            </a:r>
          </a:p>
        </p:txBody>
      </p:sp>
      <p:sp>
        <p:nvSpPr>
          <p:cNvPr id="111" name="TextBox 110"/>
          <p:cNvSpPr txBox="1"/>
          <p:nvPr/>
        </p:nvSpPr>
        <p:spPr>
          <a:xfrm>
            <a:off x="792000" y="86544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Contour de bouton vert sur blanc</a:t>
            </a:r>
          </a:p>
        </p:txBody>
      </p:sp>
      <p:sp>
        <p:nvSpPr>
          <p:cNvPr id="112" name="TextBox 111"/>
          <p:cNvSpPr txBox="1"/>
          <p:nvPr/>
        </p:nvSpPr>
        <p:spPr>
          <a:xfrm>
            <a:off x="3816000" y="8654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green-700</a:t>
            </a:r>
          </a:p>
        </p:txBody>
      </p:sp>
      <p:sp>
        <p:nvSpPr>
          <p:cNvPr id="113" name="TextBox 112"/>
          <p:cNvSpPr txBox="1"/>
          <p:nvPr/>
        </p:nvSpPr>
        <p:spPr>
          <a:xfrm>
            <a:off x="4896000" y="8654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114" name="TextBox 113"/>
          <p:cNvSpPr txBox="1"/>
          <p:nvPr/>
        </p:nvSpPr>
        <p:spPr>
          <a:xfrm>
            <a:off x="5976000" y="86544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5.13:1</a:t>
            </a:r>
          </a:p>
        </p:txBody>
      </p:sp>
      <p:sp>
        <p:nvSpPr>
          <p:cNvPr id="115" name="TextBox 114"/>
          <p:cNvSpPr txBox="1"/>
          <p:nvPr/>
        </p:nvSpPr>
        <p:spPr>
          <a:xfrm>
            <a:off x="6696000" y="86544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 composant</a:t>
            </a:r>
          </a:p>
        </p:txBody>
      </p:sp>
      <p:sp>
        <p:nvSpPr>
          <p:cNvPr id="116" name="Rectangle 115"/>
          <p:cNvSpPr/>
          <p:nvPr/>
        </p:nvSpPr>
        <p:spPr>
          <a:xfrm>
            <a:off x="720000" y="8935200"/>
            <a:ext cx="6984000" cy="3744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792000" y="9028800"/>
            <a:ext cx="288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0F3D17"/>
                </a:solidFill>
                <a:latin typeface="Inter"/>
              </a:rPr>
              <a:t>Blanc sur vert de survol</a:t>
            </a:r>
          </a:p>
        </p:txBody>
      </p:sp>
      <p:sp>
        <p:nvSpPr>
          <p:cNvPr id="118" name="TextBox 117"/>
          <p:cNvSpPr txBox="1"/>
          <p:nvPr/>
        </p:nvSpPr>
        <p:spPr>
          <a:xfrm>
            <a:off x="3816000" y="9028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white</a:t>
            </a:r>
          </a:p>
        </p:txBody>
      </p:sp>
      <p:sp>
        <p:nvSpPr>
          <p:cNvPr id="119" name="TextBox 118"/>
          <p:cNvSpPr txBox="1"/>
          <p:nvPr/>
        </p:nvSpPr>
        <p:spPr>
          <a:xfrm>
            <a:off x="4896000" y="9028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green-600</a:t>
            </a:r>
          </a:p>
        </p:txBody>
      </p:sp>
      <p:sp>
        <p:nvSpPr>
          <p:cNvPr id="120" name="TextBox 119"/>
          <p:cNvSpPr txBox="1"/>
          <p:nvPr/>
        </p:nvSpPr>
        <p:spPr>
          <a:xfrm>
            <a:off x="5976000" y="9028800"/>
            <a:ext cx="5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Poppins"/>
              </a:rPr>
              <a:t>4.12:1</a:t>
            </a:r>
          </a:p>
        </p:txBody>
      </p:sp>
      <p:sp>
        <p:nvSpPr>
          <p:cNvPr id="121" name="TextBox 120"/>
          <p:cNvSpPr txBox="1"/>
          <p:nvPr/>
        </p:nvSpPr>
        <p:spPr>
          <a:xfrm>
            <a:off x="6696000" y="9028800"/>
            <a:ext cx="93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AA composant</a:t>
            </a:r>
          </a:p>
        </p:txBody>
      </p:sp>
      <p:sp>
        <p:nvSpPr>
          <p:cNvPr id="122" name="TextBox 121"/>
          <p:cNvSpPr txBox="1"/>
          <p:nvPr/>
        </p:nvSpPr>
        <p:spPr>
          <a:xfrm>
            <a:off x="79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Répartition sur une page</a:t>
            </a:r>
          </a:p>
        </p:txBody>
      </p:sp>
      <p:sp>
        <p:nvSpPr>
          <p:cNvPr id="123" name="Rounded Rectangle 122"/>
          <p:cNvSpPr/>
          <p:nvPr/>
        </p:nvSpPr>
        <p:spPr>
          <a:xfrm>
            <a:off x="7920000" y="1872000"/>
            <a:ext cx="3816000" cy="576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7992000" y="1980000"/>
            <a:ext cx="3744000" cy="396000"/>
          </a:xfrm>
          <a:prstGeom prst="rect">
            <a:avLst/>
          </a:prstGeom>
          <a:noFill/>
        </p:spPr>
        <p:txBody>
          <a:bodyPr wrap="square" anchor="ctr" lIns="0" rIns="0" tIns="0" bIns="0">
            <a:spAutoFit/>
          </a:bodyPr>
          <a:lstStyle/>
          <a:p>
            <a:pPr algn="ctr">
              <a:lnSpc>
                <a:spcPct val="135000"/>
              </a:lnSpc>
              <a:spcAft>
                <a:spcPts val="400"/>
              </a:spcAft>
            </a:pPr>
            <a:r>
              <a:rPr sz="800" b="1" i="0">
                <a:solidFill>
                  <a:srgbClr val="0F3D17"/>
                </a:solidFill>
                <a:latin typeface="Poppins"/>
              </a:rPr>
              <a:t>Blanc et fonds doux · 60 %</a:t>
            </a:r>
          </a:p>
        </p:txBody>
      </p:sp>
      <p:sp>
        <p:nvSpPr>
          <p:cNvPr id="125" name="Rounded Rectangle 124"/>
          <p:cNvSpPr/>
          <p:nvPr/>
        </p:nvSpPr>
        <p:spPr>
          <a:xfrm>
            <a:off x="11808000" y="1872000"/>
            <a:ext cx="1872000" cy="576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11880000" y="1980000"/>
            <a:ext cx="1800000" cy="396000"/>
          </a:xfrm>
          <a:prstGeom prst="rect">
            <a:avLst/>
          </a:prstGeom>
          <a:noFill/>
        </p:spPr>
        <p:txBody>
          <a:bodyPr wrap="square" anchor="ctr" lIns="0" rIns="0" tIns="0" bIns="0">
            <a:spAutoFit/>
          </a:bodyPr>
          <a:lstStyle/>
          <a:p>
            <a:pPr algn="ctr">
              <a:lnSpc>
                <a:spcPct val="135000"/>
              </a:lnSpc>
              <a:spcAft>
                <a:spcPts val="400"/>
              </a:spcAft>
            </a:pPr>
            <a:r>
              <a:rPr sz="800" b="1" i="0">
                <a:solidFill>
                  <a:srgbClr val="FFFFFF"/>
                </a:solidFill>
                <a:latin typeface="Poppins"/>
              </a:rPr>
              <a:t>Verts de marque · 30 %</a:t>
            </a:r>
          </a:p>
        </p:txBody>
      </p:sp>
      <p:sp>
        <p:nvSpPr>
          <p:cNvPr id="127" name="Rounded Rectangle 126"/>
          <p:cNvSpPr/>
          <p:nvPr/>
        </p:nvSpPr>
        <p:spPr>
          <a:xfrm>
            <a:off x="13752000" y="1872000"/>
            <a:ext cx="576000" cy="576000"/>
          </a:xfrm>
          <a:prstGeom prst="roundRect">
            <a:avLst>
              <a:gd name="adj" fmla="val 6000"/>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13824000" y="1980000"/>
            <a:ext cx="504000" cy="396000"/>
          </a:xfrm>
          <a:prstGeom prst="rect">
            <a:avLst/>
          </a:prstGeom>
          <a:noFill/>
        </p:spPr>
        <p:txBody>
          <a:bodyPr wrap="square" anchor="ctr" lIns="0" rIns="0" tIns="0" bIns="0">
            <a:spAutoFit/>
          </a:bodyPr>
          <a:lstStyle/>
          <a:p>
            <a:pPr algn="ctr">
              <a:lnSpc>
                <a:spcPct val="135000"/>
              </a:lnSpc>
              <a:spcAft>
                <a:spcPts val="400"/>
              </a:spcAft>
            </a:pPr>
            <a:r>
              <a:rPr sz="650" b="1" i="0">
                <a:solidFill>
                  <a:srgbClr val="0F3D17"/>
                </a:solidFill>
                <a:latin typeface="Poppins"/>
              </a:rPr>
              <a:t>Or · 10 %</a:t>
            </a:r>
          </a:p>
        </p:txBody>
      </p:sp>
      <p:sp>
        <p:nvSpPr>
          <p:cNvPr id="129" name="TextBox 128"/>
          <p:cNvSpPr txBox="1"/>
          <p:nvPr/>
        </p:nvSpPr>
        <p:spPr>
          <a:xfrm>
            <a:off x="7920000" y="288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Deux combinaisons corrigées</a:t>
            </a:r>
          </a:p>
        </p:txBody>
      </p:sp>
      <p:graphicFrame>
        <p:nvGraphicFramePr>
          <p:cNvPr id="130" name="Table 129"/>
          <p:cNvGraphicFramePr>
            <a:graphicFrameLocks noGrp="1"/>
          </p:cNvGraphicFramePr>
          <p:nvPr/>
        </p:nvGraphicFramePr>
        <p:xfrm>
          <a:off x="7920000" y="3312000"/>
          <a:ext cx="6480000" cy="2808000"/>
        </p:xfrm>
        <a:graphic>
          <a:graphicData uri="http://schemas.openxmlformats.org/drawingml/2006/table">
            <a:tbl>
              <a:tblPr firstRow="1" bandRow="1">
                <a:tableStyleId>{5C22544A-7EE6-4342-B048-85BDC9FD1C3A}</a:tableStyleId>
              </a:tblPr>
              <a:tblGrid>
                <a:gridCol w="2592000"/>
                <a:gridCol w="3888000"/>
              </a:tblGrid>
              <a:tr h="936000">
                <a:tc>
                  <a:txBody>
                    <a:bodyPr/>
                    <a:lstStyle/>
                    <a:p>
                      <a:pPr>
                        <a:lnSpc>
                          <a:spcPct val="125000"/>
                        </a:lnSpc>
                      </a:pPr>
                      <a:r>
                        <a:rPr sz="900" b="1">
                          <a:solidFill>
                            <a:srgbClr val="FFFFFF"/>
                          </a:solidFill>
                          <a:latin typeface="Poppins"/>
                        </a:rPr>
                        <a:t>COMBINAISON DU SITE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CORRECTIF</a:t>
                      </a:r>
                    </a:p>
                  </a:txBody>
                  <a:tcPr marL="90000" marR="90000" marT="50400" marB="50400" anchor="ctr">
                    <a:solidFill>
                      <a:srgbClr val="1B5E20"/>
                    </a:solidFill>
                  </a:tcPr>
                </a:tc>
              </a:tr>
              <a:tr h="936000">
                <a:tc>
                  <a:txBody>
                    <a:bodyPr/>
                    <a:lstStyle/>
                    <a:p>
                      <a:pPr>
                        <a:lnSpc>
                          <a:spcPct val="125000"/>
                        </a:lnSpc>
                      </a:pPr>
                      <a:r>
                        <a:rPr sz="900" b="1">
                          <a:solidFill>
                            <a:srgbClr val="0F3D17"/>
                          </a:solidFill>
                          <a:latin typeface="Poppins"/>
                        </a:rPr>
                        <a:t>Or #C98A2B sur blanc — 2.94:1</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Utiliser gold-700 (#9A6412) pour tout texte or sur fond clair ; gold-600 reste réservé aux aplats et filets épais.</a:t>
                      </a:r>
                    </a:p>
                  </a:txBody>
                  <a:tcPr marL="90000" marR="90000" marT="50400" marB="50400" anchor="ctr">
                    <a:solidFill>
                      <a:srgbClr val="FFFFFF"/>
                    </a:solidFill>
                  </a:tcPr>
                </a:tc>
              </a:tr>
              <a:tr h="936000">
                <a:tc>
                  <a:txBody>
                    <a:bodyPr/>
                    <a:lstStyle/>
                    <a:p>
                      <a:pPr>
                        <a:lnSpc>
                          <a:spcPct val="125000"/>
                        </a:lnSpc>
                      </a:pPr>
                      <a:r>
                        <a:rPr sz="900" b="1">
                          <a:solidFill>
                            <a:srgbClr val="0F3D17"/>
                          </a:solidFill>
                          <a:latin typeface="Poppins"/>
                        </a:rPr>
                        <a:t>Vert d'action #2E7D32 sur pastille — 4.45:1</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Le surtitre en pastille passe à green-900 (#1B5E20) : 6.83:1.</a:t>
                      </a:r>
                    </a:p>
                  </a:txBody>
                  <a:tcPr marL="90000" marR="90000" marT="50400" marB="50400" anchor="ctr">
                    <a:solidFill>
                      <a:srgbClr val="F7FAF5"/>
                    </a:solidFill>
                  </a:tcPr>
                </a:tc>
              </a:tr>
            </a:tbl>
          </a:graphicData>
        </a:graphic>
      </p:graphicFrame>
      <p:sp>
        <p:nvSpPr>
          <p:cNvPr id="131" name="TextBox 130"/>
          <p:cNvSpPr txBox="1"/>
          <p:nvPr/>
        </p:nvSpPr>
        <p:spPr>
          <a:xfrm>
            <a:off x="7920000" y="6480000"/>
            <a:ext cx="6480000" cy="792000"/>
          </a:xfrm>
          <a:prstGeom prst="rect">
            <a:avLst/>
          </a:prstGeom>
          <a:noFill/>
        </p:spPr>
        <p:txBody>
          <a:bodyPr wrap="square" anchor="t" lIns="0" rIns="0" tIns="0" bIns="0">
            <a:spAutoFit/>
          </a:bodyPr>
          <a:lstStyle/>
          <a:p>
            <a:pPr algn="l">
              <a:lnSpc>
                <a:spcPct val="135000"/>
              </a:lnSpc>
              <a:spcAft>
                <a:spcPts val="400"/>
              </a:spcAft>
            </a:pPr>
            <a:r>
              <a:rPr sz="950" b="0" i="0">
                <a:solidFill>
                  <a:srgbClr val="5C665A"/>
                </a:solidFill>
                <a:latin typeface="Inter"/>
              </a:rPr>
              <a:t>Seuils appliqués : WCAG 2.1 AA — 4.5:1 pour le texte courant, 3:1 à partir de 24 px, en gras à partir de 19 px, et pour tout élément d'interface porteur de sens. Chaque ratio est recalculé à la génération du document.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13</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Les trois polices</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15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4320000" cy="5760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52000" y="1872000"/>
            <a:ext cx="3456000" cy="1512000"/>
          </a:xfrm>
          <a:prstGeom prst="rect">
            <a:avLst/>
          </a:prstGeom>
          <a:noFill/>
        </p:spPr>
        <p:txBody>
          <a:bodyPr wrap="square" anchor="t" lIns="0" rIns="0" tIns="0" bIns="0">
            <a:spAutoFit/>
          </a:bodyPr>
          <a:lstStyle/>
          <a:p>
            <a:pPr algn="l">
              <a:lnSpc>
                <a:spcPct val="135000"/>
              </a:lnSpc>
              <a:spcAft>
                <a:spcPts val="400"/>
              </a:spcAft>
            </a:pPr>
            <a:r>
              <a:rPr sz="6400" b="1" i="0">
                <a:solidFill>
                  <a:srgbClr val="1B5E20"/>
                </a:solidFill>
                <a:latin typeface="Poppins"/>
              </a:rPr>
              <a:t>Aa</a:t>
            </a:r>
          </a:p>
        </p:txBody>
      </p:sp>
      <p:sp>
        <p:nvSpPr>
          <p:cNvPr id="12" name="TextBox 11"/>
          <p:cNvSpPr txBox="1"/>
          <p:nvPr/>
        </p:nvSpPr>
        <p:spPr>
          <a:xfrm>
            <a:off x="1152000" y="3744000"/>
            <a:ext cx="3456000" cy="324000"/>
          </a:xfrm>
          <a:prstGeom prst="rect">
            <a:avLst/>
          </a:prstGeom>
          <a:noFill/>
        </p:spPr>
        <p:txBody>
          <a:bodyPr wrap="square" anchor="t" lIns="0" rIns="0" tIns="0" bIns="0">
            <a:spAutoFit/>
          </a:bodyPr>
          <a:lstStyle/>
          <a:p>
            <a:pPr algn="l">
              <a:lnSpc>
                <a:spcPct val="135000"/>
              </a:lnSpc>
              <a:spcAft>
                <a:spcPts val="400"/>
              </a:spcAft>
            </a:pPr>
            <a:r>
              <a:rPr sz="1500" b="1" i="0">
                <a:solidFill>
                  <a:srgbClr val="0F3D17"/>
                </a:solidFill>
                <a:latin typeface="Poppins"/>
              </a:rPr>
              <a:t>Poppins</a:t>
            </a:r>
          </a:p>
        </p:txBody>
      </p:sp>
      <p:sp>
        <p:nvSpPr>
          <p:cNvPr id="13" name="TextBox 12"/>
          <p:cNvSpPr txBox="1"/>
          <p:nvPr/>
        </p:nvSpPr>
        <p:spPr>
          <a:xfrm>
            <a:off x="1152000" y="4176000"/>
            <a:ext cx="3456000" cy="504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Titres, surtitres, boutons, navigation, chiffres.</a:t>
            </a:r>
          </a:p>
        </p:txBody>
      </p:sp>
      <p:sp>
        <p:nvSpPr>
          <p:cNvPr id="14" name="TextBox 13"/>
          <p:cNvSpPr txBox="1"/>
          <p:nvPr/>
        </p:nvSpPr>
        <p:spPr>
          <a:xfrm>
            <a:off x="1152000" y="4824000"/>
            <a:ext cx="3456000" cy="1080000"/>
          </a:xfrm>
          <a:prstGeom prst="rect">
            <a:avLst/>
          </a:prstGeom>
          <a:noFill/>
        </p:spPr>
        <p:txBody>
          <a:bodyPr wrap="square" anchor="t" lIns="0" rIns="0" tIns="0" bIns="0">
            <a:spAutoFit/>
          </a:bodyPr>
          <a:lstStyle/>
          <a:p>
            <a:pPr algn="l">
              <a:lnSpc>
                <a:spcPct val="160000"/>
              </a:lnSpc>
              <a:spcAft>
                <a:spcPts val="400"/>
              </a:spcAft>
            </a:pPr>
            <a:r>
              <a:rPr sz="1000" b="0" i="0">
                <a:solidFill>
                  <a:srgbClr val="0F3D17"/>
                </a:solidFill>
                <a:latin typeface="Poppins"/>
              </a:rPr>
              <a:t>ABCDEFGHIJKLMNOPQRSTUVWXYZ</a:t>
            </a:r>
          </a:p>
          <a:p>
            <a:pPr algn="l">
              <a:lnSpc>
                <a:spcPct val="160000"/>
              </a:lnSpc>
              <a:spcAft>
                <a:spcPts val="400"/>
              </a:spcAft>
            </a:pPr>
            <a:r>
              <a:rPr sz="1000" b="0" i="0">
                <a:solidFill>
                  <a:srgbClr val="0F3D17"/>
                </a:solidFill>
                <a:latin typeface="Poppins"/>
              </a:rPr>
              <a:t>abcdefghijklmnopqrstuvwxyz</a:t>
            </a:r>
          </a:p>
          <a:p>
            <a:pPr algn="l">
              <a:lnSpc>
                <a:spcPct val="160000"/>
              </a:lnSpc>
              <a:spcAft>
                <a:spcPts val="400"/>
              </a:spcAft>
            </a:pPr>
            <a:r>
              <a:rPr sz="1000" b="0" i="0">
                <a:solidFill>
                  <a:srgbClr val="0F3D17"/>
                </a:solidFill>
                <a:latin typeface="Poppins"/>
              </a:rPr>
              <a:t>0123456789 àéèêçùôî ! ? &amp;</a:t>
            </a:r>
          </a:p>
        </p:txBody>
      </p:sp>
      <p:sp>
        <p:nvSpPr>
          <p:cNvPr id="15" name="Rectangle 14"/>
          <p:cNvSpPr/>
          <p:nvPr/>
        </p:nvSpPr>
        <p:spPr>
          <a:xfrm>
            <a:off x="1152000" y="6480000"/>
            <a:ext cx="3456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52000" y="6696000"/>
            <a:ext cx="3456000" cy="288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Inter"/>
              </a:rPr>
              <a:t>Graisses utilisées : 500 · 600 · 700 · 800</a:t>
            </a:r>
          </a:p>
        </p:txBody>
      </p:sp>
      <p:sp>
        <p:nvSpPr>
          <p:cNvPr id="17" name="Rounded Rectangle 16"/>
          <p:cNvSpPr/>
          <p:nvPr/>
        </p:nvSpPr>
        <p:spPr>
          <a:xfrm>
            <a:off x="5292000" y="1512000"/>
            <a:ext cx="4320000" cy="5760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24000" y="1872000"/>
            <a:ext cx="3456000" cy="1512000"/>
          </a:xfrm>
          <a:prstGeom prst="rect">
            <a:avLst/>
          </a:prstGeom>
          <a:noFill/>
        </p:spPr>
        <p:txBody>
          <a:bodyPr wrap="square" anchor="t" lIns="0" rIns="0" tIns="0" bIns="0">
            <a:spAutoFit/>
          </a:bodyPr>
          <a:lstStyle/>
          <a:p>
            <a:pPr algn="l">
              <a:lnSpc>
                <a:spcPct val="135000"/>
              </a:lnSpc>
              <a:spcAft>
                <a:spcPts val="400"/>
              </a:spcAft>
            </a:pPr>
            <a:r>
              <a:rPr sz="6400" b="1" i="0">
                <a:solidFill>
                  <a:srgbClr val="1B5E20"/>
                </a:solidFill>
                <a:latin typeface="Inter"/>
              </a:rPr>
              <a:t>Aa</a:t>
            </a:r>
          </a:p>
        </p:txBody>
      </p:sp>
      <p:sp>
        <p:nvSpPr>
          <p:cNvPr id="19" name="TextBox 18"/>
          <p:cNvSpPr txBox="1"/>
          <p:nvPr/>
        </p:nvSpPr>
        <p:spPr>
          <a:xfrm>
            <a:off x="5724000" y="3744000"/>
            <a:ext cx="3456000" cy="324000"/>
          </a:xfrm>
          <a:prstGeom prst="rect">
            <a:avLst/>
          </a:prstGeom>
          <a:noFill/>
        </p:spPr>
        <p:txBody>
          <a:bodyPr wrap="square" anchor="t" lIns="0" rIns="0" tIns="0" bIns="0">
            <a:spAutoFit/>
          </a:bodyPr>
          <a:lstStyle/>
          <a:p>
            <a:pPr algn="l">
              <a:lnSpc>
                <a:spcPct val="135000"/>
              </a:lnSpc>
              <a:spcAft>
                <a:spcPts val="400"/>
              </a:spcAft>
            </a:pPr>
            <a:r>
              <a:rPr sz="1500" b="1" i="0">
                <a:solidFill>
                  <a:srgbClr val="0F3D17"/>
                </a:solidFill>
                <a:latin typeface="Poppins"/>
              </a:rPr>
              <a:t>Inter</a:t>
            </a:r>
          </a:p>
        </p:txBody>
      </p:sp>
      <p:sp>
        <p:nvSpPr>
          <p:cNvPr id="20" name="TextBox 19"/>
          <p:cNvSpPr txBox="1"/>
          <p:nvPr/>
        </p:nvSpPr>
        <p:spPr>
          <a:xfrm>
            <a:off x="5724000" y="4176000"/>
            <a:ext cx="3456000" cy="504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Texte courant, formulaires, tableaux, légendes.</a:t>
            </a:r>
          </a:p>
        </p:txBody>
      </p:sp>
      <p:sp>
        <p:nvSpPr>
          <p:cNvPr id="21" name="TextBox 20"/>
          <p:cNvSpPr txBox="1"/>
          <p:nvPr/>
        </p:nvSpPr>
        <p:spPr>
          <a:xfrm>
            <a:off x="5724000" y="4824000"/>
            <a:ext cx="3456000" cy="1080000"/>
          </a:xfrm>
          <a:prstGeom prst="rect">
            <a:avLst/>
          </a:prstGeom>
          <a:noFill/>
        </p:spPr>
        <p:txBody>
          <a:bodyPr wrap="square" anchor="t" lIns="0" rIns="0" tIns="0" bIns="0">
            <a:spAutoFit/>
          </a:bodyPr>
          <a:lstStyle/>
          <a:p>
            <a:pPr algn="l">
              <a:lnSpc>
                <a:spcPct val="160000"/>
              </a:lnSpc>
              <a:spcAft>
                <a:spcPts val="400"/>
              </a:spcAft>
            </a:pPr>
            <a:r>
              <a:rPr sz="1000" b="0" i="0">
                <a:solidFill>
                  <a:srgbClr val="0F3D17"/>
                </a:solidFill>
                <a:latin typeface="Inter"/>
              </a:rPr>
              <a:t>ABCDEFGHIJKLMNOPQRSTUVWXYZ</a:t>
            </a:r>
          </a:p>
          <a:p>
            <a:pPr algn="l">
              <a:lnSpc>
                <a:spcPct val="160000"/>
              </a:lnSpc>
              <a:spcAft>
                <a:spcPts val="400"/>
              </a:spcAft>
            </a:pPr>
            <a:r>
              <a:rPr sz="1000" b="0" i="0">
                <a:solidFill>
                  <a:srgbClr val="0F3D17"/>
                </a:solidFill>
                <a:latin typeface="Inter"/>
              </a:rPr>
              <a:t>abcdefghijklmnopqrstuvwxyz</a:t>
            </a:r>
          </a:p>
          <a:p>
            <a:pPr algn="l">
              <a:lnSpc>
                <a:spcPct val="160000"/>
              </a:lnSpc>
              <a:spcAft>
                <a:spcPts val="400"/>
              </a:spcAft>
            </a:pPr>
            <a:r>
              <a:rPr sz="1000" b="0" i="0">
                <a:solidFill>
                  <a:srgbClr val="0F3D17"/>
                </a:solidFill>
                <a:latin typeface="Inter"/>
              </a:rPr>
              <a:t>0123456789 àéèêçùôî ! ? &amp;</a:t>
            </a:r>
          </a:p>
        </p:txBody>
      </p:sp>
      <p:sp>
        <p:nvSpPr>
          <p:cNvPr id="22" name="Rectangle 21"/>
          <p:cNvSpPr/>
          <p:nvPr/>
        </p:nvSpPr>
        <p:spPr>
          <a:xfrm>
            <a:off x="5724000" y="6480000"/>
            <a:ext cx="3456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724000" y="6696000"/>
            <a:ext cx="3456000" cy="288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Inter"/>
              </a:rPr>
              <a:t>Graisses utilisées : 400 · 500 · 600</a:t>
            </a:r>
          </a:p>
        </p:txBody>
      </p:sp>
      <p:sp>
        <p:nvSpPr>
          <p:cNvPr id="24" name="Rounded Rectangle 23"/>
          <p:cNvSpPr/>
          <p:nvPr/>
        </p:nvSpPr>
        <p:spPr>
          <a:xfrm>
            <a:off x="9864000" y="1512000"/>
            <a:ext cx="4320000" cy="5760000"/>
          </a:xfrm>
          <a:prstGeom prst="roundRect">
            <a:avLst>
              <a:gd name="adj" fmla="val 6000"/>
            </a:avLst>
          </a:prstGeom>
          <a:solidFill>
            <a:srgbClr val="F7FAF5"/>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96000" y="1872000"/>
            <a:ext cx="3456000" cy="1512000"/>
          </a:xfrm>
          <a:prstGeom prst="rect">
            <a:avLst/>
          </a:prstGeom>
          <a:noFill/>
        </p:spPr>
        <p:txBody>
          <a:bodyPr wrap="square" anchor="t" lIns="0" rIns="0" tIns="0" bIns="0">
            <a:spAutoFit/>
          </a:bodyPr>
          <a:lstStyle/>
          <a:p>
            <a:pPr algn="l">
              <a:lnSpc>
                <a:spcPct val="135000"/>
              </a:lnSpc>
              <a:spcAft>
                <a:spcPts val="400"/>
              </a:spcAft>
            </a:pPr>
            <a:r>
              <a:rPr sz="6400" b="0" i="1">
                <a:solidFill>
                  <a:srgbClr val="1B5E20"/>
                </a:solidFill>
                <a:latin typeface="Playfair Display"/>
              </a:rPr>
              <a:t>Aa</a:t>
            </a:r>
          </a:p>
        </p:txBody>
      </p:sp>
      <p:sp>
        <p:nvSpPr>
          <p:cNvPr id="26" name="TextBox 25"/>
          <p:cNvSpPr txBox="1"/>
          <p:nvPr/>
        </p:nvSpPr>
        <p:spPr>
          <a:xfrm>
            <a:off x="10296000" y="3744000"/>
            <a:ext cx="3456000" cy="324000"/>
          </a:xfrm>
          <a:prstGeom prst="rect">
            <a:avLst/>
          </a:prstGeom>
          <a:noFill/>
        </p:spPr>
        <p:txBody>
          <a:bodyPr wrap="square" anchor="t" lIns="0" rIns="0" tIns="0" bIns="0">
            <a:spAutoFit/>
          </a:bodyPr>
          <a:lstStyle/>
          <a:p>
            <a:pPr algn="l">
              <a:lnSpc>
                <a:spcPct val="135000"/>
              </a:lnSpc>
              <a:spcAft>
                <a:spcPts val="400"/>
              </a:spcAft>
            </a:pPr>
            <a:r>
              <a:rPr sz="1500" b="1" i="0">
                <a:solidFill>
                  <a:srgbClr val="0F3D17"/>
                </a:solidFill>
                <a:latin typeface="Poppins"/>
              </a:rPr>
              <a:t>Playfair Display Italique</a:t>
            </a:r>
          </a:p>
        </p:txBody>
      </p:sp>
      <p:sp>
        <p:nvSpPr>
          <p:cNvPr id="27" name="TextBox 26"/>
          <p:cNvSpPr txBox="1"/>
          <p:nvPr/>
        </p:nvSpPr>
        <p:spPr>
          <a:xfrm>
            <a:off x="10296000" y="4176000"/>
            <a:ext cx="3456000" cy="504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Un à trois mots d'accent, et la signature de marque. Rien d'autre.</a:t>
            </a:r>
          </a:p>
        </p:txBody>
      </p:sp>
      <p:sp>
        <p:nvSpPr>
          <p:cNvPr id="28" name="TextBox 27"/>
          <p:cNvSpPr txBox="1"/>
          <p:nvPr/>
        </p:nvSpPr>
        <p:spPr>
          <a:xfrm>
            <a:off x="10296000" y="4824000"/>
            <a:ext cx="3456000" cy="1080000"/>
          </a:xfrm>
          <a:prstGeom prst="rect">
            <a:avLst/>
          </a:prstGeom>
          <a:noFill/>
        </p:spPr>
        <p:txBody>
          <a:bodyPr wrap="square" anchor="t" lIns="0" rIns="0" tIns="0" bIns="0">
            <a:spAutoFit/>
          </a:bodyPr>
          <a:lstStyle/>
          <a:p>
            <a:pPr algn="l">
              <a:lnSpc>
                <a:spcPct val="160000"/>
              </a:lnSpc>
              <a:spcAft>
                <a:spcPts val="400"/>
              </a:spcAft>
            </a:pPr>
            <a:r>
              <a:rPr sz="1000" b="0" i="1">
                <a:solidFill>
                  <a:srgbClr val="0F3D17"/>
                </a:solidFill>
                <a:latin typeface="Playfair Display"/>
              </a:rPr>
              <a:t>ABCDEFGHIJKLMNOPQRSTUVWXYZ</a:t>
            </a:r>
          </a:p>
          <a:p>
            <a:pPr algn="l">
              <a:lnSpc>
                <a:spcPct val="160000"/>
              </a:lnSpc>
              <a:spcAft>
                <a:spcPts val="400"/>
              </a:spcAft>
            </a:pPr>
            <a:r>
              <a:rPr sz="1000" b="0" i="1">
                <a:solidFill>
                  <a:srgbClr val="0F3D17"/>
                </a:solidFill>
                <a:latin typeface="Playfair Display"/>
              </a:rPr>
              <a:t>abcdefghijklmnopqrstuvwxyz</a:t>
            </a:r>
          </a:p>
          <a:p>
            <a:pPr algn="l">
              <a:lnSpc>
                <a:spcPct val="160000"/>
              </a:lnSpc>
              <a:spcAft>
                <a:spcPts val="400"/>
              </a:spcAft>
            </a:pPr>
            <a:r>
              <a:rPr sz="1000" b="0" i="1">
                <a:solidFill>
                  <a:srgbClr val="0F3D17"/>
                </a:solidFill>
                <a:latin typeface="Playfair Display"/>
              </a:rPr>
              <a:t>0123456789 àéèêçùôî ! ? &amp;</a:t>
            </a:r>
          </a:p>
        </p:txBody>
      </p:sp>
      <p:sp>
        <p:nvSpPr>
          <p:cNvPr id="29" name="Rectangle 28"/>
          <p:cNvSpPr/>
          <p:nvPr/>
        </p:nvSpPr>
        <p:spPr>
          <a:xfrm>
            <a:off x="10296000" y="6480000"/>
            <a:ext cx="3456000" cy="108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96000" y="6696000"/>
            <a:ext cx="3456000" cy="288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Inter"/>
              </a:rPr>
              <a:t>Graisses utilisées : 500 · 600 — italique uniquement</a:t>
            </a:r>
          </a:p>
        </p:txBody>
      </p:sp>
      <p:sp>
        <p:nvSpPr>
          <p:cNvPr id="31" name="Rounded Rectangle 30"/>
          <p:cNvSpPr/>
          <p:nvPr/>
        </p:nvSpPr>
        <p:spPr>
          <a:xfrm>
            <a:off x="720000" y="7632000"/>
            <a:ext cx="13680000" cy="2016000"/>
          </a:xfrm>
          <a:prstGeom prst="roundRect">
            <a:avLst>
              <a:gd name="adj" fmla="val 6000"/>
            </a:avLst>
          </a:prstGeom>
          <a:solidFill>
            <a:srgbClr val="F4F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52000" y="792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Substitutions</a:t>
            </a:r>
          </a:p>
        </p:txBody>
      </p:sp>
      <p:sp>
        <p:nvSpPr>
          <p:cNvPr id="33" name="TextBox 32"/>
          <p:cNvSpPr txBox="1"/>
          <p:nvPr/>
        </p:nvSpPr>
        <p:spPr>
          <a:xfrm>
            <a:off x="1152000" y="8496000"/>
            <a:ext cx="3024000" cy="216000"/>
          </a:xfrm>
          <a:prstGeom prst="rect">
            <a:avLst/>
          </a:prstGeom>
          <a:noFill/>
        </p:spPr>
        <p:txBody>
          <a:bodyPr wrap="square" anchor="t" lIns="0" rIns="0" tIns="0" bIns="0">
            <a:spAutoFit/>
          </a:bodyPr>
          <a:lstStyle/>
          <a:p>
            <a:pPr algn="l">
              <a:lnSpc>
                <a:spcPct val="135000"/>
              </a:lnSpc>
              <a:spcAft>
                <a:spcPts val="400"/>
              </a:spcAft>
            </a:pPr>
            <a:r>
              <a:rPr sz="1050" b="1" i="0">
                <a:solidFill>
                  <a:srgbClr val="205E25"/>
                </a:solidFill>
                <a:latin typeface="Poppins"/>
              </a:rPr>
              <a:t>Poppins absente</a:t>
            </a:r>
          </a:p>
        </p:txBody>
      </p:sp>
      <p:sp>
        <p:nvSpPr>
          <p:cNvPr id="34" name="TextBox 33"/>
          <p:cNvSpPr txBox="1"/>
          <p:nvPr/>
        </p:nvSpPr>
        <p:spPr>
          <a:xfrm>
            <a:off x="1152000" y="8784000"/>
            <a:ext cx="3024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Segoe UI, puis Arial. Jamais une autre géométrique.</a:t>
            </a:r>
          </a:p>
        </p:txBody>
      </p:sp>
      <p:sp>
        <p:nvSpPr>
          <p:cNvPr id="35" name="TextBox 34"/>
          <p:cNvSpPr txBox="1"/>
          <p:nvPr/>
        </p:nvSpPr>
        <p:spPr>
          <a:xfrm>
            <a:off x="4428000" y="8496000"/>
            <a:ext cx="3024000" cy="216000"/>
          </a:xfrm>
          <a:prstGeom prst="rect">
            <a:avLst/>
          </a:prstGeom>
          <a:noFill/>
        </p:spPr>
        <p:txBody>
          <a:bodyPr wrap="square" anchor="t" lIns="0" rIns="0" tIns="0" bIns="0">
            <a:spAutoFit/>
          </a:bodyPr>
          <a:lstStyle/>
          <a:p>
            <a:pPr algn="l">
              <a:lnSpc>
                <a:spcPct val="135000"/>
              </a:lnSpc>
              <a:spcAft>
                <a:spcPts val="400"/>
              </a:spcAft>
            </a:pPr>
            <a:r>
              <a:rPr sz="1050" b="1" i="0">
                <a:solidFill>
                  <a:srgbClr val="205E25"/>
                </a:solidFill>
                <a:latin typeface="Poppins"/>
              </a:rPr>
              <a:t>Inter absente</a:t>
            </a:r>
          </a:p>
        </p:txBody>
      </p:sp>
      <p:sp>
        <p:nvSpPr>
          <p:cNvPr id="36" name="TextBox 35"/>
          <p:cNvSpPr txBox="1"/>
          <p:nvPr/>
        </p:nvSpPr>
        <p:spPr>
          <a:xfrm>
            <a:off x="4428000" y="8784000"/>
            <a:ext cx="3024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Segoe UI, puis Arial.</a:t>
            </a:r>
          </a:p>
        </p:txBody>
      </p:sp>
      <p:sp>
        <p:nvSpPr>
          <p:cNvPr id="37" name="TextBox 36"/>
          <p:cNvSpPr txBox="1"/>
          <p:nvPr/>
        </p:nvSpPr>
        <p:spPr>
          <a:xfrm>
            <a:off x="7704000" y="8496000"/>
            <a:ext cx="3024000" cy="216000"/>
          </a:xfrm>
          <a:prstGeom prst="rect">
            <a:avLst/>
          </a:prstGeom>
          <a:noFill/>
        </p:spPr>
        <p:txBody>
          <a:bodyPr wrap="square" anchor="t" lIns="0" rIns="0" tIns="0" bIns="0">
            <a:spAutoFit/>
          </a:bodyPr>
          <a:lstStyle/>
          <a:p>
            <a:pPr algn="l">
              <a:lnSpc>
                <a:spcPct val="135000"/>
              </a:lnSpc>
              <a:spcAft>
                <a:spcPts val="400"/>
              </a:spcAft>
            </a:pPr>
            <a:r>
              <a:rPr sz="1050" b="1" i="0">
                <a:solidFill>
                  <a:srgbClr val="205E25"/>
                </a:solidFill>
                <a:latin typeface="Poppins"/>
              </a:rPr>
              <a:t>Playfair absente</a:t>
            </a:r>
          </a:p>
        </p:txBody>
      </p:sp>
      <p:sp>
        <p:nvSpPr>
          <p:cNvPr id="38" name="TextBox 37"/>
          <p:cNvSpPr txBox="1"/>
          <p:nvPr/>
        </p:nvSpPr>
        <p:spPr>
          <a:xfrm>
            <a:off x="7704000" y="8784000"/>
            <a:ext cx="3024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Georgia italique. À défaut, supprimez l'accent.</a:t>
            </a:r>
          </a:p>
        </p:txBody>
      </p:sp>
      <p:sp>
        <p:nvSpPr>
          <p:cNvPr id="39" name="TextBox 38"/>
          <p:cNvSpPr txBox="1"/>
          <p:nvPr/>
        </p:nvSpPr>
        <p:spPr>
          <a:xfrm>
            <a:off x="10980000" y="8496000"/>
            <a:ext cx="3024000" cy="216000"/>
          </a:xfrm>
          <a:prstGeom prst="rect">
            <a:avLst/>
          </a:prstGeom>
          <a:noFill/>
        </p:spPr>
        <p:txBody>
          <a:bodyPr wrap="square" anchor="t" lIns="0" rIns="0" tIns="0" bIns="0">
            <a:spAutoFit/>
          </a:bodyPr>
          <a:lstStyle/>
          <a:p>
            <a:pPr algn="l">
              <a:lnSpc>
                <a:spcPct val="135000"/>
              </a:lnSpc>
              <a:spcAft>
                <a:spcPts val="400"/>
              </a:spcAft>
            </a:pPr>
            <a:r>
              <a:rPr sz="1050" b="1" i="0">
                <a:solidFill>
                  <a:srgbClr val="205E25"/>
                </a:solidFill>
                <a:latin typeface="Poppins"/>
              </a:rPr>
              <a:t>Bureautique</a:t>
            </a:r>
          </a:p>
        </p:txBody>
      </p:sp>
      <p:sp>
        <p:nvSpPr>
          <p:cNvPr id="40" name="TextBox 39"/>
          <p:cNvSpPr txBox="1"/>
          <p:nvPr/>
        </p:nvSpPr>
        <p:spPr>
          <a:xfrm>
            <a:off x="10980000" y="8784000"/>
            <a:ext cx="3024000" cy="72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Word et PowerPoint : installez les trois polices.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14</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Échelle typographique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16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2240000" cy="360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Dix styles nommés couvrent tous les supports. Les tailles de titre sont fluides : la valeur indiquée est le maximum.</a:t>
            </a:r>
          </a:p>
        </p:txBody>
      </p:sp>
      <p:sp>
        <p:nvSpPr>
          <p:cNvPr id="11" name="Rectangle 10"/>
          <p:cNvSpPr/>
          <p:nvPr/>
        </p:nvSpPr>
        <p:spPr>
          <a:xfrm>
            <a:off x="720000" y="2088000"/>
            <a:ext cx="13680000" cy="324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2000" y="2178000"/>
            <a:ext cx="129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STYLE</a:t>
            </a:r>
          </a:p>
        </p:txBody>
      </p:sp>
      <p:sp>
        <p:nvSpPr>
          <p:cNvPr id="13" name="TextBox 12"/>
          <p:cNvSpPr txBox="1"/>
          <p:nvPr/>
        </p:nvSpPr>
        <p:spPr>
          <a:xfrm>
            <a:off x="2232000" y="2178000"/>
            <a:ext cx="3168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APERÇU</a:t>
            </a:r>
          </a:p>
        </p:txBody>
      </p:sp>
      <p:sp>
        <p:nvSpPr>
          <p:cNvPr id="14" name="TextBox 13"/>
          <p:cNvSpPr txBox="1"/>
          <p:nvPr/>
        </p:nvSpPr>
        <p:spPr>
          <a:xfrm>
            <a:off x="5544000" y="2178000"/>
            <a:ext cx="2088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TAILLE</a:t>
            </a:r>
          </a:p>
        </p:txBody>
      </p:sp>
      <p:sp>
        <p:nvSpPr>
          <p:cNvPr id="15" name="TextBox 14"/>
          <p:cNvSpPr txBox="1"/>
          <p:nvPr/>
        </p:nvSpPr>
        <p:spPr>
          <a:xfrm>
            <a:off x="7776000" y="2178000"/>
            <a:ext cx="792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GRAISSE</a:t>
            </a:r>
          </a:p>
        </p:txBody>
      </p:sp>
      <p:sp>
        <p:nvSpPr>
          <p:cNvPr id="16" name="TextBox 15"/>
          <p:cNvSpPr txBox="1"/>
          <p:nvPr/>
        </p:nvSpPr>
        <p:spPr>
          <a:xfrm>
            <a:off x="8712000" y="2178000"/>
            <a:ext cx="936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INTERLIGNE</a:t>
            </a:r>
          </a:p>
        </p:txBody>
      </p:sp>
      <p:sp>
        <p:nvSpPr>
          <p:cNvPr id="17" name="TextBox 16"/>
          <p:cNvSpPr txBox="1"/>
          <p:nvPr/>
        </p:nvSpPr>
        <p:spPr>
          <a:xfrm>
            <a:off x="9792000" y="2178000"/>
            <a:ext cx="1368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POLICE</a:t>
            </a:r>
          </a:p>
        </p:txBody>
      </p:sp>
      <p:sp>
        <p:nvSpPr>
          <p:cNvPr id="18" name="TextBox 17"/>
          <p:cNvSpPr txBox="1"/>
          <p:nvPr/>
        </p:nvSpPr>
        <p:spPr>
          <a:xfrm>
            <a:off x="11304000" y="2178000"/>
            <a:ext cx="3024000" cy="216000"/>
          </a:xfrm>
          <a:prstGeom prst="rect">
            <a:avLst/>
          </a:prstGeom>
          <a:noFill/>
        </p:spPr>
        <p:txBody>
          <a:bodyPr wrap="square" anchor="t" lIns="0" rIns="0" tIns="0" bIns="0">
            <a:spAutoFit/>
          </a:bodyPr>
          <a:lstStyle/>
          <a:p>
            <a:pPr algn="l">
              <a:lnSpc>
                <a:spcPct val="135000"/>
              </a:lnSpc>
              <a:spcAft>
                <a:spcPts val="400"/>
              </a:spcAft>
            </a:pPr>
            <a:r>
              <a:rPr sz="800" b="1" i="0">
                <a:solidFill>
                  <a:srgbClr val="FFFFFF"/>
                </a:solidFill>
                <a:latin typeface="Poppins"/>
              </a:rPr>
              <a:t>USAGE</a:t>
            </a:r>
          </a:p>
        </p:txBody>
      </p:sp>
      <p:sp>
        <p:nvSpPr>
          <p:cNvPr id="19" name="Rectangle 18"/>
          <p:cNvSpPr/>
          <p:nvPr/>
        </p:nvSpPr>
        <p:spPr>
          <a:xfrm>
            <a:off x="720000" y="2412000"/>
            <a:ext cx="13680000" cy="6840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2000" y="2628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Display</a:t>
            </a:r>
          </a:p>
        </p:txBody>
      </p:sp>
      <p:sp>
        <p:nvSpPr>
          <p:cNvPr id="21" name="TextBox 20"/>
          <p:cNvSpPr txBox="1"/>
          <p:nvPr/>
        </p:nvSpPr>
        <p:spPr>
          <a:xfrm>
            <a:off x="2232000" y="2556000"/>
            <a:ext cx="3168000" cy="432000"/>
          </a:xfrm>
          <a:prstGeom prst="rect">
            <a:avLst/>
          </a:prstGeom>
          <a:noFill/>
        </p:spPr>
        <p:txBody>
          <a:bodyPr wrap="square" anchor="t" lIns="0" rIns="0" tIns="0" bIns="0">
            <a:spAutoFit/>
          </a:bodyPr>
          <a:lstStyle/>
          <a:p>
            <a:pPr algn="l">
              <a:lnSpc>
                <a:spcPct val="135000"/>
              </a:lnSpc>
              <a:spcAft>
                <a:spcPts val="400"/>
              </a:spcAft>
            </a:pPr>
            <a:r>
              <a:rPr sz="1527" b="1" i="0">
                <a:solidFill>
                  <a:srgbClr val="0F3D17"/>
                </a:solidFill>
                <a:latin typeface="Poppins"/>
              </a:rPr>
              <a:t>AgriWin Togo</a:t>
            </a:r>
          </a:p>
        </p:txBody>
      </p:sp>
      <p:sp>
        <p:nvSpPr>
          <p:cNvPr id="22" name="TextBox 21"/>
          <p:cNvSpPr txBox="1"/>
          <p:nvPr/>
        </p:nvSpPr>
        <p:spPr>
          <a:xfrm>
            <a:off x="5544000" y="2628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clamp(34px, 5vw, 56px)</a:t>
            </a:r>
          </a:p>
        </p:txBody>
      </p:sp>
      <p:sp>
        <p:nvSpPr>
          <p:cNvPr id="23" name="TextBox 22"/>
          <p:cNvSpPr txBox="1"/>
          <p:nvPr/>
        </p:nvSpPr>
        <p:spPr>
          <a:xfrm>
            <a:off x="7776000" y="2628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800</a:t>
            </a:r>
          </a:p>
        </p:txBody>
      </p:sp>
      <p:sp>
        <p:nvSpPr>
          <p:cNvPr id="24" name="TextBox 23"/>
          <p:cNvSpPr txBox="1"/>
          <p:nvPr/>
        </p:nvSpPr>
        <p:spPr>
          <a:xfrm>
            <a:off x="8712000" y="2628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1.08</a:t>
            </a:r>
          </a:p>
        </p:txBody>
      </p:sp>
      <p:sp>
        <p:nvSpPr>
          <p:cNvPr id="25" name="TextBox 24"/>
          <p:cNvSpPr txBox="1"/>
          <p:nvPr/>
        </p:nvSpPr>
        <p:spPr>
          <a:xfrm>
            <a:off x="9792000" y="2628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26" name="TextBox 25"/>
          <p:cNvSpPr txBox="1"/>
          <p:nvPr/>
        </p:nvSpPr>
        <p:spPr>
          <a:xfrm>
            <a:off x="11304000" y="2628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Titre de couverture, hero</a:t>
            </a:r>
          </a:p>
        </p:txBody>
      </p:sp>
      <p:sp>
        <p:nvSpPr>
          <p:cNvPr id="27" name="TextBox 26"/>
          <p:cNvSpPr txBox="1"/>
          <p:nvPr/>
        </p:nvSpPr>
        <p:spPr>
          <a:xfrm>
            <a:off x="792000" y="3312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H1</a:t>
            </a:r>
          </a:p>
        </p:txBody>
      </p:sp>
      <p:sp>
        <p:nvSpPr>
          <p:cNvPr id="28" name="TextBox 27"/>
          <p:cNvSpPr txBox="1"/>
          <p:nvPr/>
        </p:nvSpPr>
        <p:spPr>
          <a:xfrm>
            <a:off x="2232000" y="3240000"/>
            <a:ext cx="3168000" cy="432000"/>
          </a:xfrm>
          <a:prstGeom prst="rect">
            <a:avLst/>
          </a:prstGeom>
          <a:noFill/>
        </p:spPr>
        <p:txBody>
          <a:bodyPr wrap="square" anchor="t" lIns="0" rIns="0" tIns="0" bIns="0">
            <a:spAutoFit/>
          </a:bodyPr>
          <a:lstStyle/>
          <a:p>
            <a:pPr algn="l">
              <a:lnSpc>
                <a:spcPct val="135000"/>
              </a:lnSpc>
              <a:spcAft>
                <a:spcPts val="400"/>
              </a:spcAft>
            </a:pPr>
            <a:r>
              <a:rPr sz="1527" b="1" i="0">
                <a:solidFill>
                  <a:srgbClr val="0F3D17"/>
                </a:solidFill>
                <a:latin typeface="Poppins"/>
              </a:rPr>
              <a:t>AgriWin Togo</a:t>
            </a:r>
          </a:p>
        </p:txBody>
      </p:sp>
      <p:sp>
        <p:nvSpPr>
          <p:cNvPr id="29" name="TextBox 28"/>
          <p:cNvSpPr txBox="1"/>
          <p:nvPr/>
        </p:nvSpPr>
        <p:spPr>
          <a:xfrm>
            <a:off x="5544000" y="3312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clamp(30px, 4.2vw, 44px)</a:t>
            </a:r>
          </a:p>
        </p:txBody>
      </p:sp>
      <p:sp>
        <p:nvSpPr>
          <p:cNvPr id="30" name="TextBox 29"/>
          <p:cNvSpPr txBox="1"/>
          <p:nvPr/>
        </p:nvSpPr>
        <p:spPr>
          <a:xfrm>
            <a:off x="7776000" y="3312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800</a:t>
            </a:r>
          </a:p>
        </p:txBody>
      </p:sp>
      <p:sp>
        <p:nvSpPr>
          <p:cNvPr id="31" name="TextBox 30"/>
          <p:cNvSpPr txBox="1"/>
          <p:nvPr/>
        </p:nvSpPr>
        <p:spPr>
          <a:xfrm>
            <a:off x="8712000" y="3312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1.12</a:t>
            </a:r>
          </a:p>
        </p:txBody>
      </p:sp>
      <p:sp>
        <p:nvSpPr>
          <p:cNvPr id="32" name="TextBox 31"/>
          <p:cNvSpPr txBox="1"/>
          <p:nvPr/>
        </p:nvSpPr>
        <p:spPr>
          <a:xfrm>
            <a:off x="9792000" y="3312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33" name="TextBox 32"/>
          <p:cNvSpPr txBox="1"/>
          <p:nvPr/>
        </p:nvSpPr>
        <p:spPr>
          <a:xfrm>
            <a:off x="11304000" y="3312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Titre de page</a:t>
            </a:r>
          </a:p>
        </p:txBody>
      </p:sp>
      <p:sp>
        <p:nvSpPr>
          <p:cNvPr id="34" name="Rectangle 33"/>
          <p:cNvSpPr/>
          <p:nvPr/>
        </p:nvSpPr>
        <p:spPr>
          <a:xfrm>
            <a:off x="720000" y="3780000"/>
            <a:ext cx="13680000" cy="6840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2000" y="3996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H2</a:t>
            </a:r>
          </a:p>
        </p:txBody>
      </p:sp>
      <p:sp>
        <p:nvSpPr>
          <p:cNvPr id="36" name="TextBox 35"/>
          <p:cNvSpPr txBox="1"/>
          <p:nvPr/>
        </p:nvSpPr>
        <p:spPr>
          <a:xfrm>
            <a:off x="2232000" y="3924000"/>
            <a:ext cx="3168000" cy="432000"/>
          </a:xfrm>
          <a:prstGeom prst="rect">
            <a:avLst/>
          </a:prstGeom>
          <a:noFill/>
        </p:spPr>
        <p:txBody>
          <a:bodyPr wrap="square" anchor="t" lIns="0" rIns="0" tIns="0" bIns="0">
            <a:spAutoFit/>
          </a:bodyPr>
          <a:lstStyle/>
          <a:p>
            <a:pPr algn="l">
              <a:lnSpc>
                <a:spcPct val="135000"/>
              </a:lnSpc>
              <a:spcAft>
                <a:spcPts val="400"/>
              </a:spcAft>
            </a:pPr>
            <a:r>
              <a:rPr sz="1436" b="1" i="0">
                <a:solidFill>
                  <a:srgbClr val="0F3D17"/>
                </a:solidFill>
                <a:latin typeface="Poppins"/>
              </a:rPr>
              <a:t>AgriWin Togo</a:t>
            </a:r>
          </a:p>
        </p:txBody>
      </p:sp>
      <p:sp>
        <p:nvSpPr>
          <p:cNvPr id="37" name="TextBox 36"/>
          <p:cNvSpPr txBox="1"/>
          <p:nvPr/>
        </p:nvSpPr>
        <p:spPr>
          <a:xfrm>
            <a:off x="5544000" y="3996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clamp(26px, 3.4vw, 38px)</a:t>
            </a:r>
          </a:p>
        </p:txBody>
      </p:sp>
      <p:sp>
        <p:nvSpPr>
          <p:cNvPr id="38" name="TextBox 37"/>
          <p:cNvSpPr txBox="1"/>
          <p:nvPr/>
        </p:nvSpPr>
        <p:spPr>
          <a:xfrm>
            <a:off x="7776000" y="3996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700</a:t>
            </a:r>
          </a:p>
        </p:txBody>
      </p:sp>
      <p:sp>
        <p:nvSpPr>
          <p:cNvPr id="39" name="TextBox 38"/>
          <p:cNvSpPr txBox="1"/>
          <p:nvPr/>
        </p:nvSpPr>
        <p:spPr>
          <a:xfrm>
            <a:off x="8712000" y="3996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1.2</a:t>
            </a:r>
          </a:p>
        </p:txBody>
      </p:sp>
      <p:sp>
        <p:nvSpPr>
          <p:cNvPr id="40" name="TextBox 39"/>
          <p:cNvSpPr txBox="1"/>
          <p:nvPr/>
        </p:nvSpPr>
        <p:spPr>
          <a:xfrm>
            <a:off x="9792000" y="3996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41" name="TextBox 40"/>
          <p:cNvSpPr txBox="1"/>
          <p:nvPr/>
        </p:nvSpPr>
        <p:spPr>
          <a:xfrm>
            <a:off x="11304000" y="3996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Titre de section</a:t>
            </a:r>
          </a:p>
        </p:txBody>
      </p:sp>
      <p:sp>
        <p:nvSpPr>
          <p:cNvPr id="42" name="TextBox 41"/>
          <p:cNvSpPr txBox="1"/>
          <p:nvPr/>
        </p:nvSpPr>
        <p:spPr>
          <a:xfrm>
            <a:off x="792000" y="4680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H3</a:t>
            </a:r>
          </a:p>
        </p:txBody>
      </p:sp>
      <p:sp>
        <p:nvSpPr>
          <p:cNvPr id="43" name="TextBox 42"/>
          <p:cNvSpPr txBox="1"/>
          <p:nvPr/>
        </p:nvSpPr>
        <p:spPr>
          <a:xfrm>
            <a:off x="2232000" y="4608000"/>
            <a:ext cx="3168000" cy="432000"/>
          </a:xfrm>
          <a:prstGeom prst="rect">
            <a:avLst/>
          </a:prstGeom>
          <a:noFill/>
        </p:spPr>
        <p:txBody>
          <a:bodyPr wrap="square" anchor="t" lIns="0" rIns="0" tIns="0" bIns="0">
            <a:spAutoFit/>
          </a:bodyPr>
          <a:lstStyle/>
          <a:p>
            <a:pPr algn="l">
              <a:lnSpc>
                <a:spcPct val="135000"/>
              </a:lnSpc>
              <a:spcAft>
                <a:spcPts val="400"/>
              </a:spcAft>
            </a:pPr>
            <a:r>
              <a:rPr sz="1345" b="1" i="0">
                <a:solidFill>
                  <a:srgbClr val="0F3D17"/>
                </a:solidFill>
                <a:latin typeface="Poppins"/>
              </a:rPr>
              <a:t>AgriWin Togo</a:t>
            </a:r>
          </a:p>
        </p:txBody>
      </p:sp>
      <p:sp>
        <p:nvSpPr>
          <p:cNvPr id="44" name="TextBox 43"/>
          <p:cNvSpPr txBox="1"/>
          <p:nvPr/>
        </p:nvSpPr>
        <p:spPr>
          <a:xfrm>
            <a:off x="5544000" y="4680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22px</a:t>
            </a:r>
          </a:p>
        </p:txBody>
      </p:sp>
      <p:sp>
        <p:nvSpPr>
          <p:cNvPr id="45" name="TextBox 44"/>
          <p:cNvSpPr txBox="1"/>
          <p:nvPr/>
        </p:nvSpPr>
        <p:spPr>
          <a:xfrm>
            <a:off x="7776000" y="4680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600</a:t>
            </a:r>
          </a:p>
        </p:txBody>
      </p:sp>
      <p:sp>
        <p:nvSpPr>
          <p:cNvPr id="46" name="TextBox 45"/>
          <p:cNvSpPr txBox="1"/>
          <p:nvPr/>
        </p:nvSpPr>
        <p:spPr>
          <a:xfrm>
            <a:off x="8712000" y="4680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1.3</a:t>
            </a:r>
          </a:p>
        </p:txBody>
      </p:sp>
      <p:sp>
        <p:nvSpPr>
          <p:cNvPr id="47" name="TextBox 46"/>
          <p:cNvSpPr txBox="1"/>
          <p:nvPr/>
        </p:nvSpPr>
        <p:spPr>
          <a:xfrm>
            <a:off x="9792000" y="4680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48" name="TextBox 47"/>
          <p:cNvSpPr txBox="1"/>
          <p:nvPr/>
        </p:nvSpPr>
        <p:spPr>
          <a:xfrm>
            <a:off x="11304000" y="4680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Titre de carte</a:t>
            </a:r>
          </a:p>
        </p:txBody>
      </p:sp>
      <p:sp>
        <p:nvSpPr>
          <p:cNvPr id="49" name="Rectangle 48"/>
          <p:cNvSpPr/>
          <p:nvPr/>
        </p:nvSpPr>
        <p:spPr>
          <a:xfrm>
            <a:off x="720000" y="5148000"/>
            <a:ext cx="13680000" cy="6840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92000" y="5364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Surtitre</a:t>
            </a:r>
          </a:p>
        </p:txBody>
      </p:sp>
      <p:sp>
        <p:nvSpPr>
          <p:cNvPr id="51" name="TextBox 50"/>
          <p:cNvSpPr txBox="1"/>
          <p:nvPr/>
        </p:nvSpPr>
        <p:spPr>
          <a:xfrm>
            <a:off x="2232000" y="5292000"/>
            <a:ext cx="3168000" cy="432000"/>
          </a:xfrm>
          <a:prstGeom prst="rect">
            <a:avLst/>
          </a:prstGeom>
          <a:noFill/>
        </p:spPr>
        <p:txBody>
          <a:bodyPr wrap="square" anchor="t" lIns="0" rIns="0" tIns="0" bIns="0">
            <a:spAutoFit/>
          </a:bodyPr>
          <a:lstStyle/>
          <a:p>
            <a:pPr algn="l">
              <a:lnSpc>
                <a:spcPct val="135000"/>
              </a:lnSpc>
              <a:spcAft>
                <a:spcPts val="400"/>
              </a:spcAft>
            </a:pPr>
            <a:r>
              <a:rPr sz="1345" b="1" i="0">
                <a:solidFill>
                  <a:srgbClr val="0F3D17"/>
                </a:solidFill>
                <a:latin typeface="Poppins"/>
              </a:rPr>
              <a:t>AgriWin Togo</a:t>
            </a:r>
          </a:p>
        </p:txBody>
      </p:sp>
      <p:sp>
        <p:nvSpPr>
          <p:cNvPr id="52" name="TextBox 51"/>
          <p:cNvSpPr txBox="1"/>
          <p:nvPr/>
        </p:nvSpPr>
        <p:spPr>
          <a:xfrm>
            <a:off x="5544000" y="5364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13px</a:t>
            </a:r>
          </a:p>
        </p:txBody>
      </p:sp>
      <p:sp>
        <p:nvSpPr>
          <p:cNvPr id="53" name="TextBox 52"/>
          <p:cNvSpPr txBox="1"/>
          <p:nvPr/>
        </p:nvSpPr>
        <p:spPr>
          <a:xfrm>
            <a:off x="7776000" y="5364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600</a:t>
            </a:r>
          </a:p>
        </p:txBody>
      </p:sp>
      <p:sp>
        <p:nvSpPr>
          <p:cNvPr id="54" name="TextBox 53"/>
          <p:cNvSpPr txBox="1"/>
          <p:nvPr/>
        </p:nvSpPr>
        <p:spPr>
          <a:xfrm>
            <a:off x="8712000" y="5364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1.4</a:t>
            </a:r>
          </a:p>
        </p:txBody>
      </p:sp>
      <p:sp>
        <p:nvSpPr>
          <p:cNvPr id="55" name="TextBox 54"/>
          <p:cNvSpPr txBox="1"/>
          <p:nvPr/>
        </p:nvSpPr>
        <p:spPr>
          <a:xfrm>
            <a:off x="9792000" y="5364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56" name="TextBox 55"/>
          <p:cNvSpPr txBox="1"/>
          <p:nvPr/>
        </p:nvSpPr>
        <p:spPr>
          <a:xfrm>
            <a:off x="11304000" y="5364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Pastille de section, majuscules, interlettrage 0.08em</a:t>
            </a:r>
          </a:p>
        </p:txBody>
      </p:sp>
      <p:sp>
        <p:nvSpPr>
          <p:cNvPr id="57" name="TextBox 56"/>
          <p:cNvSpPr txBox="1"/>
          <p:nvPr/>
        </p:nvSpPr>
        <p:spPr>
          <a:xfrm>
            <a:off x="792000" y="6048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Corps</a:t>
            </a:r>
          </a:p>
        </p:txBody>
      </p:sp>
      <p:sp>
        <p:nvSpPr>
          <p:cNvPr id="58" name="TextBox 57"/>
          <p:cNvSpPr txBox="1"/>
          <p:nvPr/>
        </p:nvSpPr>
        <p:spPr>
          <a:xfrm>
            <a:off x="2232000" y="5976000"/>
            <a:ext cx="3168000" cy="432000"/>
          </a:xfrm>
          <a:prstGeom prst="rect">
            <a:avLst/>
          </a:prstGeom>
          <a:noFill/>
        </p:spPr>
        <p:txBody>
          <a:bodyPr wrap="square" anchor="t" lIns="0" rIns="0" tIns="0" bIns="0">
            <a:spAutoFit/>
          </a:bodyPr>
          <a:lstStyle/>
          <a:p>
            <a:pPr algn="l">
              <a:lnSpc>
                <a:spcPct val="135000"/>
              </a:lnSpc>
              <a:spcAft>
                <a:spcPts val="400"/>
              </a:spcAft>
            </a:pPr>
            <a:r>
              <a:rPr sz="1163" b="0" i="0">
                <a:solidFill>
                  <a:srgbClr val="0F3D17"/>
                </a:solidFill>
                <a:latin typeface="Inter"/>
              </a:rPr>
              <a:t>AgriWin Togo</a:t>
            </a:r>
          </a:p>
        </p:txBody>
      </p:sp>
      <p:sp>
        <p:nvSpPr>
          <p:cNvPr id="59" name="TextBox 58"/>
          <p:cNvSpPr txBox="1"/>
          <p:nvPr/>
        </p:nvSpPr>
        <p:spPr>
          <a:xfrm>
            <a:off x="5544000" y="6048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16px</a:t>
            </a:r>
          </a:p>
        </p:txBody>
      </p:sp>
      <p:sp>
        <p:nvSpPr>
          <p:cNvPr id="60" name="TextBox 59"/>
          <p:cNvSpPr txBox="1"/>
          <p:nvPr/>
        </p:nvSpPr>
        <p:spPr>
          <a:xfrm>
            <a:off x="7776000" y="6048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400</a:t>
            </a:r>
          </a:p>
        </p:txBody>
      </p:sp>
      <p:sp>
        <p:nvSpPr>
          <p:cNvPr id="61" name="TextBox 60"/>
          <p:cNvSpPr txBox="1"/>
          <p:nvPr/>
        </p:nvSpPr>
        <p:spPr>
          <a:xfrm>
            <a:off x="8712000" y="6048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1.6</a:t>
            </a:r>
          </a:p>
        </p:txBody>
      </p:sp>
      <p:sp>
        <p:nvSpPr>
          <p:cNvPr id="62" name="TextBox 61"/>
          <p:cNvSpPr txBox="1"/>
          <p:nvPr/>
        </p:nvSpPr>
        <p:spPr>
          <a:xfrm>
            <a:off x="9792000" y="6048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Inter</a:t>
            </a:r>
          </a:p>
        </p:txBody>
      </p:sp>
      <p:sp>
        <p:nvSpPr>
          <p:cNvPr id="63" name="TextBox 62"/>
          <p:cNvSpPr txBox="1"/>
          <p:nvPr/>
        </p:nvSpPr>
        <p:spPr>
          <a:xfrm>
            <a:off x="11304000" y="6048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Texte courant</a:t>
            </a:r>
          </a:p>
        </p:txBody>
      </p:sp>
      <p:sp>
        <p:nvSpPr>
          <p:cNvPr id="64" name="Rectangle 63"/>
          <p:cNvSpPr/>
          <p:nvPr/>
        </p:nvSpPr>
        <p:spPr>
          <a:xfrm>
            <a:off x="720000" y="6516000"/>
            <a:ext cx="13680000" cy="6840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92000" y="6732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Corps large</a:t>
            </a:r>
          </a:p>
        </p:txBody>
      </p:sp>
      <p:sp>
        <p:nvSpPr>
          <p:cNvPr id="66" name="TextBox 65"/>
          <p:cNvSpPr txBox="1"/>
          <p:nvPr/>
        </p:nvSpPr>
        <p:spPr>
          <a:xfrm>
            <a:off x="2232000" y="6660000"/>
            <a:ext cx="3168000" cy="432000"/>
          </a:xfrm>
          <a:prstGeom prst="rect">
            <a:avLst/>
          </a:prstGeom>
          <a:noFill/>
        </p:spPr>
        <p:txBody>
          <a:bodyPr wrap="square" anchor="t" lIns="0" rIns="0" tIns="0" bIns="0">
            <a:spAutoFit/>
          </a:bodyPr>
          <a:lstStyle/>
          <a:p>
            <a:pPr algn="l">
              <a:lnSpc>
                <a:spcPct val="135000"/>
              </a:lnSpc>
              <a:spcAft>
                <a:spcPts val="400"/>
              </a:spcAft>
            </a:pPr>
            <a:r>
              <a:rPr sz="1163" b="0" i="0">
                <a:solidFill>
                  <a:srgbClr val="0F3D17"/>
                </a:solidFill>
                <a:latin typeface="Inter"/>
              </a:rPr>
              <a:t>AgriWin Togo</a:t>
            </a:r>
          </a:p>
        </p:txBody>
      </p:sp>
      <p:sp>
        <p:nvSpPr>
          <p:cNvPr id="67" name="TextBox 66"/>
          <p:cNvSpPr txBox="1"/>
          <p:nvPr/>
        </p:nvSpPr>
        <p:spPr>
          <a:xfrm>
            <a:off x="5544000" y="6732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18px</a:t>
            </a:r>
          </a:p>
        </p:txBody>
      </p:sp>
      <p:sp>
        <p:nvSpPr>
          <p:cNvPr id="68" name="TextBox 67"/>
          <p:cNvSpPr txBox="1"/>
          <p:nvPr/>
        </p:nvSpPr>
        <p:spPr>
          <a:xfrm>
            <a:off x="7776000" y="6732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400</a:t>
            </a:r>
          </a:p>
        </p:txBody>
      </p:sp>
      <p:sp>
        <p:nvSpPr>
          <p:cNvPr id="69" name="TextBox 68"/>
          <p:cNvSpPr txBox="1"/>
          <p:nvPr/>
        </p:nvSpPr>
        <p:spPr>
          <a:xfrm>
            <a:off x="8712000" y="6732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1.6</a:t>
            </a:r>
          </a:p>
        </p:txBody>
      </p:sp>
      <p:sp>
        <p:nvSpPr>
          <p:cNvPr id="70" name="TextBox 69"/>
          <p:cNvSpPr txBox="1"/>
          <p:nvPr/>
        </p:nvSpPr>
        <p:spPr>
          <a:xfrm>
            <a:off x="9792000" y="6732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Inter</a:t>
            </a:r>
          </a:p>
        </p:txBody>
      </p:sp>
      <p:sp>
        <p:nvSpPr>
          <p:cNvPr id="71" name="TextBox 70"/>
          <p:cNvSpPr txBox="1"/>
          <p:nvPr/>
        </p:nvSpPr>
        <p:spPr>
          <a:xfrm>
            <a:off x="11304000" y="6732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Chapô, accroche de section</a:t>
            </a:r>
          </a:p>
        </p:txBody>
      </p:sp>
      <p:sp>
        <p:nvSpPr>
          <p:cNvPr id="72" name="TextBox 71"/>
          <p:cNvSpPr txBox="1"/>
          <p:nvPr/>
        </p:nvSpPr>
        <p:spPr>
          <a:xfrm>
            <a:off x="792000" y="7416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Petit</a:t>
            </a:r>
          </a:p>
        </p:txBody>
      </p:sp>
      <p:sp>
        <p:nvSpPr>
          <p:cNvPr id="73" name="TextBox 72"/>
          <p:cNvSpPr txBox="1"/>
          <p:nvPr/>
        </p:nvSpPr>
        <p:spPr>
          <a:xfrm>
            <a:off x="2232000" y="7344000"/>
            <a:ext cx="3168000" cy="432000"/>
          </a:xfrm>
          <a:prstGeom prst="rect">
            <a:avLst/>
          </a:prstGeom>
          <a:noFill/>
        </p:spPr>
        <p:txBody>
          <a:bodyPr wrap="square" anchor="t" lIns="0" rIns="0" tIns="0" bIns="0">
            <a:spAutoFit/>
          </a:bodyPr>
          <a:lstStyle/>
          <a:p>
            <a:pPr algn="l">
              <a:lnSpc>
                <a:spcPct val="135000"/>
              </a:lnSpc>
              <a:spcAft>
                <a:spcPts val="400"/>
              </a:spcAft>
            </a:pPr>
            <a:r>
              <a:rPr sz="1163" b="0" i="0">
                <a:solidFill>
                  <a:srgbClr val="0F3D17"/>
                </a:solidFill>
                <a:latin typeface="Inter"/>
              </a:rPr>
              <a:t>AgriWin Togo</a:t>
            </a:r>
          </a:p>
        </p:txBody>
      </p:sp>
      <p:sp>
        <p:nvSpPr>
          <p:cNvPr id="74" name="TextBox 73"/>
          <p:cNvSpPr txBox="1"/>
          <p:nvPr/>
        </p:nvSpPr>
        <p:spPr>
          <a:xfrm>
            <a:off x="5544000" y="7416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14px</a:t>
            </a:r>
          </a:p>
        </p:txBody>
      </p:sp>
      <p:sp>
        <p:nvSpPr>
          <p:cNvPr id="75" name="TextBox 74"/>
          <p:cNvSpPr txBox="1"/>
          <p:nvPr/>
        </p:nvSpPr>
        <p:spPr>
          <a:xfrm>
            <a:off x="7776000" y="7416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400</a:t>
            </a:r>
          </a:p>
        </p:txBody>
      </p:sp>
      <p:sp>
        <p:nvSpPr>
          <p:cNvPr id="76" name="TextBox 75"/>
          <p:cNvSpPr txBox="1"/>
          <p:nvPr/>
        </p:nvSpPr>
        <p:spPr>
          <a:xfrm>
            <a:off x="8712000" y="7416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1.5</a:t>
            </a:r>
          </a:p>
        </p:txBody>
      </p:sp>
      <p:sp>
        <p:nvSpPr>
          <p:cNvPr id="77" name="TextBox 76"/>
          <p:cNvSpPr txBox="1"/>
          <p:nvPr/>
        </p:nvSpPr>
        <p:spPr>
          <a:xfrm>
            <a:off x="9792000" y="7416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Inter</a:t>
            </a:r>
          </a:p>
        </p:txBody>
      </p:sp>
      <p:sp>
        <p:nvSpPr>
          <p:cNvPr id="78" name="TextBox 77"/>
          <p:cNvSpPr txBox="1"/>
          <p:nvPr/>
        </p:nvSpPr>
        <p:spPr>
          <a:xfrm>
            <a:off x="11304000" y="7416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Légendes, mentions, pied de page</a:t>
            </a:r>
          </a:p>
        </p:txBody>
      </p:sp>
      <p:sp>
        <p:nvSpPr>
          <p:cNvPr id="79" name="Rectangle 78"/>
          <p:cNvSpPr/>
          <p:nvPr/>
        </p:nvSpPr>
        <p:spPr>
          <a:xfrm>
            <a:off x="720000" y="7884000"/>
            <a:ext cx="13680000" cy="684000"/>
          </a:xfrm>
          <a:prstGeom prst="rect">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792000" y="8100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Bouton</a:t>
            </a:r>
          </a:p>
        </p:txBody>
      </p:sp>
      <p:sp>
        <p:nvSpPr>
          <p:cNvPr id="81" name="TextBox 80"/>
          <p:cNvSpPr txBox="1"/>
          <p:nvPr/>
        </p:nvSpPr>
        <p:spPr>
          <a:xfrm>
            <a:off x="2232000" y="8028000"/>
            <a:ext cx="3168000" cy="432000"/>
          </a:xfrm>
          <a:prstGeom prst="rect">
            <a:avLst/>
          </a:prstGeom>
          <a:noFill/>
        </p:spPr>
        <p:txBody>
          <a:bodyPr wrap="square" anchor="t" lIns="0" rIns="0" tIns="0" bIns="0">
            <a:spAutoFit/>
          </a:bodyPr>
          <a:lstStyle/>
          <a:p>
            <a:pPr algn="l">
              <a:lnSpc>
                <a:spcPct val="135000"/>
              </a:lnSpc>
              <a:spcAft>
                <a:spcPts val="400"/>
              </a:spcAft>
            </a:pPr>
            <a:r>
              <a:rPr sz="1345" b="1" i="0">
                <a:solidFill>
                  <a:srgbClr val="0F3D17"/>
                </a:solidFill>
                <a:latin typeface="Poppins"/>
              </a:rPr>
              <a:t>AgriWin Togo</a:t>
            </a:r>
          </a:p>
        </p:txBody>
      </p:sp>
      <p:sp>
        <p:nvSpPr>
          <p:cNvPr id="82" name="TextBox 81"/>
          <p:cNvSpPr txBox="1"/>
          <p:nvPr/>
        </p:nvSpPr>
        <p:spPr>
          <a:xfrm>
            <a:off x="5544000" y="8100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15px</a:t>
            </a:r>
          </a:p>
        </p:txBody>
      </p:sp>
      <p:sp>
        <p:nvSpPr>
          <p:cNvPr id="83" name="TextBox 82"/>
          <p:cNvSpPr txBox="1"/>
          <p:nvPr/>
        </p:nvSpPr>
        <p:spPr>
          <a:xfrm>
            <a:off x="7776000" y="8100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600</a:t>
            </a:r>
          </a:p>
        </p:txBody>
      </p:sp>
      <p:sp>
        <p:nvSpPr>
          <p:cNvPr id="84" name="TextBox 83"/>
          <p:cNvSpPr txBox="1"/>
          <p:nvPr/>
        </p:nvSpPr>
        <p:spPr>
          <a:xfrm>
            <a:off x="8712000" y="8100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a:t>
            </a:r>
          </a:p>
        </p:txBody>
      </p:sp>
      <p:sp>
        <p:nvSpPr>
          <p:cNvPr id="85" name="TextBox 84"/>
          <p:cNvSpPr txBox="1"/>
          <p:nvPr/>
        </p:nvSpPr>
        <p:spPr>
          <a:xfrm>
            <a:off x="9792000" y="8100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Poppins</a:t>
            </a:r>
          </a:p>
        </p:txBody>
      </p:sp>
      <p:sp>
        <p:nvSpPr>
          <p:cNvPr id="86" name="TextBox 85"/>
          <p:cNvSpPr txBox="1"/>
          <p:nvPr/>
        </p:nvSpPr>
        <p:spPr>
          <a:xfrm>
            <a:off x="11304000" y="8100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Libellé de bouton</a:t>
            </a:r>
          </a:p>
        </p:txBody>
      </p:sp>
      <p:sp>
        <p:nvSpPr>
          <p:cNvPr id="87" name="TextBox 86"/>
          <p:cNvSpPr txBox="1"/>
          <p:nvPr/>
        </p:nvSpPr>
        <p:spPr>
          <a:xfrm>
            <a:off x="792000" y="8784000"/>
            <a:ext cx="129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205E25"/>
                </a:solidFill>
                <a:latin typeface="Poppins"/>
              </a:rPr>
              <a:t>Accroche</a:t>
            </a:r>
          </a:p>
        </p:txBody>
      </p:sp>
      <p:sp>
        <p:nvSpPr>
          <p:cNvPr id="88" name="TextBox 87"/>
          <p:cNvSpPr txBox="1"/>
          <p:nvPr/>
        </p:nvSpPr>
        <p:spPr>
          <a:xfrm>
            <a:off x="2232000" y="8712000"/>
            <a:ext cx="3168000" cy="432000"/>
          </a:xfrm>
          <a:prstGeom prst="rect">
            <a:avLst/>
          </a:prstGeom>
          <a:noFill/>
        </p:spPr>
        <p:txBody>
          <a:bodyPr wrap="square" anchor="t" lIns="0" rIns="0" tIns="0" bIns="0">
            <a:spAutoFit/>
          </a:bodyPr>
          <a:lstStyle/>
          <a:p>
            <a:pPr algn="l">
              <a:lnSpc>
                <a:spcPct val="135000"/>
              </a:lnSpc>
              <a:spcAft>
                <a:spcPts val="400"/>
              </a:spcAft>
            </a:pPr>
            <a:r>
              <a:rPr sz="1254" b="0" i="1">
                <a:solidFill>
                  <a:srgbClr val="0F3D17"/>
                </a:solidFill>
                <a:latin typeface="Playfair Display"/>
              </a:rPr>
              <a:t>AgriWin Togo</a:t>
            </a:r>
          </a:p>
        </p:txBody>
      </p:sp>
      <p:sp>
        <p:nvSpPr>
          <p:cNvPr id="89" name="TextBox 88"/>
          <p:cNvSpPr txBox="1"/>
          <p:nvPr/>
        </p:nvSpPr>
        <p:spPr>
          <a:xfrm>
            <a:off x="5544000" y="8784000"/>
            <a:ext cx="208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clamp(20px, 2.4vw, 30px)</a:t>
            </a:r>
          </a:p>
        </p:txBody>
      </p:sp>
      <p:sp>
        <p:nvSpPr>
          <p:cNvPr id="90" name="TextBox 89"/>
          <p:cNvSpPr txBox="1"/>
          <p:nvPr/>
        </p:nvSpPr>
        <p:spPr>
          <a:xfrm>
            <a:off x="7776000" y="8784000"/>
            <a:ext cx="792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500</a:t>
            </a:r>
          </a:p>
        </p:txBody>
      </p:sp>
      <p:sp>
        <p:nvSpPr>
          <p:cNvPr id="91" name="TextBox 90"/>
          <p:cNvSpPr txBox="1"/>
          <p:nvPr/>
        </p:nvSpPr>
        <p:spPr>
          <a:xfrm>
            <a:off x="8712000" y="8784000"/>
            <a:ext cx="936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1.35</a:t>
            </a:r>
          </a:p>
        </p:txBody>
      </p:sp>
      <p:sp>
        <p:nvSpPr>
          <p:cNvPr id="92" name="TextBox 91"/>
          <p:cNvSpPr txBox="1"/>
          <p:nvPr/>
        </p:nvSpPr>
        <p:spPr>
          <a:xfrm>
            <a:off x="9792000" y="8784000"/>
            <a:ext cx="1368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Playfair Display Italic</a:t>
            </a:r>
          </a:p>
        </p:txBody>
      </p:sp>
      <p:sp>
        <p:nvSpPr>
          <p:cNvPr id="93" name="TextBox 92"/>
          <p:cNvSpPr txBox="1"/>
          <p:nvPr/>
        </p:nvSpPr>
        <p:spPr>
          <a:xfrm>
            <a:off x="11304000" y="8784000"/>
            <a:ext cx="3024000" cy="432000"/>
          </a:xfrm>
          <a:prstGeom prst="rect">
            <a:avLst/>
          </a:prstGeom>
          <a:noFill/>
        </p:spPr>
        <p:txBody>
          <a:bodyPr wrap="square" anchor="t" lIns="0" rIns="0" tIns="0" bIns="0">
            <a:spAutoFit/>
          </a:bodyPr>
          <a:lstStyle/>
          <a:p>
            <a:pPr algn="l">
              <a:lnSpc>
                <a:spcPct val="135000"/>
              </a:lnSpc>
              <a:spcAft>
                <a:spcPts val="400"/>
              </a:spcAft>
            </a:pPr>
            <a:r>
              <a:rPr sz="800" b="0" i="0">
                <a:solidFill>
                  <a:srgbClr val="364033"/>
                </a:solidFill>
                <a:latin typeface="Inter"/>
              </a:rPr>
              <a:t>Mot mis en valeur dans un titre, citation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15</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Règles de composition</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17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Longueur et rythme</a:t>
            </a:r>
          </a:p>
        </p:txBody>
      </p:sp>
      <p:sp>
        <p:nvSpPr>
          <p:cNvPr id="11" name="Oval 10"/>
          <p:cNvSpPr/>
          <p:nvPr/>
        </p:nvSpPr>
        <p:spPr>
          <a:xfrm>
            <a:off x="720000" y="200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00000" y="1944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texte courant reste autour de 65 caractères par ligne.</a:t>
            </a:r>
          </a:p>
        </p:txBody>
      </p:sp>
      <p:sp>
        <p:nvSpPr>
          <p:cNvPr id="13" name="Oval 12"/>
          <p:cNvSpPr/>
          <p:nvPr/>
        </p:nvSpPr>
        <p:spPr>
          <a:xfrm>
            <a:off x="720000" y="243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0000" y="2376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Interligne 1,6 pour le texte, 1,2 pour les titres, 1,08 pour le display.</a:t>
            </a:r>
          </a:p>
        </p:txBody>
      </p:sp>
      <p:sp>
        <p:nvSpPr>
          <p:cNvPr id="15" name="Oval 14"/>
          <p:cNvSpPr/>
          <p:nvPr/>
        </p:nvSpPr>
        <p:spPr>
          <a:xfrm>
            <a:off x="720000" y="2865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0000" y="2808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Un seul niveau de titre par bloc : un h2 par section, des h3 ensuite.</a:t>
            </a:r>
          </a:p>
        </p:txBody>
      </p:sp>
      <p:sp>
        <p:nvSpPr>
          <p:cNvPr id="17" name="Oval 16"/>
          <p:cNvSpPr/>
          <p:nvPr/>
        </p:nvSpPr>
        <p:spPr>
          <a:xfrm>
            <a:off x="720000" y="329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0000" y="3240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chapô tient sous 220 caractères ; au-delà, c'est un paragraphe.</a:t>
            </a:r>
          </a:p>
        </p:txBody>
      </p:sp>
      <p:sp>
        <p:nvSpPr>
          <p:cNvPr id="19" name="TextBox 18"/>
          <p:cNvSpPr txBox="1"/>
          <p:nvPr/>
        </p:nvSpPr>
        <p:spPr>
          <a:xfrm>
            <a:off x="720000" y="396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Capitales et interlettrage</a:t>
            </a:r>
          </a:p>
        </p:txBody>
      </p:sp>
      <p:sp>
        <p:nvSpPr>
          <p:cNvPr id="20" name="Oval 19"/>
          <p:cNvSpPr/>
          <p:nvPr/>
        </p:nvSpPr>
        <p:spPr>
          <a:xfrm>
            <a:off x="720000" y="452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0000" y="4464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Seuls les surtitres sont en capitales, avec 0,08 em d'interlettrage.</a:t>
            </a:r>
          </a:p>
        </p:txBody>
      </p:sp>
      <p:sp>
        <p:nvSpPr>
          <p:cNvPr id="22" name="Oval 21"/>
          <p:cNvSpPr/>
          <p:nvPr/>
        </p:nvSpPr>
        <p:spPr>
          <a:xfrm>
            <a:off x="720000" y="495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0000" y="4896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nom de la marque ne se met jamais en capitales dans une phrase.</a:t>
            </a:r>
          </a:p>
        </p:txBody>
      </p:sp>
      <p:sp>
        <p:nvSpPr>
          <p:cNvPr id="24" name="Oval 23"/>
          <p:cNvSpPr/>
          <p:nvPr/>
        </p:nvSpPr>
        <p:spPr>
          <a:xfrm>
            <a:off x="720000" y="5385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00000" y="5328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Les titres en display prennent −0,02 em pour resserrer les blancs.</a:t>
            </a:r>
          </a:p>
        </p:txBody>
      </p:sp>
      <p:sp>
        <p:nvSpPr>
          <p:cNvPr id="26" name="Oval 25"/>
          <p:cNvSpPr/>
          <p:nvPr/>
        </p:nvSpPr>
        <p:spPr>
          <a:xfrm>
            <a:off x="720000" y="581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00000" y="5760000"/>
            <a:ext cx="6300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Aucun texte courant en capitales : la lecture chute.</a:t>
            </a:r>
          </a:p>
        </p:txBody>
      </p:sp>
      <p:sp>
        <p:nvSpPr>
          <p:cNvPr id="28" name="TextBox 27"/>
          <p:cNvSpPr txBox="1"/>
          <p:nvPr/>
        </p:nvSpPr>
        <p:spPr>
          <a:xfrm>
            <a:off x="720000" y="648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L'accent Playfair</a:t>
            </a:r>
          </a:p>
        </p:txBody>
      </p:sp>
      <p:sp>
        <p:nvSpPr>
          <p:cNvPr id="29" name="TextBox 28"/>
          <p:cNvSpPr txBox="1"/>
          <p:nvPr/>
        </p:nvSpPr>
        <p:spPr>
          <a:xfrm>
            <a:off x="720000" y="6984000"/>
            <a:ext cx="6480000" cy="720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Un à trois mots dans un titre de section, en italique gold-700. Un seul par page. Un paragraphe entier en Playfair est une faute.</a:t>
            </a:r>
          </a:p>
        </p:txBody>
      </p:sp>
      <p:sp>
        <p:nvSpPr>
          <p:cNvPr id="30" name="TextBox 29"/>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Trois compositions types</a:t>
            </a:r>
          </a:p>
        </p:txBody>
      </p:sp>
      <p:sp>
        <p:nvSpPr>
          <p:cNvPr id="31" name="Rounded Rectangle 30"/>
          <p:cNvSpPr/>
          <p:nvPr/>
        </p:nvSpPr>
        <p:spPr>
          <a:xfrm>
            <a:off x="8100000" y="1944000"/>
            <a:ext cx="6300000" cy="2232000"/>
          </a:xfrm>
          <a:prstGeom prst="roundRect">
            <a:avLst>
              <a:gd name="adj" fmla="val 6000"/>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388000" y="2232000"/>
            <a:ext cx="2088000" cy="324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532000" y="2304000"/>
            <a:ext cx="1872000" cy="216000"/>
          </a:xfrm>
          <a:prstGeom prst="rect">
            <a:avLst/>
          </a:prstGeom>
          <a:noFill/>
        </p:spPr>
        <p:txBody>
          <a:bodyPr wrap="square" anchor="t" lIns="0" rIns="0" tIns="0" bIns="0">
            <a:spAutoFit/>
          </a:bodyPr>
          <a:lstStyle/>
          <a:p>
            <a:pPr algn="l">
              <a:lnSpc>
                <a:spcPct val="135000"/>
              </a:lnSpc>
              <a:spcAft>
                <a:spcPts val="400"/>
              </a:spcAft>
            </a:pPr>
            <a:r>
              <a:rPr sz="750" b="1" i="0">
                <a:solidFill>
                  <a:srgbClr val="1B5E20"/>
                </a:solidFill>
                <a:latin typeface="Poppins"/>
              </a:rPr>
              <a:t>CE QUE NOUS FAISONS</a:t>
            </a:r>
          </a:p>
        </p:txBody>
      </p:sp>
      <p:sp>
        <p:nvSpPr>
          <p:cNvPr id="34" name="TextBox 33"/>
          <p:cNvSpPr txBox="1"/>
          <p:nvPr/>
        </p:nvSpPr>
        <p:spPr>
          <a:xfrm>
            <a:off x="8388000" y="2736000"/>
            <a:ext cx="5688000" cy="432000"/>
          </a:xfrm>
          <a:prstGeom prst="rect">
            <a:avLst/>
          </a:prstGeom>
          <a:noFill/>
        </p:spPr>
        <p:txBody>
          <a:bodyPr wrap="square" anchor="t" lIns="0" rIns="0" tIns="0" bIns="0">
            <a:spAutoFit/>
          </a:bodyPr>
          <a:lstStyle/>
          <a:p>
            <a:pPr algn="l">
              <a:lnSpc>
                <a:spcPct val="135000"/>
              </a:lnSpc>
              <a:spcAft>
                <a:spcPts val="400"/>
              </a:spcAft>
            </a:pPr>
            <a:r>
              <a:rPr sz="1700" b="1" i="0">
                <a:solidFill>
                  <a:srgbClr val="0F3D17"/>
                </a:solidFill>
                <a:latin typeface="Poppins"/>
              </a:rPr>
              <a:t>Une expertise agricole complète,</a:t>
            </a:r>
          </a:p>
        </p:txBody>
      </p:sp>
      <p:sp>
        <p:nvSpPr>
          <p:cNvPr id="35" name="TextBox 34"/>
          <p:cNvSpPr txBox="1"/>
          <p:nvPr/>
        </p:nvSpPr>
        <p:spPr>
          <a:xfrm>
            <a:off x="8388000" y="3168000"/>
            <a:ext cx="5688000" cy="360000"/>
          </a:xfrm>
          <a:prstGeom prst="rect">
            <a:avLst/>
          </a:prstGeom>
          <a:noFill/>
        </p:spPr>
        <p:txBody>
          <a:bodyPr wrap="square" anchor="t" lIns="0" rIns="0" tIns="0" bIns="0">
            <a:spAutoFit/>
          </a:bodyPr>
          <a:lstStyle/>
          <a:p>
            <a:pPr algn="l">
              <a:lnSpc>
                <a:spcPct val="135000"/>
              </a:lnSpc>
              <a:spcAft>
                <a:spcPts val="400"/>
              </a:spcAft>
            </a:pPr>
            <a:r>
              <a:rPr sz="1700" b="0" i="1">
                <a:solidFill>
                  <a:srgbClr val="9A6412"/>
                </a:solidFill>
                <a:latin typeface="Playfair Display"/>
              </a:rPr>
              <a:t>sur le terrain</a:t>
            </a:r>
          </a:p>
        </p:txBody>
      </p:sp>
      <p:sp>
        <p:nvSpPr>
          <p:cNvPr id="36" name="TextBox 35"/>
          <p:cNvSpPr txBox="1"/>
          <p:nvPr/>
        </p:nvSpPr>
        <p:spPr>
          <a:xfrm>
            <a:off x="8388000" y="3600000"/>
            <a:ext cx="5688000" cy="432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Conseil, formation, pépinière et écoulement des récoltes.</a:t>
            </a:r>
          </a:p>
        </p:txBody>
      </p:sp>
      <p:sp>
        <p:nvSpPr>
          <p:cNvPr id="37" name="Rounded Rectangle 36"/>
          <p:cNvSpPr/>
          <p:nvPr/>
        </p:nvSpPr>
        <p:spPr>
          <a:xfrm>
            <a:off x="8100000" y="4464000"/>
            <a:ext cx="6300000" cy="1656000"/>
          </a:xfrm>
          <a:prstGeom prst="roundRect">
            <a:avLst>
              <a:gd name="adj" fmla="val 6000"/>
            </a:avLst>
          </a:prstGeom>
          <a:gradFill rotWithShape="1">
            <a:gsLst>
              <a:gs pos="0">
                <a:srgbClr val="1B5E20"/>
              </a:gs>
              <a:gs pos="100000">
                <a:srgbClr val="388E3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60000" y="4824000"/>
            <a:ext cx="5580000" cy="360000"/>
          </a:xfrm>
          <a:prstGeom prst="rect">
            <a:avLst/>
          </a:prstGeom>
          <a:noFill/>
        </p:spPr>
        <p:txBody>
          <a:bodyPr wrap="square" anchor="t" lIns="0" rIns="0" tIns="0" bIns="0">
            <a:spAutoFit/>
          </a:bodyPr>
          <a:lstStyle/>
          <a:p>
            <a:pPr algn="l">
              <a:lnSpc>
                <a:spcPct val="135000"/>
              </a:lnSpc>
              <a:spcAft>
                <a:spcPts val="400"/>
              </a:spcAft>
            </a:pPr>
            <a:r>
              <a:rPr sz="1600" b="1" i="0">
                <a:solidFill>
                  <a:srgbClr val="FFFFFF"/>
                </a:solidFill>
                <a:latin typeface="Poppins"/>
              </a:rPr>
              <a:t>Un projet agricole en tête ?</a:t>
            </a:r>
          </a:p>
        </p:txBody>
      </p:sp>
      <p:sp>
        <p:nvSpPr>
          <p:cNvPr id="39" name="TextBox 38"/>
          <p:cNvSpPr txBox="1"/>
          <p:nvPr/>
        </p:nvSpPr>
        <p:spPr>
          <a:xfrm>
            <a:off x="8460000" y="5328000"/>
            <a:ext cx="5580000" cy="504000"/>
          </a:xfrm>
          <a:prstGeom prst="rect">
            <a:avLst/>
          </a:prstGeom>
          <a:noFill/>
        </p:spPr>
        <p:txBody>
          <a:bodyPr wrap="square" anchor="t" lIns="0" rIns="0" tIns="0" bIns="0">
            <a:spAutoFit/>
          </a:bodyPr>
          <a:lstStyle/>
          <a:p>
            <a:pPr algn="l">
              <a:lnSpc>
                <a:spcPct val="135000"/>
              </a:lnSpc>
              <a:spcAft>
                <a:spcPts val="400"/>
              </a:spcAft>
            </a:pPr>
            <a:r>
              <a:rPr sz="1000" b="0" i="0">
                <a:solidFill>
                  <a:srgbClr val="E3EBE0"/>
                </a:solidFill>
                <a:latin typeface="Inter"/>
              </a:rPr>
              <a:t>Décrivez-nous votre besoin : nos experts vous répondent avec un devis clair.</a:t>
            </a:r>
          </a:p>
        </p:txBody>
      </p:sp>
      <p:sp>
        <p:nvSpPr>
          <p:cNvPr id="40" name="Rounded Rectangle 39"/>
          <p:cNvSpPr/>
          <p:nvPr/>
        </p:nvSpPr>
        <p:spPr>
          <a:xfrm>
            <a:off x="8100000" y="6408000"/>
            <a:ext cx="6300000" cy="1584000"/>
          </a:xfrm>
          <a:prstGeom prst="roundRect">
            <a:avLst>
              <a:gd name="adj" fmla="val 6000"/>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388000" y="6696000"/>
            <a:ext cx="5688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Pépinière &amp; plants tropicaux</a:t>
            </a:r>
          </a:p>
        </p:txBody>
      </p:sp>
      <p:sp>
        <p:nvSpPr>
          <p:cNvPr id="42" name="TextBox 41"/>
          <p:cNvSpPr txBox="1"/>
          <p:nvPr/>
        </p:nvSpPr>
        <p:spPr>
          <a:xfrm>
            <a:off x="8388000" y="7128000"/>
            <a:ext cx="5688000" cy="648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Manguiers, avocatiers, cocotiers, agrumes, teck, moringa — chaque plant est contrôlé avant de quitter la pépinière de Kégué.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16</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Iconographie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18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224000" y="18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0000" y="25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leaf</a:t>
            </a:r>
          </a:p>
        </p:txBody>
      </p:sp>
      <p:sp>
        <p:nvSpPr>
          <p:cNvPr id="13" name="TextBox 12"/>
          <p:cNvSpPr txBox="1"/>
          <p:nvPr/>
        </p:nvSpPr>
        <p:spPr>
          <a:xfrm>
            <a:off x="720000" y="27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Conseil, pépinière</a:t>
            </a:r>
          </a:p>
        </p:txBody>
      </p:sp>
      <p:sp>
        <p:nvSpPr>
          <p:cNvPr id="14" name="Rounded Rectangle 13"/>
          <p:cNvSpPr/>
          <p:nvPr/>
        </p:nvSpPr>
        <p:spPr>
          <a:xfrm>
            <a:off x="2412000" y="15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916000" y="18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412000" y="25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school</a:t>
            </a:r>
          </a:p>
        </p:txBody>
      </p:sp>
      <p:sp>
        <p:nvSpPr>
          <p:cNvPr id="17" name="TextBox 16"/>
          <p:cNvSpPr txBox="1"/>
          <p:nvPr/>
        </p:nvSpPr>
        <p:spPr>
          <a:xfrm>
            <a:off x="2412000" y="27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Formation</a:t>
            </a:r>
          </a:p>
        </p:txBody>
      </p:sp>
      <p:sp>
        <p:nvSpPr>
          <p:cNvPr id="18" name="Rounded Rectangle 17"/>
          <p:cNvSpPr/>
          <p:nvPr/>
        </p:nvSpPr>
        <p:spPr>
          <a:xfrm>
            <a:off x="4104000" y="15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608000" y="18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04000" y="25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users</a:t>
            </a:r>
          </a:p>
        </p:txBody>
      </p:sp>
      <p:sp>
        <p:nvSpPr>
          <p:cNvPr id="21" name="TextBox 20"/>
          <p:cNvSpPr txBox="1"/>
          <p:nvPr/>
        </p:nvSpPr>
        <p:spPr>
          <a:xfrm>
            <a:off x="4104000" y="27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Élevage, équipe</a:t>
            </a:r>
          </a:p>
        </p:txBody>
      </p:sp>
      <p:sp>
        <p:nvSpPr>
          <p:cNvPr id="22" name="Rounded Rectangle 21"/>
          <p:cNvSpPr/>
          <p:nvPr/>
        </p:nvSpPr>
        <p:spPr>
          <a:xfrm>
            <a:off x="5796000" y="15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300000" y="18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796000" y="25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shield</a:t>
            </a:r>
          </a:p>
        </p:txBody>
      </p:sp>
      <p:sp>
        <p:nvSpPr>
          <p:cNvPr id="25" name="TextBox 24"/>
          <p:cNvSpPr txBox="1"/>
          <p:nvPr/>
        </p:nvSpPr>
        <p:spPr>
          <a:xfrm>
            <a:off x="5796000" y="27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Fiabilité</a:t>
            </a:r>
          </a:p>
        </p:txBody>
      </p:sp>
      <p:sp>
        <p:nvSpPr>
          <p:cNvPr id="26" name="Rounded Rectangle 25"/>
          <p:cNvSpPr/>
          <p:nvPr/>
        </p:nvSpPr>
        <p:spPr>
          <a:xfrm>
            <a:off x="720000" y="33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224000" y="36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20000" y="43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target</a:t>
            </a:r>
          </a:p>
        </p:txBody>
      </p:sp>
      <p:sp>
        <p:nvSpPr>
          <p:cNvPr id="29" name="TextBox 28"/>
          <p:cNvSpPr txBox="1"/>
          <p:nvPr/>
        </p:nvSpPr>
        <p:spPr>
          <a:xfrm>
            <a:off x="720000" y="45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Qualité, mission</a:t>
            </a:r>
          </a:p>
        </p:txBody>
      </p:sp>
      <p:sp>
        <p:nvSpPr>
          <p:cNvPr id="30" name="Rounded Rectangle 29"/>
          <p:cNvSpPr/>
          <p:nvPr/>
        </p:nvSpPr>
        <p:spPr>
          <a:xfrm>
            <a:off x="2412000" y="33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2916000" y="36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412000" y="43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arrow</a:t>
            </a:r>
          </a:p>
        </p:txBody>
      </p:sp>
      <p:sp>
        <p:nvSpPr>
          <p:cNvPr id="33" name="TextBox 32"/>
          <p:cNvSpPr txBox="1"/>
          <p:nvPr/>
        </p:nvSpPr>
        <p:spPr>
          <a:xfrm>
            <a:off x="2412000" y="45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Lien, progression</a:t>
            </a:r>
          </a:p>
        </p:txBody>
      </p:sp>
      <p:sp>
        <p:nvSpPr>
          <p:cNvPr id="34" name="Rounded Rectangle 33"/>
          <p:cNvSpPr/>
          <p:nvPr/>
        </p:nvSpPr>
        <p:spPr>
          <a:xfrm>
            <a:off x="4104000" y="33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4608000" y="36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104000" y="43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phone</a:t>
            </a:r>
          </a:p>
        </p:txBody>
      </p:sp>
      <p:sp>
        <p:nvSpPr>
          <p:cNvPr id="37" name="TextBox 36"/>
          <p:cNvSpPr txBox="1"/>
          <p:nvPr/>
        </p:nvSpPr>
        <p:spPr>
          <a:xfrm>
            <a:off x="4104000" y="45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Téléphone, WhatsApp</a:t>
            </a:r>
          </a:p>
        </p:txBody>
      </p:sp>
      <p:sp>
        <p:nvSpPr>
          <p:cNvPr id="38" name="Rounded Rectangle 37"/>
          <p:cNvSpPr/>
          <p:nvPr/>
        </p:nvSpPr>
        <p:spPr>
          <a:xfrm>
            <a:off x="5796000" y="33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6300000" y="36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796000" y="43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mail</a:t>
            </a:r>
          </a:p>
        </p:txBody>
      </p:sp>
      <p:sp>
        <p:nvSpPr>
          <p:cNvPr id="41" name="TextBox 40"/>
          <p:cNvSpPr txBox="1"/>
          <p:nvPr/>
        </p:nvSpPr>
        <p:spPr>
          <a:xfrm>
            <a:off x="5796000" y="45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E-mail</a:t>
            </a:r>
          </a:p>
        </p:txBody>
      </p:sp>
      <p:sp>
        <p:nvSpPr>
          <p:cNvPr id="42" name="Rounded Rectangle 41"/>
          <p:cNvSpPr/>
          <p:nvPr/>
        </p:nvSpPr>
        <p:spPr>
          <a:xfrm>
            <a:off x="720000" y="51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224000" y="54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20000" y="61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pin</a:t>
            </a:r>
          </a:p>
        </p:txBody>
      </p:sp>
      <p:sp>
        <p:nvSpPr>
          <p:cNvPr id="45" name="TextBox 44"/>
          <p:cNvSpPr txBox="1"/>
          <p:nvPr/>
        </p:nvSpPr>
        <p:spPr>
          <a:xfrm>
            <a:off x="720000" y="63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Adresse</a:t>
            </a:r>
          </a:p>
        </p:txBody>
      </p:sp>
      <p:sp>
        <p:nvSpPr>
          <p:cNvPr id="46" name="Rounded Rectangle 45"/>
          <p:cNvSpPr/>
          <p:nvPr/>
        </p:nvSpPr>
        <p:spPr>
          <a:xfrm>
            <a:off x="2412000" y="51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2916000" y="54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2412000" y="61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calendar</a:t>
            </a:r>
          </a:p>
        </p:txBody>
      </p:sp>
      <p:sp>
        <p:nvSpPr>
          <p:cNvPr id="49" name="TextBox 48"/>
          <p:cNvSpPr txBox="1"/>
          <p:nvPr/>
        </p:nvSpPr>
        <p:spPr>
          <a:xfrm>
            <a:off x="2412000" y="63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Horaires</a:t>
            </a:r>
          </a:p>
        </p:txBody>
      </p:sp>
      <p:sp>
        <p:nvSpPr>
          <p:cNvPr id="50" name="Rounded Rectangle 49"/>
          <p:cNvSpPr/>
          <p:nvPr/>
        </p:nvSpPr>
        <p:spPr>
          <a:xfrm>
            <a:off x="4104000" y="51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4608000" y="54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104000" y="61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check</a:t>
            </a:r>
          </a:p>
        </p:txBody>
      </p:sp>
      <p:sp>
        <p:nvSpPr>
          <p:cNvPr id="53" name="TextBox 52"/>
          <p:cNvSpPr txBox="1"/>
          <p:nvPr/>
        </p:nvSpPr>
        <p:spPr>
          <a:xfrm>
            <a:off x="4104000" y="63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Confirmation</a:t>
            </a:r>
          </a:p>
        </p:txBody>
      </p:sp>
      <p:sp>
        <p:nvSpPr>
          <p:cNvPr id="54" name="Rounded Rectangle 53"/>
          <p:cNvSpPr/>
          <p:nvPr/>
        </p:nvSpPr>
        <p:spPr>
          <a:xfrm>
            <a:off x="5796000" y="5112000"/>
            <a:ext cx="1584000" cy="1584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6300000" y="5472000"/>
            <a:ext cx="576000" cy="576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796000" y="6120000"/>
            <a:ext cx="1584000" cy="216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search</a:t>
            </a:r>
          </a:p>
        </p:txBody>
      </p:sp>
      <p:sp>
        <p:nvSpPr>
          <p:cNvPr id="57" name="TextBox 56"/>
          <p:cNvSpPr txBox="1"/>
          <p:nvPr/>
        </p:nvSpPr>
        <p:spPr>
          <a:xfrm>
            <a:off x="5796000" y="6336000"/>
            <a:ext cx="1584000" cy="288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Inter"/>
              </a:rPr>
              <a:t>Recherche</a:t>
            </a:r>
          </a:p>
        </p:txBody>
      </p:sp>
      <p:sp>
        <p:nvSpPr>
          <p:cNvPr id="58" name="TextBox 57"/>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La règle de tracé</a:t>
            </a:r>
          </a:p>
        </p:txBody>
      </p:sp>
      <p:graphicFrame>
        <p:nvGraphicFramePr>
          <p:cNvPr id="59" name="Table 58"/>
          <p:cNvGraphicFramePr>
            <a:graphicFrameLocks noGrp="1"/>
          </p:cNvGraphicFramePr>
          <p:nvPr/>
        </p:nvGraphicFramePr>
        <p:xfrm>
          <a:off x="8100000" y="1872000"/>
          <a:ext cx="6300000" cy="2376000"/>
        </p:xfrm>
        <a:graphic>
          <a:graphicData uri="http://schemas.openxmlformats.org/drawingml/2006/table">
            <a:tbl>
              <a:tblPr firstRow="1" bandRow="1">
                <a:tableStyleId>{5C22544A-7EE6-4342-B048-85BDC9FD1C3A}</a:tableStyleId>
              </a:tblPr>
              <a:tblGrid>
                <a:gridCol w="2142000"/>
                <a:gridCol w="4158000"/>
              </a:tblGrid>
              <a:tr h="396000">
                <a:tc>
                  <a:txBody>
                    <a:bodyPr/>
                    <a:lstStyle/>
                    <a:p>
                      <a:pPr>
                        <a:lnSpc>
                          <a:spcPct val="125000"/>
                        </a:lnSpc>
                      </a:pPr>
                      <a:r>
                        <a:rPr sz="900" b="1">
                          <a:solidFill>
                            <a:srgbClr val="FFFFFF"/>
                          </a:solidFill>
                          <a:latin typeface="Poppins"/>
                        </a:rPr>
                        <a:t>PARAMÈTRE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VALEUR</a:t>
                      </a:r>
                    </a:p>
                  </a:txBody>
                  <a:tcPr marL="90000" marR="90000" marT="50400" marB="50400" anchor="ctr">
                    <a:solidFill>
                      <a:srgbClr val="1B5E20"/>
                    </a:solidFill>
                  </a:tcPr>
                </a:tc>
              </a:tr>
              <a:tr h="396000">
                <a:tc>
                  <a:txBody>
                    <a:bodyPr/>
                    <a:lstStyle/>
                    <a:p>
                      <a:pPr>
                        <a:lnSpc>
                          <a:spcPct val="125000"/>
                        </a:lnSpc>
                      </a:pPr>
                      <a:r>
                        <a:rPr sz="900" b="1">
                          <a:solidFill>
                            <a:srgbClr val="0F3D17"/>
                          </a:solidFill>
                          <a:latin typeface="Poppins"/>
                        </a:rPr>
                        <a:t>Grille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24 × 24, marge optique de 2 unités</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Trait</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2 unités, jamais de remplissage</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Extrémités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Arrondies (round cap et round join)</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Couleur</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Héritée du texte voisin (currentColor)</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Angles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Rayon minimal de 2 unités ; pas d'angle vif</a:t>
                      </a:r>
                    </a:p>
                  </a:txBody>
                  <a:tcPr marL="90000" marR="90000" marT="50400" marB="50400" anchor="ctr">
                    <a:solidFill>
                      <a:srgbClr val="FFFFFF"/>
                    </a:solidFill>
                  </a:tcPr>
                </a:tc>
              </a:tr>
            </a:tbl>
          </a:graphicData>
        </a:graphic>
      </p:graphicFrame>
      <p:sp>
        <p:nvSpPr>
          <p:cNvPr id="60" name="TextBox 59"/>
          <p:cNvSpPr txBox="1"/>
          <p:nvPr/>
        </p:nvSpPr>
        <p:spPr>
          <a:xfrm>
            <a:off x="8100000" y="446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Deux traitements</a:t>
            </a:r>
          </a:p>
        </p:txBody>
      </p:sp>
      <p:sp>
        <p:nvSpPr>
          <p:cNvPr id="61" name="Rounded Rectangle 60"/>
          <p:cNvSpPr/>
          <p:nvPr/>
        </p:nvSpPr>
        <p:spPr>
          <a:xfrm>
            <a:off x="8100000" y="4968000"/>
            <a:ext cx="648000" cy="648000"/>
          </a:xfrm>
          <a:prstGeom prst="roundRect">
            <a:avLst>
              <a:gd name="adj" fmla="val 6000"/>
            </a:avLst>
          </a:prstGeom>
          <a:gradFill rotWithShape="1">
            <a:gsLst>
              <a:gs pos="0">
                <a:srgbClr val="2E7D32"/>
              </a:gs>
              <a:gs pos="100000">
                <a:srgbClr val="4E9F3D"/>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928000" y="4968000"/>
            <a:ext cx="5472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En carte service</a:t>
            </a:r>
          </a:p>
        </p:txBody>
      </p:sp>
      <p:sp>
        <p:nvSpPr>
          <p:cNvPr id="63" name="TextBox 62"/>
          <p:cNvSpPr txBox="1"/>
          <p:nvPr/>
        </p:nvSpPr>
        <p:spPr>
          <a:xfrm>
            <a:off x="8928000" y="5256000"/>
            <a:ext cx="5472000" cy="50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Blanc dans un carré de 58 px, rayon radius-md, dégradé green-700 → green-500.</a:t>
            </a:r>
          </a:p>
        </p:txBody>
      </p:sp>
      <p:sp>
        <p:nvSpPr>
          <p:cNvPr id="64" name="Rounded Rectangle 63"/>
          <p:cNvSpPr/>
          <p:nvPr/>
        </p:nvSpPr>
        <p:spPr>
          <a:xfrm>
            <a:off x="8100000" y="5904000"/>
            <a:ext cx="648000" cy="648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928000" y="5904000"/>
            <a:ext cx="5472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Partout ailleurs</a:t>
            </a:r>
          </a:p>
        </p:txBody>
      </p:sp>
      <p:sp>
        <p:nvSpPr>
          <p:cNvPr id="66" name="TextBox 65"/>
          <p:cNvSpPr txBox="1"/>
          <p:nvPr/>
        </p:nvSpPr>
        <p:spPr>
          <a:xfrm>
            <a:off x="8928000" y="6192000"/>
            <a:ext cx="5472000" cy="50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Au trait, de la couleur du texte à côté duquel il se place.</a:t>
            </a:r>
          </a:p>
        </p:txBody>
      </p:sp>
      <p:sp>
        <p:nvSpPr>
          <p:cNvPr id="67" name="TextBox 66"/>
          <p:cNvSpPr txBox="1"/>
          <p:nvPr/>
        </p:nvSpPr>
        <p:spPr>
          <a:xfrm>
            <a:off x="8100000" y="7128000"/>
            <a:ext cx="6300000" cy="864000"/>
          </a:xfrm>
          <a:prstGeom prst="rect">
            <a:avLst/>
          </a:prstGeom>
          <a:noFill/>
        </p:spPr>
        <p:txBody>
          <a:bodyPr wrap="square" anchor="t" lIns="0" rIns="0" tIns="0" bIns="0">
            <a:spAutoFit/>
          </a:bodyPr>
          <a:lstStyle/>
          <a:p>
            <a:pPr algn="l">
              <a:lnSpc>
                <a:spcPct val="135000"/>
              </a:lnSpc>
              <a:spcAft>
                <a:spcPts val="400"/>
              </a:spcAft>
            </a:pPr>
            <a:r>
              <a:rPr sz="950" b="0" i="0">
                <a:solidFill>
                  <a:srgbClr val="5C665A"/>
                </a:solidFill>
                <a:latin typeface="Inter"/>
              </a:rPr>
              <a:t>Ces douze tracés sont ceux du site AgriWin Togo. Pour un besoin nouveau, dessinez dans la même grille plutôt que d'importer un autre jeu d'icônes. Un pictogramme ne remplace jamais un libellé : il l'accompagne.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17</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Photographie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19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Ce que l'on photographie</a:t>
            </a:r>
          </a:p>
        </p:txBody>
      </p:sp>
      <p:sp>
        <p:nvSpPr>
          <p:cNvPr id="11" name="Oval 10"/>
          <p:cNvSpPr/>
          <p:nvPr/>
        </p:nvSpPr>
        <p:spPr>
          <a:xfrm>
            <a:off x="720000" y="200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00000" y="1944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Des mains au travail : semis, repiquage, greffe, mise en terre.</a:t>
            </a:r>
          </a:p>
        </p:txBody>
      </p:sp>
      <p:sp>
        <p:nvSpPr>
          <p:cNvPr id="13" name="Oval 12"/>
          <p:cNvSpPr/>
          <p:nvPr/>
        </p:nvSpPr>
        <p:spPr>
          <a:xfrm>
            <a:off x="720000" y="239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0000" y="2340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Des plateaux de jeunes plants, en rangs, dans la pépinière.</a:t>
            </a:r>
          </a:p>
        </p:txBody>
      </p:sp>
      <p:sp>
        <p:nvSpPr>
          <p:cNvPr id="15" name="Oval 14"/>
          <p:cNvSpPr/>
          <p:nvPr/>
        </p:nvSpPr>
        <p:spPr>
          <a:xfrm>
            <a:off x="720000" y="279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0000" y="2736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Des gens réels de l'équipe et des clients — pas des poses.</a:t>
            </a:r>
          </a:p>
        </p:txBody>
      </p:sp>
      <p:sp>
        <p:nvSpPr>
          <p:cNvPr id="17" name="Oval 16"/>
          <p:cNvSpPr/>
          <p:nvPr/>
        </p:nvSpPr>
        <p:spPr>
          <a:xfrm>
            <a:off x="720000" y="3189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0000" y="3132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marché et la distribution : la récolte qui trouve son débouché.</a:t>
            </a:r>
          </a:p>
        </p:txBody>
      </p:sp>
      <p:sp>
        <p:nvSpPr>
          <p:cNvPr id="19" name="Oval 18"/>
          <p:cNvSpPr/>
          <p:nvPr/>
        </p:nvSpPr>
        <p:spPr>
          <a:xfrm>
            <a:off x="720000" y="3585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0000" y="3528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terrain avant et après : la preuve d'une prestation.</a:t>
            </a:r>
          </a:p>
        </p:txBody>
      </p:sp>
      <p:sp>
        <p:nvSpPr>
          <p:cNvPr id="21" name="TextBox 20"/>
          <p:cNvSpPr txBox="1"/>
          <p:nvPr/>
        </p:nvSpPr>
        <p:spPr>
          <a:xfrm>
            <a:off x="720000" y="4248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Comment on la prend</a:t>
            </a:r>
          </a:p>
        </p:txBody>
      </p:sp>
      <p:graphicFrame>
        <p:nvGraphicFramePr>
          <p:cNvPr id="22" name="Table 21"/>
          <p:cNvGraphicFramePr>
            <a:graphicFrameLocks noGrp="1"/>
          </p:cNvGraphicFramePr>
          <p:nvPr/>
        </p:nvGraphicFramePr>
        <p:xfrm>
          <a:off x="720000" y="4680000"/>
          <a:ext cx="6480000" cy="3024000"/>
        </p:xfrm>
        <a:graphic>
          <a:graphicData uri="http://schemas.openxmlformats.org/drawingml/2006/table">
            <a:tbl>
              <a:tblPr firstRow="1" bandRow="1">
                <a:tableStyleId>{5C22544A-7EE6-4342-B048-85BDC9FD1C3A}</a:tableStyleId>
              </a:tblPr>
              <a:tblGrid>
                <a:gridCol w="1684800"/>
                <a:gridCol w="4795200"/>
              </a:tblGrid>
              <a:tr h="504000">
                <a:tc>
                  <a:txBody>
                    <a:bodyPr/>
                    <a:lstStyle/>
                    <a:p>
                      <a:pPr>
                        <a:lnSpc>
                          <a:spcPct val="125000"/>
                        </a:lnSpc>
                      </a:pPr>
                      <a:r>
                        <a:rPr sz="900" b="1">
                          <a:solidFill>
                            <a:srgbClr val="FFFFFF"/>
                          </a:solidFill>
                          <a:latin typeface="Poppins"/>
                        </a:rPr>
                        <a:t>PARAMÈTRE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RÈGLE</a:t>
                      </a:r>
                    </a:p>
                  </a:txBody>
                  <a:tcPr marL="90000" marR="90000" marT="50400" marB="50400" anchor="ctr">
                    <a:solidFill>
                      <a:srgbClr val="1B5E20"/>
                    </a:solidFill>
                  </a:tcPr>
                </a:tc>
              </a:tr>
              <a:tr h="504000">
                <a:tc>
                  <a:txBody>
                    <a:bodyPr/>
                    <a:lstStyle/>
                    <a:p>
                      <a:pPr>
                        <a:lnSpc>
                          <a:spcPct val="125000"/>
                        </a:lnSpc>
                      </a:pPr>
                      <a:r>
                        <a:rPr sz="900" b="1">
                          <a:solidFill>
                            <a:srgbClr val="0F3D17"/>
                          </a:solidFill>
                          <a:latin typeface="Poppins"/>
                        </a:rPr>
                        <a:t>Lumière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Naturelle, tôt le matin ou en fin d'après-midi. Pas de flash direct.</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Hauteur</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À hauteur d'homme, ou à hauteur de plant pour la pépinière.</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Profondeur</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Un sujet net, un arrière-plan doux — jamais tout net.</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Verts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Les verts de l'image doivent pouvoir voisiner green-700 sans jurer.</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Format</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3:2 pour les bandeaux, 4:3 pour les cartes, 1:1 pour le social.</a:t>
                      </a:r>
                    </a:p>
                  </a:txBody>
                  <a:tcPr marL="90000" marR="90000" marT="50400" marB="50400" anchor="ctr">
                    <a:solidFill>
                      <a:srgbClr val="FFFFFF"/>
                    </a:solidFill>
                  </a:tcPr>
                </a:tc>
              </a:tr>
            </a:tbl>
          </a:graphicData>
        </a:graphic>
      </p:graphicFrame>
      <p:sp>
        <p:nvSpPr>
          <p:cNvPr id="23" name="TextBox 22"/>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Le voile vert</a:t>
            </a:r>
          </a:p>
        </p:txBody>
      </p:sp>
      <p:sp>
        <p:nvSpPr>
          <p:cNvPr id="24" name="TextBox 23"/>
          <p:cNvSpPr txBox="1"/>
          <p:nvPr/>
        </p:nvSpPr>
        <p:spPr>
          <a:xfrm>
            <a:off x="8100000" y="1872000"/>
            <a:ext cx="6300000" cy="504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Sur toute photo qui porte du texte, posez ce dégradé du haut vers le bas. C'est lui qui garantit la lisibilité du titre blanc.</a:t>
            </a:r>
          </a:p>
        </p:txBody>
      </p:sp>
      <p:sp>
        <p:nvSpPr>
          <p:cNvPr id="25" name="Rounded Rectangle 24"/>
          <p:cNvSpPr/>
          <p:nvPr/>
        </p:nvSpPr>
        <p:spPr>
          <a:xfrm>
            <a:off x="8100000" y="2592000"/>
            <a:ext cx="6300000" cy="3240000"/>
          </a:xfrm>
          <a:prstGeom prst="roundRect">
            <a:avLst>
              <a:gd name="adj" fmla="val 6000"/>
            </a:avLst>
          </a:prstGeom>
          <a:gradFill rotWithShape="1">
            <a:gsLst>
              <a:gs pos="0">
                <a:srgbClr val="2E7D32"/>
              </a:gs>
              <a:gs pos="100000">
                <a:srgbClr val="0F3D1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8424000" y="4032000"/>
            <a:ext cx="2232000" cy="324000"/>
          </a:xfrm>
          <a:prstGeom prst="roundRect">
            <a:avLst>
              <a:gd name="adj" fmla="val 6000"/>
            </a:avLst>
          </a:prstGeom>
          <a:solidFill>
            <a:srgbClr val="205E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68000" y="4104000"/>
            <a:ext cx="2016000" cy="216000"/>
          </a:xfrm>
          <a:prstGeom prst="rect">
            <a:avLst/>
          </a:prstGeom>
          <a:noFill/>
        </p:spPr>
        <p:txBody>
          <a:bodyPr wrap="square" anchor="t" lIns="0" rIns="0" tIns="0" bIns="0">
            <a:spAutoFit/>
          </a:bodyPr>
          <a:lstStyle/>
          <a:p>
            <a:pPr algn="l">
              <a:lnSpc>
                <a:spcPct val="135000"/>
              </a:lnSpc>
              <a:spcAft>
                <a:spcPts val="400"/>
              </a:spcAft>
            </a:pPr>
            <a:r>
              <a:rPr sz="750" b="1" i="0">
                <a:solidFill>
                  <a:srgbClr val="FFFFFF"/>
                </a:solidFill>
                <a:latin typeface="Poppins"/>
              </a:rPr>
              <a:t>Fondée en 2025 — Kégué, Togo</a:t>
            </a:r>
          </a:p>
        </p:txBody>
      </p:sp>
      <p:sp>
        <p:nvSpPr>
          <p:cNvPr id="28" name="TextBox 27"/>
          <p:cNvSpPr txBox="1"/>
          <p:nvPr/>
        </p:nvSpPr>
        <p:spPr>
          <a:xfrm>
            <a:off x="8424000" y="4536000"/>
            <a:ext cx="5688000" cy="504000"/>
          </a:xfrm>
          <a:prstGeom prst="rect">
            <a:avLst/>
          </a:prstGeom>
          <a:noFill/>
        </p:spPr>
        <p:txBody>
          <a:bodyPr wrap="square" anchor="t" lIns="0" rIns="0" tIns="0" bIns="0">
            <a:spAutoFit/>
          </a:bodyPr>
          <a:lstStyle/>
          <a:p>
            <a:pPr algn="l">
              <a:lnSpc>
                <a:spcPct val="135000"/>
              </a:lnSpc>
              <a:spcAft>
                <a:spcPts val="400"/>
              </a:spcAft>
            </a:pPr>
            <a:r>
              <a:rPr sz="2200" b="1" i="0">
                <a:solidFill>
                  <a:srgbClr val="FFFFFF"/>
                </a:solidFill>
                <a:latin typeface="Poppins"/>
              </a:rPr>
              <a:t>Chaque plant compte.</a:t>
            </a:r>
          </a:p>
        </p:txBody>
      </p:sp>
      <p:sp>
        <p:nvSpPr>
          <p:cNvPr id="29" name="TextBox 28"/>
          <p:cNvSpPr txBox="1"/>
          <p:nvPr/>
        </p:nvSpPr>
        <p:spPr>
          <a:xfrm>
            <a:off x="8424000" y="5184000"/>
            <a:ext cx="5688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E3EBE0"/>
                </a:solidFill>
                <a:latin typeface="Inter"/>
              </a:rPr>
              <a:t>AgriWin Togo accompagne particuliers, entreprises et ONG.</a:t>
            </a:r>
          </a:p>
        </p:txBody>
      </p:sp>
      <p:sp>
        <p:nvSpPr>
          <p:cNvPr id="30" name="TextBox 29"/>
          <p:cNvSpPr txBox="1"/>
          <p:nvPr/>
        </p:nvSpPr>
        <p:spPr>
          <a:xfrm>
            <a:off x="8100000" y="6048000"/>
            <a:ext cx="6300000" cy="360000"/>
          </a:xfrm>
          <a:prstGeom prst="rect">
            <a:avLst/>
          </a:prstGeom>
          <a:noFill/>
        </p:spPr>
        <p:txBody>
          <a:bodyPr wrap="square" anchor="t" lIns="0" rIns="0" tIns="0" bIns="0">
            <a:spAutoFit/>
          </a:bodyPr>
          <a:lstStyle/>
          <a:p>
            <a:pPr algn="l">
              <a:lnSpc>
                <a:spcPct val="135000"/>
              </a:lnSpc>
              <a:spcAft>
                <a:spcPts val="400"/>
              </a:spcAft>
            </a:pPr>
            <a:r>
              <a:rPr sz="850" b="0" i="0">
                <a:solidFill>
                  <a:srgbClr val="205E25"/>
                </a:solidFill>
                <a:latin typeface="Poppins"/>
              </a:rPr>
              <a:t>linear-gradient(180deg, rgba(15,61,23,.55), rgba(15,61,23,.82))</a:t>
            </a:r>
          </a:p>
        </p:txBody>
      </p:sp>
      <p:sp>
        <p:nvSpPr>
          <p:cNvPr id="31" name="TextBox 30"/>
          <p:cNvSpPr txBox="1"/>
          <p:nvPr/>
        </p:nvSpPr>
        <p:spPr>
          <a:xfrm>
            <a:off x="8100000" y="662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Images de substitution</a:t>
            </a:r>
          </a:p>
        </p:txBody>
      </p:sp>
      <p:sp>
        <p:nvSpPr>
          <p:cNvPr id="32" name="TextBox 31"/>
          <p:cNvSpPr txBox="1"/>
          <p:nvPr/>
        </p:nvSpPr>
        <p:spPr>
          <a:xfrm>
            <a:off x="8100000" y="7056000"/>
            <a:ext cx="6300000" cy="792000"/>
          </a:xfrm>
          <a:prstGeom prst="rect">
            <a:avLst/>
          </a:prstGeom>
          <a:noFill/>
        </p:spPr>
        <p:txBody>
          <a:bodyPr wrap="square" anchor="t" lIns="0" rIns="0" tIns="0" bIns="0">
            <a:spAutoFit/>
          </a:bodyPr>
          <a:lstStyle/>
          <a:p>
            <a:pPr algn="l">
              <a:lnSpc>
                <a:spcPct val="135000"/>
              </a:lnSpc>
              <a:spcAft>
                <a:spcPts val="400"/>
              </a:spcAft>
            </a:pPr>
            <a:r>
              <a:rPr sz="1050" b="0" i="0">
                <a:solidFill>
                  <a:srgbClr val="364033"/>
                </a:solidFill>
                <a:latin typeface="Inter"/>
              </a:rPr>
              <a:t>Tant que les photos de la pépinière et de l'équipe ne sont pas disponibles, les images d'ambiance portent une mention explicite sous le bloc. Retirez la mention en même temps que l'image.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18</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Formes, ombres, mouvement</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20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Rayons</a:t>
            </a:r>
          </a:p>
        </p:txBody>
      </p:sp>
      <p:sp>
        <p:nvSpPr>
          <p:cNvPr id="11" name="Rounded Rectangle 10"/>
          <p:cNvSpPr/>
          <p:nvPr/>
        </p:nvSpPr>
        <p:spPr>
          <a:xfrm>
            <a:off x="720000" y="1944000"/>
            <a:ext cx="792000" cy="7200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692000" y="1944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--radius-sm</a:t>
            </a:r>
          </a:p>
        </p:txBody>
      </p:sp>
      <p:sp>
        <p:nvSpPr>
          <p:cNvPr id="13" name="TextBox 12"/>
          <p:cNvSpPr txBox="1"/>
          <p:nvPr/>
        </p:nvSpPr>
        <p:spPr>
          <a:xfrm>
            <a:off x="1692000" y="2232000"/>
            <a:ext cx="3240000" cy="180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8px</a:t>
            </a:r>
          </a:p>
        </p:txBody>
      </p:sp>
      <p:sp>
        <p:nvSpPr>
          <p:cNvPr id="14" name="TextBox 13"/>
          <p:cNvSpPr txBox="1"/>
          <p:nvPr/>
        </p:nvSpPr>
        <p:spPr>
          <a:xfrm>
            <a:off x="1692000" y="2448000"/>
            <a:ext cx="3240000" cy="432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Champs de formulaire, petites pastilles.</a:t>
            </a:r>
          </a:p>
        </p:txBody>
      </p:sp>
      <p:sp>
        <p:nvSpPr>
          <p:cNvPr id="15" name="Rounded Rectangle 14"/>
          <p:cNvSpPr/>
          <p:nvPr/>
        </p:nvSpPr>
        <p:spPr>
          <a:xfrm>
            <a:off x="720000" y="3168000"/>
            <a:ext cx="792000" cy="7200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92000" y="3168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--radius-md</a:t>
            </a:r>
          </a:p>
        </p:txBody>
      </p:sp>
      <p:sp>
        <p:nvSpPr>
          <p:cNvPr id="17" name="TextBox 16"/>
          <p:cNvSpPr txBox="1"/>
          <p:nvPr/>
        </p:nvSpPr>
        <p:spPr>
          <a:xfrm>
            <a:off x="1692000" y="3456000"/>
            <a:ext cx="3240000" cy="180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14px</a:t>
            </a:r>
          </a:p>
        </p:txBody>
      </p:sp>
      <p:sp>
        <p:nvSpPr>
          <p:cNvPr id="18" name="TextBox 17"/>
          <p:cNvSpPr txBox="1"/>
          <p:nvPr/>
        </p:nvSpPr>
        <p:spPr>
          <a:xfrm>
            <a:off x="1692000" y="3672000"/>
            <a:ext cx="3240000" cy="432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Cartes, images, blocs de contenu.</a:t>
            </a:r>
          </a:p>
        </p:txBody>
      </p:sp>
      <p:sp>
        <p:nvSpPr>
          <p:cNvPr id="19" name="Rounded Rectangle 18"/>
          <p:cNvSpPr/>
          <p:nvPr/>
        </p:nvSpPr>
        <p:spPr>
          <a:xfrm>
            <a:off x="720000" y="4392000"/>
            <a:ext cx="792000" cy="7200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692000" y="4392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--radius-lg</a:t>
            </a:r>
          </a:p>
        </p:txBody>
      </p:sp>
      <p:sp>
        <p:nvSpPr>
          <p:cNvPr id="21" name="TextBox 20"/>
          <p:cNvSpPr txBox="1"/>
          <p:nvPr/>
        </p:nvSpPr>
        <p:spPr>
          <a:xfrm>
            <a:off x="1692000" y="4680000"/>
            <a:ext cx="3240000" cy="180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22px</a:t>
            </a:r>
          </a:p>
        </p:txBody>
      </p:sp>
      <p:sp>
        <p:nvSpPr>
          <p:cNvPr id="22" name="TextBox 21"/>
          <p:cNvSpPr txBox="1"/>
          <p:nvPr/>
        </p:nvSpPr>
        <p:spPr>
          <a:xfrm>
            <a:off x="1692000" y="4896000"/>
            <a:ext cx="3240000" cy="432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Grands blocs, bandeaux, encarts d'appel à l'action.</a:t>
            </a:r>
          </a:p>
        </p:txBody>
      </p:sp>
      <p:sp>
        <p:nvSpPr>
          <p:cNvPr id="23" name="Rounded Rectangle 22"/>
          <p:cNvSpPr/>
          <p:nvPr/>
        </p:nvSpPr>
        <p:spPr>
          <a:xfrm>
            <a:off x="720000" y="5616000"/>
            <a:ext cx="792000" cy="7200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92000" y="5616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--radius-pill</a:t>
            </a:r>
          </a:p>
        </p:txBody>
      </p:sp>
      <p:sp>
        <p:nvSpPr>
          <p:cNvPr id="25" name="TextBox 24"/>
          <p:cNvSpPr txBox="1"/>
          <p:nvPr/>
        </p:nvSpPr>
        <p:spPr>
          <a:xfrm>
            <a:off x="1692000" y="5904000"/>
            <a:ext cx="3240000" cy="180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999px</a:t>
            </a:r>
          </a:p>
        </p:txBody>
      </p:sp>
      <p:sp>
        <p:nvSpPr>
          <p:cNvPr id="26" name="TextBox 25"/>
          <p:cNvSpPr txBox="1"/>
          <p:nvPr/>
        </p:nvSpPr>
        <p:spPr>
          <a:xfrm>
            <a:off x="1692000" y="6120000"/>
            <a:ext cx="3240000" cy="432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Boutons et pastilles de surtitre.</a:t>
            </a:r>
          </a:p>
        </p:txBody>
      </p:sp>
      <p:sp>
        <p:nvSpPr>
          <p:cNvPr id="27" name="TextBox 26"/>
          <p:cNvSpPr txBox="1"/>
          <p:nvPr/>
        </p:nvSpPr>
        <p:spPr>
          <a:xfrm>
            <a:off x="54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Ombres</a:t>
            </a:r>
          </a:p>
        </p:txBody>
      </p:sp>
      <p:sp>
        <p:nvSpPr>
          <p:cNvPr id="28" name="Rounded Rectangle 27"/>
          <p:cNvSpPr/>
          <p:nvPr/>
        </p:nvSpPr>
        <p:spPr>
          <a:xfrm>
            <a:off x="5400000" y="1944000"/>
            <a:ext cx="792000" cy="720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72000" y="1944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--shadow-sm</a:t>
            </a:r>
          </a:p>
        </p:txBody>
      </p:sp>
      <p:sp>
        <p:nvSpPr>
          <p:cNvPr id="30" name="TextBox 29"/>
          <p:cNvSpPr txBox="1"/>
          <p:nvPr/>
        </p:nvSpPr>
        <p:spPr>
          <a:xfrm>
            <a:off x="6372000" y="2232000"/>
            <a:ext cx="3240000" cy="576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Repos des cartes et boutons.</a:t>
            </a:r>
          </a:p>
        </p:txBody>
      </p:sp>
      <p:sp>
        <p:nvSpPr>
          <p:cNvPr id="31" name="Rounded Rectangle 30"/>
          <p:cNvSpPr/>
          <p:nvPr/>
        </p:nvSpPr>
        <p:spPr>
          <a:xfrm>
            <a:off x="5400000" y="3168000"/>
            <a:ext cx="792000" cy="720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72000" y="3168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--shadow-md</a:t>
            </a:r>
          </a:p>
        </p:txBody>
      </p:sp>
      <p:sp>
        <p:nvSpPr>
          <p:cNvPr id="33" name="TextBox 32"/>
          <p:cNvSpPr txBox="1"/>
          <p:nvPr/>
        </p:nvSpPr>
        <p:spPr>
          <a:xfrm>
            <a:off x="6372000" y="3456000"/>
            <a:ext cx="3240000" cy="576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Survol des cartes et boutons.</a:t>
            </a:r>
          </a:p>
        </p:txBody>
      </p:sp>
      <p:sp>
        <p:nvSpPr>
          <p:cNvPr id="34" name="Rounded Rectangle 33"/>
          <p:cNvSpPr/>
          <p:nvPr/>
        </p:nvSpPr>
        <p:spPr>
          <a:xfrm>
            <a:off x="5400000" y="4392000"/>
            <a:ext cx="792000" cy="720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2000" y="4392000"/>
            <a:ext cx="3240000" cy="216000"/>
          </a:xfrm>
          <a:prstGeom prst="rect">
            <a:avLst/>
          </a:prstGeom>
          <a:noFill/>
        </p:spPr>
        <p:txBody>
          <a:bodyPr wrap="square" anchor="t" lIns="0" rIns="0" tIns="0" bIns="0">
            <a:spAutoFit/>
          </a:bodyPr>
          <a:lstStyle/>
          <a:p>
            <a:pPr algn="l">
              <a:lnSpc>
                <a:spcPct val="135000"/>
              </a:lnSpc>
              <a:spcAft>
                <a:spcPts val="400"/>
              </a:spcAft>
            </a:pPr>
            <a:r>
              <a:rPr sz="1000" b="1" i="0">
                <a:solidFill>
                  <a:srgbClr val="0F3D17"/>
                </a:solidFill>
                <a:latin typeface="Poppins"/>
              </a:rPr>
              <a:t>--shadow-lg</a:t>
            </a:r>
          </a:p>
        </p:txBody>
      </p:sp>
      <p:sp>
        <p:nvSpPr>
          <p:cNvPr id="36" name="TextBox 35"/>
          <p:cNvSpPr txBox="1"/>
          <p:nvPr/>
        </p:nvSpPr>
        <p:spPr>
          <a:xfrm>
            <a:off x="6372000" y="4680000"/>
            <a:ext cx="3240000" cy="576000"/>
          </a:xfrm>
          <a:prstGeom prst="rect">
            <a:avLst/>
          </a:prstGeom>
          <a:noFill/>
        </p:spPr>
        <p:txBody>
          <a:bodyPr wrap="square" anchor="t" lIns="0" rIns="0" tIns="0" bIns="0">
            <a:spAutoFit/>
          </a:bodyPr>
          <a:lstStyle/>
          <a:p>
            <a:pPr algn="l">
              <a:lnSpc>
                <a:spcPct val="135000"/>
              </a:lnSpc>
              <a:spcAft>
                <a:spcPts val="400"/>
              </a:spcAft>
            </a:pPr>
            <a:r>
              <a:rPr sz="850" b="0" i="0">
                <a:solidFill>
                  <a:srgbClr val="364033"/>
                </a:solidFill>
                <a:latin typeface="Inter"/>
              </a:rPr>
              <a:t>Éléments flottants : menu mobile, boutons d'action fixes.</a:t>
            </a:r>
          </a:p>
        </p:txBody>
      </p:sp>
      <p:sp>
        <p:nvSpPr>
          <p:cNvPr id="37" name="TextBox 36"/>
          <p:cNvSpPr txBox="1"/>
          <p:nvPr/>
        </p:nvSpPr>
        <p:spPr>
          <a:xfrm>
            <a:off x="5400000" y="5760000"/>
            <a:ext cx="3960000" cy="720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Les trois ombres sont teintées de green-950 (15, 61, 23) : une ombre grise neutre fait sale sur les fonds verts.</a:t>
            </a:r>
          </a:p>
        </p:txBody>
      </p:sp>
      <p:sp>
        <p:nvSpPr>
          <p:cNvPr id="38" name="TextBox 37"/>
          <p:cNvSpPr txBox="1"/>
          <p:nvPr/>
        </p:nvSpPr>
        <p:spPr>
          <a:xfrm>
            <a:off x="1008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Espacement</a:t>
            </a:r>
          </a:p>
        </p:txBody>
      </p:sp>
      <p:sp>
        <p:nvSpPr>
          <p:cNvPr id="39" name="Rounded Rectangle 38"/>
          <p:cNvSpPr/>
          <p:nvPr/>
        </p:nvSpPr>
        <p:spPr>
          <a:xfrm>
            <a:off x="10080000" y="1944000"/>
            <a:ext cx="8928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096000" y="1926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4 px</a:t>
            </a:r>
          </a:p>
        </p:txBody>
      </p:sp>
      <p:sp>
        <p:nvSpPr>
          <p:cNvPr id="41" name="Rounded Rectangle 40"/>
          <p:cNvSpPr/>
          <p:nvPr/>
        </p:nvSpPr>
        <p:spPr>
          <a:xfrm>
            <a:off x="10080000" y="2268000"/>
            <a:ext cx="17856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096000" y="2250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8 px</a:t>
            </a:r>
          </a:p>
        </p:txBody>
      </p:sp>
      <p:sp>
        <p:nvSpPr>
          <p:cNvPr id="43" name="Rounded Rectangle 42"/>
          <p:cNvSpPr/>
          <p:nvPr/>
        </p:nvSpPr>
        <p:spPr>
          <a:xfrm>
            <a:off x="10080000" y="2592000"/>
            <a:ext cx="26784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096000" y="2574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12 px</a:t>
            </a:r>
          </a:p>
        </p:txBody>
      </p:sp>
      <p:sp>
        <p:nvSpPr>
          <p:cNvPr id="45" name="Rounded Rectangle 44"/>
          <p:cNvSpPr/>
          <p:nvPr/>
        </p:nvSpPr>
        <p:spPr>
          <a:xfrm>
            <a:off x="10080000" y="2916000"/>
            <a:ext cx="35712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2096000" y="2898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16 px</a:t>
            </a:r>
          </a:p>
        </p:txBody>
      </p:sp>
      <p:sp>
        <p:nvSpPr>
          <p:cNvPr id="47" name="Rounded Rectangle 46"/>
          <p:cNvSpPr/>
          <p:nvPr/>
        </p:nvSpPr>
        <p:spPr>
          <a:xfrm>
            <a:off x="10080000" y="3240000"/>
            <a:ext cx="44640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096000" y="3222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20 px</a:t>
            </a:r>
          </a:p>
        </p:txBody>
      </p:sp>
      <p:sp>
        <p:nvSpPr>
          <p:cNvPr id="49" name="Rounded Rectangle 48"/>
          <p:cNvSpPr/>
          <p:nvPr/>
        </p:nvSpPr>
        <p:spPr>
          <a:xfrm>
            <a:off x="10080000" y="3564000"/>
            <a:ext cx="53568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2096000" y="3546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24 px</a:t>
            </a:r>
          </a:p>
        </p:txBody>
      </p:sp>
      <p:sp>
        <p:nvSpPr>
          <p:cNvPr id="51" name="Rounded Rectangle 50"/>
          <p:cNvSpPr/>
          <p:nvPr/>
        </p:nvSpPr>
        <p:spPr>
          <a:xfrm>
            <a:off x="10080000" y="3888000"/>
            <a:ext cx="71424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2096000" y="3870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32 px</a:t>
            </a:r>
          </a:p>
        </p:txBody>
      </p:sp>
      <p:sp>
        <p:nvSpPr>
          <p:cNvPr id="53" name="Rounded Rectangle 52"/>
          <p:cNvSpPr/>
          <p:nvPr/>
        </p:nvSpPr>
        <p:spPr>
          <a:xfrm>
            <a:off x="10080000" y="4212000"/>
            <a:ext cx="89280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096000" y="4194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40 px</a:t>
            </a:r>
          </a:p>
        </p:txBody>
      </p:sp>
      <p:sp>
        <p:nvSpPr>
          <p:cNvPr id="55" name="Rounded Rectangle 54"/>
          <p:cNvSpPr/>
          <p:nvPr/>
        </p:nvSpPr>
        <p:spPr>
          <a:xfrm>
            <a:off x="10080000" y="4536000"/>
            <a:ext cx="107136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096000" y="4518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48 px</a:t>
            </a:r>
          </a:p>
        </p:txBody>
      </p:sp>
      <p:sp>
        <p:nvSpPr>
          <p:cNvPr id="57" name="Rounded Rectangle 56"/>
          <p:cNvSpPr/>
          <p:nvPr/>
        </p:nvSpPr>
        <p:spPr>
          <a:xfrm>
            <a:off x="10080000" y="4860000"/>
            <a:ext cx="142848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2096000" y="4842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64 px</a:t>
            </a:r>
          </a:p>
        </p:txBody>
      </p:sp>
      <p:sp>
        <p:nvSpPr>
          <p:cNvPr id="59" name="Rounded Rectangle 58"/>
          <p:cNvSpPr/>
          <p:nvPr/>
        </p:nvSpPr>
        <p:spPr>
          <a:xfrm>
            <a:off x="10080000" y="5184000"/>
            <a:ext cx="1785600" cy="144000"/>
          </a:xfrm>
          <a:prstGeom prst="roundRect">
            <a:avLst>
              <a:gd name="adj" fmla="val 6000"/>
            </a:avLst>
          </a:prstGeom>
          <a:solidFill>
            <a:srgbClr val="4E9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2096000" y="5166000"/>
            <a:ext cx="1080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5C665A"/>
                </a:solidFill>
                <a:latin typeface="Poppins"/>
              </a:rPr>
              <a:t>80 px</a:t>
            </a:r>
          </a:p>
        </p:txBody>
      </p:sp>
      <p:sp>
        <p:nvSpPr>
          <p:cNvPr id="61" name="TextBox 60"/>
          <p:cNvSpPr txBox="1"/>
          <p:nvPr/>
        </p:nvSpPr>
        <p:spPr>
          <a:xfrm>
            <a:off x="10080000" y="5904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Mouvement</a:t>
            </a:r>
          </a:p>
        </p:txBody>
      </p:sp>
      <p:graphicFrame>
        <p:nvGraphicFramePr>
          <p:cNvPr id="62" name="Table 61"/>
          <p:cNvGraphicFramePr>
            <a:graphicFrameLocks noGrp="1"/>
          </p:cNvGraphicFramePr>
          <p:nvPr/>
        </p:nvGraphicFramePr>
        <p:xfrm>
          <a:off x="10080000" y="6336000"/>
          <a:ext cx="4320000" cy="3024000"/>
        </p:xfrm>
        <a:graphic>
          <a:graphicData uri="http://schemas.openxmlformats.org/drawingml/2006/table">
            <a:tbl>
              <a:tblPr firstRow="1" bandRow="1">
                <a:tableStyleId>{5C22544A-7EE6-4342-B048-85BDC9FD1C3A}</a:tableStyleId>
              </a:tblPr>
              <a:tblGrid>
                <a:gridCol w="1814400"/>
                <a:gridCol w="2505600"/>
              </a:tblGrid>
              <a:tr h="504000">
                <a:tc>
                  <a:txBody>
                    <a:bodyPr/>
                    <a:lstStyle/>
                    <a:p>
                      <a:pPr>
                        <a:lnSpc>
                          <a:spcPct val="125000"/>
                        </a:lnSpc>
                      </a:pPr>
                      <a:r>
                        <a:rPr sz="900" b="1">
                          <a:solidFill>
                            <a:srgbClr val="FFFFFF"/>
                          </a:solidFill>
                          <a:latin typeface="Poppins"/>
                        </a:rPr>
                        <a:t>PARAMÈTRE</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VALEUR</a:t>
                      </a:r>
                    </a:p>
                  </a:txBody>
                  <a:tcPr marL="90000" marR="90000" marT="50400" marB="50400" anchor="ctr">
                    <a:solidFill>
                      <a:srgbClr val="1B5E20"/>
                    </a:solidFill>
                  </a:tcPr>
                </a:tc>
              </a:tr>
              <a:tr h="504000">
                <a:tc>
                  <a:txBody>
                    <a:bodyPr/>
                    <a:lstStyle/>
                    <a:p>
                      <a:pPr>
                        <a:lnSpc>
                          <a:spcPct val="125000"/>
                        </a:lnSpc>
                      </a:pPr>
                      <a:r>
                        <a:rPr sz="900" b="1">
                          <a:solidFill>
                            <a:srgbClr val="0F3D17"/>
                          </a:solidFill>
                          <a:latin typeface="Poppins"/>
                        </a:rPr>
                        <a:t>Durée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0,15 s bouton · 0,2 s carte</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Courbe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ease — pas de rebond</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Carte au survol</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Monte de 5 px, shadow-md</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Bouton au clic</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Se comprime à 97 %</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Flèche de lien</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Avance de 4 px</a:t>
                      </a:r>
                    </a:p>
                  </a:txBody>
                  <a:tcPr marL="90000" marR="90000" marT="50400" marB="50400"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19</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Composants d'interface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21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12240000" cy="360000"/>
          </a:xfrm>
          <a:prstGeom prst="rect">
            <a:avLst/>
          </a:prstGeom>
          <a:noFill/>
        </p:spPr>
        <p:txBody>
          <a:bodyPr wrap="square" anchor="t" lIns="0" rIns="0" tIns="0" bIns="0">
            <a:spAutoFit/>
          </a:bodyPr>
          <a:lstStyle/>
          <a:p>
            <a:pPr algn="l">
              <a:lnSpc>
                <a:spcPct val="135000"/>
              </a:lnSpc>
              <a:spcAft>
                <a:spcPts val="400"/>
              </a:spcAft>
            </a:pPr>
            <a:r>
              <a:rPr sz="1250" b="0" i="0">
                <a:solidFill>
                  <a:srgbClr val="364033"/>
                </a:solidFill>
                <a:latin typeface="Inter"/>
              </a:rPr>
              <a:t>Quatorze composants couvrent l'ensemble du site AgriWin Togo. Chacun est documenté dans le design system, avec ses propriétés et un aperçu vivant.</a:t>
            </a:r>
          </a:p>
        </p:txBody>
      </p:sp>
      <p:sp>
        <p:nvSpPr>
          <p:cNvPr id="11" name="Rectangle 10"/>
          <p:cNvSpPr/>
          <p:nvPr/>
        </p:nvSpPr>
        <p:spPr>
          <a:xfrm>
            <a:off x="720000" y="216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0000" y="216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6000" y="234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Button</a:t>
            </a:r>
          </a:p>
        </p:txBody>
      </p:sp>
      <p:sp>
        <p:nvSpPr>
          <p:cNvPr id="14" name="TextBox 13"/>
          <p:cNvSpPr txBox="1"/>
          <p:nvPr/>
        </p:nvSpPr>
        <p:spPr>
          <a:xfrm>
            <a:off x="936000" y="262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Six variantes, deux tailles. Une seule action or par écran.</a:t>
            </a:r>
          </a:p>
        </p:txBody>
      </p:sp>
      <p:sp>
        <p:nvSpPr>
          <p:cNvPr id="15" name="Rectangle 14"/>
          <p:cNvSpPr/>
          <p:nvPr/>
        </p:nvSpPr>
        <p:spPr>
          <a:xfrm>
            <a:off x="4140000" y="216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140000" y="216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56000" y="234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Eyebrow</a:t>
            </a:r>
          </a:p>
        </p:txBody>
      </p:sp>
      <p:sp>
        <p:nvSpPr>
          <p:cNvPr id="18" name="TextBox 17"/>
          <p:cNvSpPr txBox="1"/>
          <p:nvPr/>
        </p:nvSpPr>
        <p:spPr>
          <a:xfrm>
            <a:off x="4356000" y="262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Surtitre en pastille green-100, texte green-900.</a:t>
            </a:r>
          </a:p>
        </p:txBody>
      </p:sp>
      <p:sp>
        <p:nvSpPr>
          <p:cNvPr id="19" name="Rectangle 18"/>
          <p:cNvSpPr/>
          <p:nvPr/>
        </p:nvSpPr>
        <p:spPr>
          <a:xfrm>
            <a:off x="7560000" y="216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560000" y="216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6000" y="234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SectionHead</a:t>
            </a:r>
          </a:p>
        </p:txBody>
      </p:sp>
      <p:sp>
        <p:nvSpPr>
          <p:cNvPr id="22" name="TextBox 21"/>
          <p:cNvSpPr txBox="1"/>
          <p:nvPr/>
        </p:nvSpPr>
        <p:spPr>
          <a:xfrm>
            <a:off x="7776000" y="262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Surtitre, titre, mot d'accent Playfair, chapô.</a:t>
            </a:r>
          </a:p>
        </p:txBody>
      </p:sp>
      <p:sp>
        <p:nvSpPr>
          <p:cNvPr id="23" name="Rectangle 22"/>
          <p:cNvSpPr/>
          <p:nvPr/>
        </p:nvSpPr>
        <p:spPr>
          <a:xfrm>
            <a:off x="10980000" y="216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0980000" y="216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96000" y="234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Card</a:t>
            </a:r>
          </a:p>
        </p:txBody>
      </p:sp>
      <p:sp>
        <p:nvSpPr>
          <p:cNvPr id="26" name="TextBox 25"/>
          <p:cNvSpPr txBox="1"/>
          <p:nvPr/>
        </p:nvSpPr>
        <p:spPr>
          <a:xfrm>
            <a:off x="11196000" y="262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Carte de base : bordure border-soft, rayon radius-lg.</a:t>
            </a:r>
          </a:p>
        </p:txBody>
      </p:sp>
      <p:sp>
        <p:nvSpPr>
          <p:cNvPr id="27" name="Rectangle 26"/>
          <p:cNvSpPr/>
          <p:nvPr/>
        </p:nvSpPr>
        <p:spPr>
          <a:xfrm>
            <a:off x="720000" y="360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20000" y="360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6000" y="378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ServiceCard</a:t>
            </a:r>
          </a:p>
        </p:txBody>
      </p:sp>
      <p:sp>
        <p:nvSpPr>
          <p:cNvPr id="30" name="TextBox 29"/>
          <p:cNvSpPr txBox="1"/>
          <p:nvPr/>
        </p:nvSpPr>
        <p:spPr>
          <a:xfrm>
            <a:off x="936000" y="406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Pictogramme en dégradé, titre, promesse, lien.</a:t>
            </a:r>
          </a:p>
        </p:txBody>
      </p:sp>
      <p:sp>
        <p:nvSpPr>
          <p:cNvPr id="31" name="Rectangle 30"/>
          <p:cNvSpPr/>
          <p:nvPr/>
        </p:nvSpPr>
        <p:spPr>
          <a:xfrm>
            <a:off x="4140000" y="360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40000" y="360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56000" y="378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ValueCard</a:t>
            </a:r>
          </a:p>
        </p:txBody>
      </p:sp>
      <p:sp>
        <p:nvSpPr>
          <p:cNvPr id="34" name="TextBox 33"/>
          <p:cNvSpPr txBox="1"/>
          <p:nvPr/>
        </p:nvSpPr>
        <p:spPr>
          <a:xfrm>
            <a:off x="4356000" y="406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Valeur de marque, centrée sur green-50.</a:t>
            </a:r>
          </a:p>
        </p:txBody>
      </p:sp>
      <p:sp>
        <p:nvSpPr>
          <p:cNvPr id="35" name="Rectangle 34"/>
          <p:cNvSpPr/>
          <p:nvPr/>
        </p:nvSpPr>
        <p:spPr>
          <a:xfrm>
            <a:off x="7560000" y="360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560000" y="360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6000" y="378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ProductCard</a:t>
            </a:r>
          </a:p>
        </p:txBody>
      </p:sp>
      <p:sp>
        <p:nvSpPr>
          <p:cNvPr id="38" name="TextBox 37"/>
          <p:cNvSpPr txBox="1"/>
          <p:nvPr/>
        </p:nvSpPr>
        <p:spPr>
          <a:xfrm>
            <a:off x="7776000" y="406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Entrée de catalogue : visuel, badge, prix, actions.</a:t>
            </a:r>
          </a:p>
        </p:txBody>
      </p:sp>
      <p:sp>
        <p:nvSpPr>
          <p:cNvPr id="39" name="Rectangle 38"/>
          <p:cNvSpPr/>
          <p:nvPr/>
        </p:nvSpPr>
        <p:spPr>
          <a:xfrm>
            <a:off x="10980000" y="360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0980000" y="360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1196000" y="378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StatBand</a:t>
            </a:r>
          </a:p>
        </p:txBody>
      </p:sp>
      <p:sp>
        <p:nvSpPr>
          <p:cNvPr id="42" name="TextBox 41"/>
          <p:cNvSpPr txBox="1"/>
          <p:nvPr/>
        </p:nvSpPr>
        <p:spPr>
          <a:xfrm>
            <a:off x="11196000" y="406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Chiffres clés en gold-500 sur dégradé vert.</a:t>
            </a:r>
          </a:p>
        </p:txBody>
      </p:sp>
      <p:sp>
        <p:nvSpPr>
          <p:cNvPr id="43" name="Rectangle 42"/>
          <p:cNvSpPr/>
          <p:nvPr/>
        </p:nvSpPr>
        <p:spPr>
          <a:xfrm>
            <a:off x="720000" y="504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20000" y="504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6000" y="522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CtaBand</a:t>
            </a:r>
          </a:p>
        </p:txBody>
      </p:sp>
      <p:sp>
        <p:nvSpPr>
          <p:cNvPr id="46" name="TextBox 45"/>
          <p:cNvSpPr txBox="1"/>
          <p:nvPr/>
        </p:nvSpPr>
        <p:spPr>
          <a:xfrm>
            <a:off x="936000" y="550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Bandeau de fin de page, un seul par page.</a:t>
            </a:r>
          </a:p>
        </p:txBody>
      </p:sp>
      <p:sp>
        <p:nvSpPr>
          <p:cNvPr id="47" name="Rectangle 46"/>
          <p:cNvSpPr/>
          <p:nvPr/>
        </p:nvSpPr>
        <p:spPr>
          <a:xfrm>
            <a:off x="4140000" y="504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4140000" y="504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356000" y="522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Field</a:t>
            </a:r>
          </a:p>
        </p:txBody>
      </p:sp>
      <p:sp>
        <p:nvSpPr>
          <p:cNvPr id="50" name="TextBox 49"/>
          <p:cNvSpPr txBox="1"/>
          <p:nvPr/>
        </p:nvSpPr>
        <p:spPr>
          <a:xfrm>
            <a:off x="4356000" y="550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Libellé au-dessus, aide ou erreur en dessous.</a:t>
            </a:r>
          </a:p>
        </p:txBody>
      </p:sp>
      <p:sp>
        <p:nvSpPr>
          <p:cNvPr id="51" name="Rectangle 50"/>
          <p:cNvSpPr/>
          <p:nvPr/>
        </p:nvSpPr>
        <p:spPr>
          <a:xfrm>
            <a:off x="7560000" y="504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7560000" y="504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776000" y="522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FilterChip</a:t>
            </a:r>
          </a:p>
        </p:txBody>
      </p:sp>
      <p:sp>
        <p:nvSpPr>
          <p:cNvPr id="54" name="TextBox 53"/>
          <p:cNvSpPr txBox="1"/>
          <p:nvPr/>
        </p:nvSpPr>
        <p:spPr>
          <a:xfrm>
            <a:off x="7776000" y="550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Filtre du catalogue, état porté par aria-pressed.</a:t>
            </a:r>
          </a:p>
        </p:txBody>
      </p:sp>
      <p:sp>
        <p:nvSpPr>
          <p:cNvPr id="55" name="Rectangle 54"/>
          <p:cNvSpPr/>
          <p:nvPr/>
        </p:nvSpPr>
        <p:spPr>
          <a:xfrm>
            <a:off x="10980000" y="504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0980000" y="504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1196000" y="522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ContactCard</a:t>
            </a:r>
          </a:p>
        </p:txBody>
      </p:sp>
      <p:sp>
        <p:nvSpPr>
          <p:cNvPr id="58" name="TextBox 57"/>
          <p:cNvSpPr txBox="1"/>
          <p:nvPr/>
        </p:nvSpPr>
        <p:spPr>
          <a:xfrm>
            <a:off x="11196000" y="550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Coordonnées sur aplat green-950.</a:t>
            </a:r>
          </a:p>
        </p:txBody>
      </p:sp>
      <p:sp>
        <p:nvSpPr>
          <p:cNvPr id="59" name="Rectangle 58"/>
          <p:cNvSpPr/>
          <p:nvPr/>
        </p:nvSpPr>
        <p:spPr>
          <a:xfrm>
            <a:off x="720000" y="648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720000" y="648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36000" y="666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StepList</a:t>
            </a:r>
          </a:p>
        </p:txBody>
      </p:sp>
      <p:sp>
        <p:nvSpPr>
          <p:cNvPr id="62" name="TextBox 61"/>
          <p:cNvSpPr txBox="1"/>
          <p:nvPr/>
        </p:nvSpPr>
        <p:spPr>
          <a:xfrm>
            <a:off x="936000" y="694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Étapes numérotées — pour une vraie séquence.</a:t>
            </a:r>
          </a:p>
        </p:txBody>
      </p:sp>
      <p:sp>
        <p:nvSpPr>
          <p:cNvPr id="63" name="Rectangle 62"/>
          <p:cNvSpPr/>
          <p:nvPr/>
        </p:nvSpPr>
        <p:spPr>
          <a:xfrm>
            <a:off x="4140000" y="6480000"/>
            <a:ext cx="3168000" cy="122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4140000" y="6480000"/>
            <a:ext cx="43200" cy="122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356000" y="6660000"/>
            <a:ext cx="2808000" cy="216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Brand</a:t>
            </a:r>
          </a:p>
        </p:txBody>
      </p:sp>
      <p:sp>
        <p:nvSpPr>
          <p:cNvPr id="66" name="TextBox 65"/>
          <p:cNvSpPr txBox="1"/>
          <p:nvPr/>
        </p:nvSpPr>
        <p:spPr>
          <a:xfrm>
            <a:off x="4356000" y="6948000"/>
            <a:ext cx="2808000" cy="64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Symbole, nom, signature, fond clair ou sombre.</a:t>
            </a:r>
          </a:p>
        </p:txBody>
      </p:sp>
      <p:sp>
        <p:nvSpPr>
          <p:cNvPr id="67" name="Rounded Rectangle 66"/>
          <p:cNvSpPr/>
          <p:nvPr/>
        </p:nvSpPr>
        <p:spPr>
          <a:xfrm>
            <a:off x="720000" y="8064000"/>
            <a:ext cx="13680000" cy="1512000"/>
          </a:xfrm>
          <a:prstGeom prst="roundRect">
            <a:avLst>
              <a:gd name="adj" fmla="val 6000"/>
            </a:avLst>
          </a:prstGeom>
          <a:solidFill>
            <a:srgbClr val="F7F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ounded Rectangle 67"/>
          <p:cNvSpPr/>
          <p:nvPr/>
        </p:nvSpPr>
        <p:spPr>
          <a:xfrm>
            <a:off x="1152000" y="8568000"/>
            <a:ext cx="1872000" cy="468000"/>
          </a:xfrm>
          <a:prstGeom prst="roundRect">
            <a:avLst>
              <a:gd name="adj" fmla="val 6000"/>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152000" y="8694000"/>
            <a:ext cx="1872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Demander un devis</a:t>
            </a:r>
          </a:p>
        </p:txBody>
      </p:sp>
      <p:sp>
        <p:nvSpPr>
          <p:cNvPr id="70" name="Rounded Rectangle 69"/>
          <p:cNvSpPr/>
          <p:nvPr/>
        </p:nvSpPr>
        <p:spPr>
          <a:xfrm>
            <a:off x="3240000" y="8568000"/>
            <a:ext cx="1728000" cy="4680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3240000" y="8694000"/>
            <a:ext cx="1728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FFFFFF"/>
                </a:solidFill>
                <a:latin typeface="Poppins"/>
              </a:rPr>
              <a:t>Voir le catalogue</a:t>
            </a:r>
          </a:p>
        </p:txBody>
      </p:sp>
      <p:sp>
        <p:nvSpPr>
          <p:cNvPr id="72" name="Rounded Rectangle 71"/>
          <p:cNvSpPr/>
          <p:nvPr/>
        </p:nvSpPr>
        <p:spPr>
          <a:xfrm>
            <a:off x="5184000" y="8568000"/>
            <a:ext cx="1512000" cy="468000"/>
          </a:xfrm>
          <a:prstGeom prst="roundRect">
            <a:avLst>
              <a:gd name="adj" fmla="val 6000"/>
            </a:avLst>
          </a:prstGeom>
          <a:solidFill>
            <a:srgbClr val="FFFFFF"/>
          </a:solidFill>
          <a:ln w="14376">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5184000" y="8694000"/>
            <a:ext cx="1512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2E7D32"/>
                </a:solidFill>
                <a:latin typeface="Poppins"/>
              </a:rPr>
              <a:t>En savoir plus</a:t>
            </a:r>
          </a:p>
        </p:txBody>
      </p:sp>
      <p:sp>
        <p:nvSpPr>
          <p:cNvPr id="74" name="Rounded Rectangle 73"/>
          <p:cNvSpPr/>
          <p:nvPr/>
        </p:nvSpPr>
        <p:spPr>
          <a:xfrm>
            <a:off x="6912000" y="8568000"/>
            <a:ext cx="1656000" cy="468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912000" y="8694000"/>
            <a:ext cx="1656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1B5E20"/>
                </a:solidFill>
                <a:latin typeface="Poppins"/>
              </a:rPr>
              <a:t>NOTRE ENGAGEMENT</a:t>
            </a:r>
          </a:p>
        </p:txBody>
      </p:sp>
      <p:sp>
        <p:nvSpPr>
          <p:cNvPr id="76" name="Rounded Rectangle 75"/>
          <p:cNvSpPr/>
          <p:nvPr/>
        </p:nvSpPr>
        <p:spPr>
          <a:xfrm>
            <a:off x="8784000" y="8568000"/>
            <a:ext cx="936000" cy="468000"/>
          </a:xfrm>
          <a:prstGeom prst="roundRect">
            <a:avLst>
              <a:gd name="adj" fmla="val 6000"/>
            </a:avLst>
          </a:prstGeom>
          <a:solidFill>
            <a:srgbClr val="E5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784000" y="8694000"/>
            <a:ext cx="936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1B5E20"/>
                </a:solidFill>
                <a:latin typeface="Poppins"/>
              </a:rPr>
              <a:t>Pépinière</a:t>
            </a:r>
          </a:p>
        </p:txBody>
      </p:sp>
      <p:sp>
        <p:nvSpPr>
          <p:cNvPr id="78" name="Rounded Rectangle 77"/>
          <p:cNvSpPr/>
          <p:nvPr/>
        </p:nvSpPr>
        <p:spPr>
          <a:xfrm>
            <a:off x="9936000" y="8568000"/>
            <a:ext cx="936000" cy="4680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9936000" y="8694000"/>
            <a:ext cx="936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FFFFFF"/>
                </a:solidFill>
                <a:latin typeface="Poppins"/>
              </a:rPr>
              <a:t>Fruitiers</a:t>
            </a:r>
          </a:p>
        </p:txBody>
      </p:sp>
      <p:sp>
        <p:nvSpPr>
          <p:cNvPr id="80" name="Rounded Rectangle 79"/>
          <p:cNvSpPr/>
          <p:nvPr/>
        </p:nvSpPr>
        <p:spPr>
          <a:xfrm>
            <a:off x="11088000" y="8568000"/>
            <a:ext cx="936000" cy="468000"/>
          </a:xfrm>
          <a:prstGeom prst="roundRect">
            <a:avLst>
              <a:gd name="adj" fmla="val 6000"/>
            </a:avLst>
          </a:prstGeom>
          <a:solidFill>
            <a:srgbClr val="FFFFFF"/>
          </a:solidFill>
          <a:ln w="14376">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1088000" y="8694000"/>
            <a:ext cx="936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364033"/>
                </a:solidFill>
                <a:latin typeface="Poppins"/>
              </a:rPr>
              <a:t>Forestiers</a:t>
            </a:r>
          </a:p>
        </p:txBody>
      </p:sp>
      <p:sp>
        <p:nvSpPr>
          <p:cNvPr id="82" name="Rounded Rectangle 81"/>
          <p:cNvSpPr/>
          <p:nvPr/>
        </p:nvSpPr>
        <p:spPr>
          <a:xfrm>
            <a:off x="12240000" y="8568000"/>
            <a:ext cx="936000" cy="468000"/>
          </a:xfrm>
          <a:prstGeom prst="roundRect">
            <a:avLst>
              <a:gd name="adj" fmla="val 6000"/>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2240000" y="8694000"/>
            <a:ext cx="936000" cy="252000"/>
          </a:xfrm>
          <a:prstGeom prst="rect">
            <a:avLst/>
          </a:prstGeom>
          <a:noFill/>
        </p:spPr>
        <p:txBody>
          <a:bodyPr wrap="square" anchor="t" lIns="0" rIns="0" tIns="0" bIns="0">
            <a:spAutoFit/>
          </a:bodyPr>
          <a:lstStyle/>
          <a:p>
            <a:pPr algn="ctr">
              <a:lnSpc>
                <a:spcPct val="135000"/>
              </a:lnSpc>
              <a:spcAft>
                <a:spcPts val="400"/>
              </a:spcAft>
            </a:pPr>
            <a:r>
              <a:rPr sz="850" b="1" i="0">
                <a:solidFill>
                  <a:srgbClr val="0F3D17"/>
                </a:solidFill>
                <a:latin typeface="Poppins"/>
              </a:rPr>
              <a:t>NOUVEAU</a:t>
            </a:r>
          </a:p>
        </p:txBody>
      </p:sp>
      <p:sp>
        <p:nvSpPr>
          <p:cNvPr id="84" name="TextBox 83"/>
          <p:cNvSpPr txBox="1"/>
          <p:nvPr/>
        </p:nvSpPr>
        <p:spPr>
          <a:xfrm>
            <a:off x="720000" y="9792000"/>
            <a:ext cx="12240000" cy="288000"/>
          </a:xfrm>
          <a:prstGeom prst="rect">
            <a:avLst/>
          </a:prstGeom>
          <a:noFill/>
        </p:spPr>
        <p:txBody>
          <a:bodyPr wrap="square" anchor="t" lIns="0" rIns="0" tIns="0" bIns="0">
            <a:spAutoFit/>
          </a:bodyPr>
          <a:lstStyle/>
          <a:p>
            <a:pPr algn="l">
              <a:lnSpc>
                <a:spcPct val="135000"/>
              </a:lnSpc>
              <a:spcAft>
                <a:spcPts val="400"/>
              </a:spcAft>
            </a:pPr>
            <a:r>
              <a:rPr sz="900" b="0" i="0">
                <a:solidFill>
                  <a:srgbClr val="5C665A"/>
                </a:solidFill>
                <a:latin typeface="Inter"/>
              </a:rPr>
              <a:t>Les composants vivent dans le design system, pas dans ce document : c'est là qu'ils sont à jour, avec leur code et leurs règles d'usage.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20</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Papeterie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22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ectangle 9"/>
          <p:cNvSpPr/>
          <p:nvPr/>
        </p:nvSpPr>
        <p:spPr>
          <a:xfrm>
            <a:off x="720000" y="1512000"/>
            <a:ext cx="3060000" cy="1980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griwin-logo-principal.png"/>
          <p:cNvPicPr>
            <a:picLocks noChangeAspect="1"/>
          </p:cNvPicPr>
          <p:nvPr/>
        </p:nvPicPr>
        <p:blipFill>
          <a:blip r:embed="rId3"/>
          <a:stretch>
            <a:fillRect/>
          </a:stretch>
        </p:blipFill>
        <p:spPr>
          <a:xfrm>
            <a:off x="1800000" y="1800000"/>
            <a:ext cx="1048800" cy="1368000"/>
          </a:xfrm>
          <a:prstGeom prst="rect">
            <a:avLst/>
          </a:prstGeom>
        </p:spPr>
      </p:pic>
      <p:sp>
        <p:nvSpPr>
          <p:cNvPr id="12" name="Rectangle 11"/>
          <p:cNvSpPr/>
          <p:nvPr/>
        </p:nvSpPr>
        <p:spPr>
          <a:xfrm>
            <a:off x="720000" y="3744000"/>
            <a:ext cx="3060000" cy="1980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72000" y="4176000"/>
            <a:ext cx="2520000" cy="252000"/>
          </a:xfrm>
          <a:prstGeom prst="rect">
            <a:avLst/>
          </a:prstGeom>
          <a:noFill/>
        </p:spPr>
        <p:txBody>
          <a:bodyPr wrap="square" anchor="t" lIns="0" rIns="0" tIns="0" bIns="0">
            <a:spAutoFit/>
          </a:bodyPr>
          <a:lstStyle/>
          <a:p>
            <a:pPr algn="l">
              <a:lnSpc>
                <a:spcPct val="135000"/>
              </a:lnSpc>
              <a:spcAft>
                <a:spcPts val="400"/>
              </a:spcAft>
            </a:pPr>
            <a:r>
              <a:rPr sz="1200" b="1" i="0">
                <a:solidFill>
                  <a:srgbClr val="0F3D17"/>
                </a:solidFill>
                <a:latin typeface="Poppins"/>
              </a:rPr>
              <a:t>KEGNON Emmanuel</a:t>
            </a:r>
          </a:p>
        </p:txBody>
      </p:sp>
      <p:sp>
        <p:nvSpPr>
          <p:cNvPr id="14" name="TextBox 13"/>
          <p:cNvSpPr txBox="1"/>
          <p:nvPr/>
        </p:nvSpPr>
        <p:spPr>
          <a:xfrm>
            <a:off x="972000" y="4464000"/>
            <a:ext cx="2520000" cy="216000"/>
          </a:xfrm>
          <a:prstGeom prst="rect">
            <a:avLst/>
          </a:prstGeom>
          <a:noFill/>
        </p:spPr>
        <p:txBody>
          <a:bodyPr wrap="square" anchor="t" lIns="0" rIns="0" tIns="0" bIns="0">
            <a:spAutoFit/>
          </a:bodyPr>
          <a:lstStyle/>
          <a:p>
            <a:pPr algn="l">
              <a:lnSpc>
                <a:spcPct val="135000"/>
              </a:lnSpc>
              <a:spcAft>
                <a:spcPts val="400"/>
              </a:spcAft>
            </a:pPr>
            <a:r>
              <a:rPr sz="900" b="0" i="1">
                <a:solidFill>
                  <a:srgbClr val="5C665A"/>
                </a:solidFill>
                <a:latin typeface="Playfair Display"/>
              </a:rPr>
              <a:t>Fondateur &amp; CEO</a:t>
            </a:r>
          </a:p>
        </p:txBody>
      </p:sp>
      <p:sp>
        <p:nvSpPr>
          <p:cNvPr id="15" name="TextBox 14"/>
          <p:cNvSpPr txBox="1"/>
          <p:nvPr/>
        </p:nvSpPr>
        <p:spPr>
          <a:xfrm>
            <a:off x="972000" y="4824000"/>
            <a:ext cx="2520000" cy="648000"/>
          </a:xfrm>
          <a:prstGeom prst="rect">
            <a:avLst/>
          </a:prstGeom>
          <a:noFill/>
        </p:spPr>
        <p:txBody>
          <a:bodyPr wrap="square" anchor="t" lIns="0" rIns="0" tIns="0" bIns="0">
            <a:spAutoFit/>
          </a:bodyPr>
          <a:lstStyle/>
          <a:p>
            <a:pPr algn="l">
              <a:lnSpc>
                <a:spcPct val="150000"/>
              </a:lnSpc>
              <a:spcAft>
                <a:spcPts val="400"/>
              </a:spcAft>
            </a:pPr>
            <a:r>
              <a:rPr sz="850" b="0" i="0">
                <a:solidFill>
                  <a:srgbClr val="364033"/>
                </a:solidFill>
                <a:latin typeface="Inter"/>
              </a:rPr>
              <a:t>+228 96 63 82 00</a:t>
            </a:r>
          </a:p>
          <a:p>
            <a:pPr algn="l">
              <a:lnSpc>
                <a:spcPct val="150000"/>
              </a:lnSpc>
              <a:spcAft>
                <a:spcPts val="400"/>
              </a:spcAft>
            </a:pPr>
            <a:r>
              <a:rPr sz="850" b="0" i="0">
                <a:solidFill>
                  <a:srgbClr val="364033"/>
                </a:solidFill>
                <a:latin typeface="Inter"/>
              </a:rPr>
              <a:t>agriwintogo@gmail.com</a:t>
            </a:r>
          </a:p>
          <a:p>
            <a:pPr algn="l">
              <a:lnSpc>
                <a:spcPct val="150000"/>
              </a:lnSpc>
              <a:spcAft>
                <a:spcPts val="400"/>
              </a:spcAft>
            </a:pPr>
            <a:r>
              <a:rPr sz="850" b="0" i="0">
                <a:solidFill>
                  <a:srgbClr val="364033"/>
                </a:solidFill>
                <a:latin typeface="Inter"/>
              </a:rPr>
              <a:t>Kégué, Togo</a:t>
            </a:r>
          </a:p>
        </p:txBody>
      </p:sp>
      <p:pic>
        <p:nvPicPr>
          <p:cNvPr id="16" name="Picture 15" descr="agriwin-logo-horizontal.png"/>
          <p:cNvPicPr>
            <a:picLocks noChangeAspect="1"/>
          </p:cNvPicPr>
          <p:nvPr/>
        </p:nvPicPr>
        <p:blipFill>
          <a:blip r:embed="rId2"/>
          <a:stretch>
            <a:fillRect/>
          </a:stretch>
        </p:blipFill>
        <p:spPr>
          <a:xfrm>
            <a:off x="2808000" y="5256000"/>
            <a:ext cx="864000" cy="291892"/>
          </a:xfrm>
          <a:prstGeom prst="rect">
            <a:avLst/>
          </a:prstGeom>
        </p:spPr>
      </p:pic>
      <p:sp>
        <p:nvSpPr>
          <p:cNvPr id="17" name="TextBox 16"/>
          <p:cNvSpPr txBox="1"/>
          <p:nvPr/>
        </p:nvSpPr>
        <p:spPr>
          <a:xfrm>
            <a:off x="720000" y="5976000"/>
            <a:ext cx="3960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Carte de visite — 85 × 55 mm</a:t>
            </a:r>
          </a:p>
        </p:txBody>
      </p:sp>
      <p:sp>
        <p:nvSpPr>
          <p:cNvPr id="18" name="TextBox 17"/>
          <p:cNvSpPr txBox="1"/>
          <p:nvPr/>
        </p:nvSpPr>
        <p:spPr>
          <a:xfrm>
            <a:off x="720000" y="6336000"/>
            <a:ext cx="3960000" cy="936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Recto : logo vertical centré sur blanc, ou en inversé sur green-900. Verso : nom en Poppins 700, fonction en ink-500, coordonnées en Inter 8 pt.</a:t>
            </a:r>
          </a:p>
        </p:txBody>
      </p:sp>
      <p:sp>
        <p:nvSpPr>
          <p:cNvPr id="19" name="Rectangle 18"/>
          <p:cNvSpPr/>
          <p:nvPr/>
        </p:nvSpPr>
        <p:spPr>
          <a:xfrm>
            <a:off x="5328000" y="1512000"/>
            <a:ext cx="3780000" cy="5328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griwin-logo-horizontal.png"/>
          <p:cNvPicPr>
            <a:picLocks noChangeAspect="1"/>
          </p:cNvPicPr>
          <p:nvPr/>
        </p:nvPicPr>
        <p:blipFill>
          <a:blip r:embed="rId2"/>
          <a:stretch>
            <a:fillRect/>
          </a:stretch>
        </p:blipFill>
        <p:spPr>
          <a:xfrm>
            <a:off x="5616000" y="1800000"/>
            <a:ext cx="1584000" cy="535135"/>
          </a:xfrm>
          <a:prstGeom prst="rect">
            <a:avLst/>
          </a:prstGeom>
        </p:spPr>
      </p:pic>
      <p:sp>
        <p:nvSpPr>
          <p:cNvPr id="21" name="Rectangle 20"/>
          <p:cNvSpPr/>
          <p:nvPr/>
        </p:nvSpPr>
        <p:spPr>
          <a:xfrm>
            <a:off x="5616000" y="2664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16000" y="2988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16000" y="3312000"/>
            <a:ext cx="2325600"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16000" y="3636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16000" y="3960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616000" y="4284000"/>
            <a:ext cx="1368000"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616000" y="4608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16000" y="4932000"/>
            <a:ext cx="2325600"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16000" y="5256000"/>
            <a:ext cx="3146399" cy="39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16000" y="6048000"/>
            <a:ext cx="3204000" cy="36000"/>
          </a:xfrm>
          <a:prstGeom prst="rect">
            <a:avLst/>
          </a:prstGeom>
          <a:solidFill>
            <a:srgbClr val="E0A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16000" y="6192000"/>
            <a:ext cx="3204000" cy="216000"/>
          </a:xfrm>
          <a:prstGeom prst="rect">
            <a:avLst/>
          </a:prstGeom>
          <a:noFill/>
        </p:spPr>
        <p:txBody>
          <a:bodyPr wrap="square" anchor="t" lIns="0" rIns="0" tIns="0" bIns="0">
            <a:spAutoFit/>
          </a:bodyPr>
          <a:lstStyle/>
          <a:p>
            <a:pPr algn="ctr">
              <a:lnSpc>
                <a:spcPct val="135000"/>
              </a:lnSpc>
              <a:spcAft>
                <a:spcPts val="400"/>
              </a:spcAft>
            </a:pPr>
            <a:r>
              <a:rPr sz="650" b="0" i="0">
                <a:solidFill>
                  <a:srgbClr val="5C665A"/>
                </a:solidFill>
                <a:latin typeface="Inter"/>
              </a:rPr>
              <a:t>AgriWin Togo · Kégué, Togo · +228 96 63 82 00 · agriwintogo@gmail.com</a:t>
            </a:r>
          </a:p>
        </p:txBody>
      </p:sp>
      <p:sp>
        <p:nvSpPr>
          <p:cNvPr id="32" name="TextBox 31"/>
          <p:cNvSpPr txBox="1"/>
          <p:nvPr/>
        </p:nvSpPr>
        <p:spPr>
          <a:xfrm>
            <a:off x="5328000" y="7128000"/>
            <a:ext cx="3780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En-tête A4</a:t>
            </a:r>
          </a:p>
        </p:txBody>
      </p:sp>
      <p:sp>
        <p:nvSpPr>
          <p:cNvPr id="33" name="TextBox 32"/>
          <p:cNvSpPr txBox="1"/>
          <p:nvPr/>
        </p:nvSpPr>
        <p:spPr>
          <a:xfrm>
            <a:off x="5328000" y="7488000"/>
            <a:ext cx="3780000" cy="86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Logo horizontal en haut à gauche, à 18 mm des bords. Filet gold-500 de 2 mm au pied. Coordonnées en caption ink-500, centrées.</a:t>
            </a:r>
          </a:p>
        </p:txBody>
      </p:sp>
      <p:sp>
        <p:nvSpPr>
          <p:cNvPr id="34" name="Rectangle 33"/>
          <p:cNvSpPr/>
          <p:nvPr/>
        </p:nvSpPr>
        <p:spPr>
          <a:xfrm>
            <a:off x="9792000" y="1512000"/>
            <a:ext cx="36000" cy="158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agriwin-logo-horizontal.png"/>
          <p:cNvPicPr>
            <a:picLocks noChangeAspect="1"/>
          </p:cNvPicPr>
          <p:nvPr/>
        </p:nvPicPr>
        <p:blipFill>
          <a:blip r:embed="rId2"/>
          <a:stretch>
            <a:fillRect/>
          </a:stretch>
        </p:blipFill>
        <p:spPr>
          <a:xfrm>
            <a:off x="10080000" y="1800000"/>
            <a:ext cx="1224000" cy="413514"/>
          </a:xfrm>
          <a:prstGeom prst="rect">
            <a:avLst/>
          </a:prstGeom>
        </p:spPr>
      </p:pic>
      <p:sp>
        <p:nvSpPr>
          <p:cNvPr id="36" name="TextBox 35"/>
          <p:cNvSpPr txBox="1"/>
          <p:nvPr/>
        </p:nvSpPr>
        <p:spPr>
          <a:xfrm>
            <a:off x="11520000" y="1656000"/>
            <a:ext cx="2880000" cy="216000"/>
          </a:xfrm>
          <a:prstGeom prst="rect">
            <a:avLst/>
          </a:prstGeom>
          <a:noFill/>
        </p:spPr>
        <p:txBody>
          <a:bodyPr wrap="square" anchor="t" lIns="0" rIns="0" tIns="0" bIns="0">
            <a:spAutoFit/>
          </a:bodyPr>
          <a:lstStyle/>
          <a:p>
            <a:pPr algn="l">
              <a:lnSpc>
                <a:spcPct val="135000"/>
              </a:lnSpc>
              <a:spcAft>
                <a:spcPts val="400"/>
              </a:spcAft>
            </a:pPr>
            <a:r>
              <a:rPr sz="1050" b="1" i="0">
                <a:solidFill>
                  <a:srgbClr val="0F3D17"/>
                </a:solidFill>
                <a:latin typeface="Poppins"/>
              </a:rPr>
              <a:t>KEGNON Emmanuel</a:t>
            </a:r>
          </a:p>
        </p:txBody>
      </p:sp>
      <p:sp>
        <p:nvSpPr>
          <p:cNvPr id="37" name="TextBox 36"/>
          <p:cNvSpPr txBox="1"/>
          <p:nvPr/>
        </p:nvSpPr>
        <p:spPr>
          <a:xfrm>
            <a:off x="11520000" y="1944000"/>
            <a:ext cx="2880000" cy="216000"/>
          </a:xfrm>
          <a:prstGeom prst="rect">
            <a:avLst/>
          </a:prstGeom>
          <a:noFill/>
        </p:spPr>
        <p:txBody>
          <a:bodyPr wrap="square" anchor="t" lIns="0" rIns="0" tIns="0" bIns="0">
            <a:spAutoFit/>
          </a:bodyPr>
          <a:lstStyle/>
          <a:p>
            <a:pPr algn="l">
              <a:lnSpc>
                <a:spcPct val="135000"/>
              </a:lnSpc>
              <a:spcAft>
                <a:spcPts val="400"/>
              </a:spcAft>
            </a:pPr>
            <a:r>
              <a:rPr sz="900" b="0" i="1">
                <a:solidFill>
                  <a:srgbClr val="9A6412"/>
                </a:solidFill>
                <a:latin typeface="Playfair Display"/>
              </a:rPr>
              <a:t>Fondateur &amp; CEO — AgriWin Togo</a:t>
            </a:r>
          </a:p>
        </p:txBody>
      </p:sp>
      <p:sp>
        <p:nvSpPr>
          <p:cNvPr id="38" name="TextBox 37"/>
          <p:cNvSpPr txBox="1"/>
          <p:nvPr/>
        </p:nvSpPr>
        <p:spPr>
          <a:xfrm>
            <a:off x="11520000" y="2232000"/>
            <a:ext cx="2880000" cy="432000"/>
          </a:xfrm>
          <a:prstGeom prst="rect">
            <a:avLst/>
          </a:prstGeom>
          <a:noFill/>
        </p:spPr>
        <p:txBody>
          <a:bodyPr wrap="square" anchor="t" lIns="0" rIns="0" tIns="0" bIns="0">
            <a:spAutoFit/>
          </a:bodyPr>
          <a:lstStyle/>
          <a:p>
            <a:pPr algn="l">
              <a:lnSpc>
                <a:spcPct val="145000"/>
              </a:lnSpc>
              <a:spcAft>
                <a:spcPts val="400"/>
              </a:spcAft>
            </a:pPr>
            <a:r>
              <a:rPr sz="850" b="0" i="0">
                <a:solidFill>
                  <a:srgbClr val="364033"/>
                </a:solidFill>
                <a:latin typeface="Inter"/>
              </a:rPr>
              <a:t>+228 96 63 82 00</a:t>
            </a:r>
          </a:p>
          <a:p>
            <a:pPr algn="l">
              <a:lnSpc>
                <a:spcPct val="145000"/>
              </a:lnSpc>
              <a:spcAft>
                <a:spcPts val="400"/>
              </a:spcAft>
            </a:pPr>
            <a:r>
              <a:rPr sz="850" b="0" i="0">
                <a:solidFill>
                  <a:srgbClr val="364033"/>
                </a:solidFill>
                <a:latin typeface="Inter"/>
              </a:rPr>
              <a:t>agriwintogo@gmail.com</a:t>
            </a:r>
          </a:p>
        </p:txBody>
      </p:sp>
      <p:sp>
        <p:nvSpPr>
          <p:cNvPr id="39" name="TextBox 38"/>
          <p:cNvSpPr txBox="1"/>
          <p:nvPr/>
        </p:nvSpPr>
        <p:spPr>
          <a:xfrm>
            <a:off x="11520000" y="2808000"/>
            <a:ext cx="2880000" cy="216000"/>
          </a:xfrm>
          <a:prstGeom prst="rect">
            <a:avLst/>
          </a:prstGeom>
          <a:noFill/>
        </p:spPr>
        <p:txBody>
          <a:bodyPr wrap="square" anchor="t" lIns="0" rIns="0" tIns="0" bIns="0">
            <a:spAutoFit/>
          </a:bodyPr>
          <a:lstStyle/>
          <a:p>
            <a:pPr algn="l">
              <a:lnSpc>
                <a:spcPct val="135000"/>
              </a:lnSpc>
              <a:spcAft>
                <a:spcPts val="400"/>
              </a:spcAft>
            </a:pPr>
            <a:r>
              <a:rPr sz="900" b="0" i="1">
                <a:solidFill>
                  <a:srgbClr val="9A6412"/>
                </a:solidFill>
                <a:latin typeface="Playfair Display"/>
              </a:rPr>
              <a:t>Votre partenaire agricole !</a:t>
            </a:r>
          </a:p>
        </p:txBody>
      </p:sp>
      <p:sp>
        <p:nvSpPr>
          <p:cNvPr id="40" name="TextBox 39"/>
          <p:cNvSpPr txBox="1"/>
          <p:nvPr/>
        </p:nvSpPr>
        <p:spPr>
          <a:xfrm>
            <a:off x="9792000" y="3600000"/>
            <a:ext cx="460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Signature d'e-mail</a:t>
            </a:r>
          </a:p>
        </p:txBody>
      </p:sp>
      <p:sp>
        <p:nvSpPr>
          <p:cNvPr id="41" name="TextBox 40"/>
          <p:cNvSpPr txBox="1"/>
          <p:nvPr/>
        </p:nvSpPr>
        <p:spPr>
          <a:xfrm>
            <a:off x="9792000" y="3960000"/>
            <a:ext cx="4608000" cy="1080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Logo à 120 px de large, nom en Poppins 600, fonction en Playfair italique, coordonnées en 12 px ink-700. Pas d'image de fond, pas de citation ajoutée.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21</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Supports de terrain</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23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3168000" cy="2664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griwin-logo-inverse.png"/>
          <p:cNvPicPr>
            <a:picLocks noChangeAspect="1"/>
          </p:cNvPicPr>
          <p:nvPr/>
        </p:nvPicPr>
        <p:blipFill>
          <a:blip r:embed="rId3"/>
          <a:stretch>
            <a:fillRect/>
          </a:stretch>
        </p:blipFill>
        <p:spPr>
          <a:xfrm>
            <a:off x="720000" y="1512000"/>
            <a:ext cx="3168000" cy="1070270"/>
          </a:xfrm>
          <a:prstGeom prst="rect">
            <a:avLst/>
          </a:prstGeom>
        </p:spPr>
      </p:pic>
      <p:sp>
        <p:nvSpPr>
          <p:cNvPr id="12" name="TextBox 11"/>
          <p:cNvSpPr txBox="1"/>
          <p:nvPr/>
        </p:nvSpPr>
        <p:spPr>
          <a:xfrm>
            <a:off x="936000" y="2736000"/>
            <a:ext cx="2736000" cy="252000"/>
          </a:xfrm>
          <a:prstGeom prst="rect">
            <a:avLst/>
          </a:prstGeom>
          <a:noFill/>
        </p:spPr>
        <p:txBody>
          <a:bodyPr wrap="square" anchor="t" lIns="0" rIns="0" tIns="0" bIns="0">
            <a:spAutoFit/>
          </a:bodyPr>
          <a:lstStyle/>
          <a:p>
            <a:pPr algn="l">
              <a:lnSpc>
                <a:spcPct val="135000"/>
              </a:lnSpc>
              <a:spcAft>
                <a:spcPts val="400"/>
              </a:spcAft>
            </a:pPr>
            <a:r>
              <a:rPr sz="1200" b="1" i="0">
                <a:solidFill>
                  <a:srgbClr val="FFFFFF"/>
                </a:solidFill>
                <a:latin typeface="Poppins"/>
              </a:rPr>
              <a:t>Pépinière de Kégué</a:t>
            </a:r>
          </a:p>
        </p:txBody>
      </p:sp>
      <p:sp>
        <p:nvSpPr>
          <p:cNvPr id="13" name="TextBox 12"/>
          <p:cNvSpPr txBox="1"/>
          <p:nvPr/>
        </p:nvSpPr>
        <p:spPr>
          <a:xfrm>
            <a:off x="936000" y="3060000"/>
            <a:ext cx="2736000" cy="216000"/>
          </a:xfrm>
          <a:prstGeom prst="rect">
            <a:avLst/>
          </a:prstGeom>
          <a:noFill/>
        </p:spPr>
        <p:txBody>
          <a:bodyPr wrap="square" anchor="t" lIns="0" rIns="0" tIns="0" bIns="0">
            <a:spAutoFit/>
          </a:bodyPr>
          <a:lstStyle/>
          <a:p>
            <a:pPr algn="l">
              <a:lnSpc>
                <a:spcPct val="135000"/>
              </a:lnSpc>
              <a:spcAft>
                <a:spcPts val="400"/>
              </a:spcAft>
            </a:pPr>
            <a:r>
              <a:rPr sz="850" b="0" i="0">
                <a:solidFill>
                  <a:srgbClr val="E3EBE0"/>
                </a:solidFill>
                <a:latin typeface="Inter"/>
              </a:rPr>
              <a:t>Plants tropicaux · Conseil · Formation</a:t>
            </a:r>
          </a:p>
        </p:txBody>
      </p:sp>
      <p:sp>
        <p:nvSpPr>
          <p:cNvPr id="14" name="TextBox 13"/>
          <p:cNvSpPr txBox="1"/>
          <p:nvPr/>
        </p:nvSpPr>
        <p:spPr>
          <a:xfrm>
            <a:off x="936000" y="3420000"/>
            <a:ext cx="2736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EAB866"/>
                </a:solidFill>
                <a:latin typeface="Poppins"/>
              </a:rPr>
              <a:t>+228 96 63 82 00</a:t>
            </a:r>
          </a:p>
        </p:txBody>
      </p:sp>
      <p:sp>
        <p:nvSpPr>
          <p:cNvPr id="15" name="TextBox 14"/>
          <p:cNvSpPr txBox="1"/>
          <p:nvPr/>
        </p:nvSpPr>
        <p:spPr>
          <a:xfrm>
            <a:off x="720000" y="4464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Panneau de pépinière</a:t>
            </a:r>
          </a:p>
        </p:txBody>
      </p:sp>
      <p:sp>
        <p:nvSpPr>
          <p:cNvPr id="16" name="TextBox 15"/>
          <p:cNvSpPr txBox="1"/>
          <p:nvPr/>
        </p:nvSpPr>
        <p:spPr>
          <a:xfrm>
            <a:off x="720000" y="4824000"/>
            <a:ext cx="3168000" cy="122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Version inversée en haut, aplat green-900 sur toute la surface, numéro en gold-400 lisible à dix mètres.</a:t>
            </a:r>
          </a:p>
        </p:txBody>
      </p:sp>
      <p:sp>
        <p:nvSpPr>
          <p:cNvPr id="17" name="Rectangle 16"/>
          <p:cNvSpPr/>
          <p:nvPr/>
        </p:nvSpPr>
        <p:spPr>
          <a:xfrm>
            <a:off x="4320000" y="1512000"/>
            <a:ext cx="1872000" cy="3744000"/>
          </a:xfrm>
          <a:prstGeom prst="rect">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20000" y="1512000"/>
            <a:ext cx="1872000" cy="10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agriwin-icone.png"/>
          <p:cNvPicPr>
            <a:picLocks noChangeAspect="1"/>
          </p:cNvPicPr>
          <p:nvPr/>
        </p:nvPicPr>
        <p:blipFill>
          <a:blip r:embed="rId4"/>
          <a:stretch>
            <a:fillRect/>
          </a:stretch>
        </p:blipFill>
        <p:spPr>
          <a:xfrm>
            <a:off x="4968000" y="1872000"/>
            <a:ext cx="414996" cy="648000"/>
          </a:xfrm>
          <a:prstGeom prst="rect">
            <a:avLst/>
          </a:prstGeom>
        </p:spPr>
      </p:pic>
      <p:sp>
        <p:nvSpPr>
          <p:cNvPr id="20" name="TextBox 19"/>
          <p:cNvSpPr txBox="1"/>
          <p:nvPr/>
        </p:nvSpPr>
        <p:spPr>
          <a:xfrm>
            <a:off x="4392000" y="2736000"/>
            <a:ext cx="1728000" cy="216000"/>
          </a:xfrm>
          <a:prstGeom prst="rect">
            <a:avLst/>
          </a:prstGeom>
          <a:noFill/>
        </p:spPr>
        <p:txBody>
          <a:bodyPr wrap="square" anchor="t" lIns="0" rIns="0" tIns="0" bIns="0">
            <a:spAutoFit/>
          </a:bodyPr>
          <a:lstStyle/>
          <a:p>
            <a:pPr algn="ctr">
              <a:lnSpc>
                <a:spcPct val="135000"/>
              </a:lnSpc>
              <a:spcAft>
                <a:spcPts val="400"/>
              </a:spcAft>
            </a:pPr>
            <a:r>
              <a:rPr sz="1050" b="1" i="0">
                <a:solidFill>
                  <a:srgbClr val="0F3D17"/>
                </a:solidFill>
                <a:latin typeface="Poppins"/>
              </a:rPr>
              <a:t>Manguier greffé</a:t>
            </a:r>
          </a:p>
        </p:txBody>
      </p:sp>
      <p:sp>
        <p:nvSpPr>
          <p:cNvPr id="21" name="TextBox 20"/>
          <p:cNvSpPr txBox="1"/>
          <p:nvPr/>
        </p:nvSpPr>
        <p:spPr>
          <a:xfrm>
            <a:off x="4392000" y="3060000"/>
            <a:ext cx="1728000" cy="216000"/>
          </a:xfrm>
          <a:prstGeom prst="rect">
            <a:avLst/>
          </a:prstGeom>
          <a:noFill/>
        </p:spPr>
        <p:txBody>
          <a:bodyPr wrap="square" anchor="t" lIns="0" rIns="0" tIns="0" bIns="0">
            <a:spAutoFit/>
          </a:bodyPr>
          <a:lstStyle/>
          <a:p>
            <a:pPr algn="ctr">
              <a:lnSpc>
                <a:spcPct val="135000"/>
              </a:lnSpc>
              <a:spcAft>
                <a:spcPts val="400"/>
              </a:spcAft>
            </a:pPr>
            <a:r>
              <a:rPr sz="850" b="0" i="0">
                <a:solidFill>
                  <a:srgbClr val="364033"/>
                </a:solidFill>
                <a:latin typeface="Inter"/>
              </a:rPr>
              <a:t>Variété Kent · Sachet 3 L</a:t>
            </a:r>
          </a:p>
        </p:txBody>
      </p:sp>
      <p:sp>
        <p:nvSpPr>
          <p:cNvPr id="22" name="TextBox 21"/>
          <p:cNvSpPr txBox="1"/>
          <p:nvPr/>
        </p:nvSpPr>
        <p:spPr>
          <a:xfrm>
            <a:off x="4392000" y="4752000"/>
            <a:ext cx="1728000" cy="216000"/>
          </a:xfrm>
          <a:prstGeom prst="rect">
            <a:avLst/>
          </a:prstGeom>
          <a:noFill/>
        </p:spPr>
        <p:txBody>
          <a:bodyPr wrap="square" anchor="t" lIns="0" rIns="0" tIns="0" bIns="0">
            <a:spAutoFit/>
          </a:bodyPr>
          <a:lstStyle/>
          <a:p>
            <a:pPr algn="ctr">
              <a:lnSpc>
                <a:spcPct val="135000"/>
              </a:lnSpc>
              <a:spcAft>
                <a:spcPts val="400"/>
              </a:spcAft>
            </a:pPr>
            <a:r>
              <a:rPr sz="750" b="0" i="0">
                <a:solidFill>
                  <a:srgbClr val="5C665A"/>
                </a:solidFill>
                <a:latin typeface="Poppins"/>
              </a:rPr>
              <a:t>Lot 2026-04 · Kégué</a:t>
            </a:r>
          </a:p>
        </p:txBody>
      </p:sp>
      <p:sp>
        <p:nvSpPr>
          <p:cNvPr id="23" name="TextBox 22"/>
          <p:cNvSpPr txBox="1"/>
          <p:nvPr/>
        </p:nvSpPr>
        <p:spPr>
          <a:xfrm>
            <a:off x="4320000" y="5544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Étiquette de plant</a:t>
            </a:r>
          </a:p>
        </p:txBody>
      </p:sp>
      <p:sp>
        <p:nvSpPr>
          <p:cNvPr id="24" name="TextBox 23"/>
          <p:cNvSpPr txBox="1"/>
          <p:nvPr/>
        </p:nvSpPr>
        <p:spPr>
          <a:xfrm>
            <a:off x="4320000" y="5904000"/>
            <a:ext cx="3168000" cy="122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45 × 90 mm, symbole seul en haut, espèce en Poppins 600, variété et contenant en caption. Le numéro de lot rend le plant traçable : il est obligatoire.</a:t>
            </a:r>
          </a:p>
        </p:txBody>
      </p:sp>
      <p:sp>
        <p:nvSpPr>
          <p:cNvPr id="25" name="Rounded Rectangle 24"/>
          <p:cNvSpPr/>
          <p:nvPr/>
        </p:nvSpPr>
        <p:spPr>
          <a:xfrm>
            <a:off x="7920000" y="1872000"/>
            <a:ext cx="2160000" cy="2736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7416000" y="1872000"/>
            <a:ext cx="576000" cy="936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0008000" y="1872000"/>
            <a:ext cx="576000" cy="936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640000" y="1872000"/>
            <a:ext cx="720000" cy="25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agriwin-logo-inverse.png"/>
          <p:cNvPicPr>
            <a:picLocks noChangeAspect="1"/>
          </p:cNvPicPr>
          <p:nvPr/>
        </p:nvPicPr>
        <p:blipFill>
          <a:blip r:embed="rId3"/>
          <a:stretch>
            <a:fillRect/>
          </a:stretch>
        </p:blipFill>
        <p:spPr>
          <a:xfrm>
            <a:off x="8208000" y="2664000"/>
            <a:ext cx="1584000" cy="535135"/>
          </a:xfrm>
          <a:prstGeom prst="rect">
            <a:avLst/>
          </a:prstGeom>
        </p:spPr>
      </p:pic>
      <p:sp>
        <p:nvSpPr>
          <p:cNvPr id="30" name="TextBox 29"/>
          <p:cNvSpPr txBox="1"/>
          <p:nvPr/>
        </p:nvSpPr>
        <p:spPr>
          <a:xfrm>
            <a:off x="7416000" y="4968000"/>
            <a:ext cx="3168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Tenue d'équipe</a:t>
            </a:r>
          </a:p>
        </p:txBody>
      </p:sp>
      <p:sp>
        <p:nvSpPr>
          <p:cNvPr id="31" name="TextBox 30"/>
          <p:cNvSpPr txBox="1"/>
          <p:nvPr/>
        </p:nvSpPr>
        <p:spPr>
          <a:xfrm>
            <a:off x="7416000" y="5328000"/>
            <a:ext cx="3168000" cy="122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Polo vert green-900, logo inversé brodé à gauche de la poitrine, 70 mm de large. Dos : symbole seul en blanc, 180 mm. Pas de slogan supplémentaire.</a:t>
            </a:r>
          </a:p>
        </p:txBody>
      </p:sp>
      <p:sp>
        <p:nvSpPr>
          <p:cNvPr id="32" name="Rounded Rectangle 31"/>
          <p:cNvSpPr/>
          <p:nvPr/>
        </p:nvSpPr>
        <p:spPr>
          <a:xfrm>
            <a:off x="11016000" y="1872000"/>
            <a:ext cx="3384000" cy="2016000"/>
          </a:xfrm>
          <a:prstGeom prst="roundRect">
            <a:avLst>
              <a:gd name="adj" fmla="val 6000"/>
            </a:avLst>
          </a:prstGeom>
          <a:solidFill>
            <a:srgbClr val="FFFFFF"/>
          </a:solidFill>
          <a:ln w="14376">
            <a:solidFill>
              <a:srgbClr val="E3E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agriwin-logo-horizontal.png"/>
          <p:cNvPicPr>
            <a:picLocks noChangeAspect="1"/>
          </p:cNvPicPr>
          <p:nvPr/>
        </p:nvPicPr>
        <p:blipFill>
          <a:blip r:embed="rId2"/>
          <a:stretch>
            <a:fillRect/>
          </a:stretch>
        </p:blipFill>
        <p:spPr>
          <a:xfrm>
            <a:off x="11592000" y="2376000"/>
            <a:ext cx="2232000" cy="754054"/>
          </a:xfrm>
          <a:prstGeom prst="rect">
            <a:avLst/>
          </a:prstGeom>
        </p:spPr>
      </p:pic>
      <p:sp>
        <p:nvSpPr>
          <p:cNvPr id="34" name="TextBox 33"/>
          <p:cNvSpPr txBox="1"/>
          <p:nvPr/>
        </p:nvSpPr>
        <p:spPr>
          <a:xfrm>
            <a:off x="11232000" y="3240000"/>
            <a:ext cx="2952000" cy="216000"/>
          </a:xfrm>
          <a:prstGeom prst="rect">
            <a:avLst/>
          </a:prstGeom>
          <a:noFill/>
        </p:spPr>
        <p:txBody>
          <a:bodyPr wrap="square" anchor="t" lIns="0" rIns="0" tIns="0" bIns="0">
            <a:spAutoFit/>
          </a:bodyPr>
          <a:lstStyle/>
          <a:p>
            <a:pPr algn="ctr">
              <a:lnSpc>
                <a:spcPct val="135000"/>
              </a:lnSpc>
              <a:spcAft>
                <a:spcPts val="400"/>
              </a:spcAft>
            </a:pPr>
            <a:r>
              <a:rPr sz="750" b="0" i="0">
                <a:solidFill>
                  <a:srgbClr val="364033"/>
                </a:solidFill>
                <a:latin typeface="Inter"/>
              </a:rPr>
              <a:t>+228 96 63 82 00 · agriwintogo@gmail.com</a:t>
            </a:r>
          </a:p>
        </p:txBody>
      </p:sp>
      <p:sp>
        <p:nvSpPr>
          <p:cNvPr id="35" name="Oval 34"/>
          <p:cNvSpPr/>
          <p:nvPr/>
        </p:nvSpPr>
        <p:spPr>
          <a:xfrm>
            <a:off x="11520000" y="3744000"/>
            <a:ext cx="468000" cy="468000"/>
          </a:xfrm>
          <a:prstGeom prst="ellipse">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3464000" y="3744000"/>
            <a:ext cx="468000" cy="468000"/>
          </a:xfrm>
          <a:prstGeom prst="ellipse">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016000" y="4608000"/>
            <a:ext cx="3384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Véhicule</a:t>
            </a:r>
          </a:p>
        </p:txBody>
      </p:sp>
      <p:sp>
        <p:nvSpPr>
          <p:cNvPr id="38" name="TextBox 37"/>
          <p:cNvSpPr txBox="1"/>
          <p:nvPr/>
        </p:nvSpPr>
        <p:spPr>
          <a:xfrm>
            <a:off x="11016000" y="4968000"/>
            <a:ext cx="3384000" cy="1224000"/>
          </a:xfrm>
          <a:prstGeom prst="rect">
            <a:avLst/>
          </a:prstGeom>
          <a:noFill/>
        </p:spPr>
        <p:txBody>
          <a:bodyPr wrap="square" anchor="t" lIns="0" rIns="0" tIns="0" bIns="0">
            <a:spAutoFit/>
          </a:bodyPr>
          <a:lstStyle/>
          <a:p>
            <a:pPr algn="l">
              <a:lnSpc>
                <a:spcPct val="135000"/>
              </a:lnSpc>
              <a:spcAft>
                <a:spcPts val="400"/>
              </a:spcAft>
            </a:pPr>
            <a:r>
              <a:rPr sz="950" b="0" i="0">
                <a:solidFill>
                  <a:srgbClr val="364033"/>
                </a:solidFill>
                <a:latin typeface="Inter"/>
              </a:rPr>
              <a:t>Portière blanche : logo horizontal, coordonnées en dessous. Sur une carrosserie verte, version inversée. La zone de protection s'applique aussi aux poignées.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22</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Digital et réseaux sociaux</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24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Rounded Rectangle 9"/>
          <p:cNvSpPr/>
          <p:nvPr/>
        </p:nvSpPr>
        <p:spPr>
          <a:xfrm>
            <a:off x="720000" y="1512000"/>
            <a:ext cx="2880000" cy="2880000"/>
          </a:xfrm>
          <a:prstGeom prst="roundRect">
            <a:avLst>
              <a:gd name="adj" fmla="val 6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972000" y="1944000"/>
            <a:ext cx="1080000" cy="324000"/>
          </a:xfrm>
          <a:prstGeom prst="roundRect">
            <a:avLst>
              <a:gd name="adj" fmla="val 6000"/>
            </a:avLst>
          </a:prstGeom>
          <a:solidFill>
            <a:srgbClr val="205E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80000" y="2016000"/>
            <a:ext cx="936000" cy="216000"/>
          </a:xfrm>
          <a:prstGeom prst="rect">
            <a:avLst/>
          </a:prstGeom>
          <a:noFill/>
        </p:spPr>
        <p:txBody>
          <a:bodyPr wrap="square" anchor="t" lIns="0" rIns="0" tIns="0" bIns="0">
            <a:spAutoFit/>
          </a:bodyPr>
          <a:lstStyle/>
          <a:p>
            <a:pPr algn="l">
              <a:lnSpc>
                <a:spcPct val="135000"/>
              </a:lnSpc>
              <a:spcAft>
                <a:spcPts val="400"/>
              </a:spcAft>
            </a:pPr>
            <a:r>
              <a:rPr sz="700" b="1" i="0">
                <a:solidFill>
                  <a:srgbClr val="FFFFFF"/>
                </a:solidFill>
                <a:latin typeface="Poppins"/>
              </a:rPr>
              <a:t>CATALOGUE</a:t>
            </a:r>
          </a:p>
        </p:txBody>
      </p:sp>
      <p:sp>
        <p:nvSpPr>
          <p:cNvPr id="13" name="TextBox 12"/>
          <p:cNvSpPr txBox="1"/>
          <p:nvPr/>
        </p:nvSpPr>
        <p:spPr>
          <a:xfrm>
            <a:off x="972000" y="2520000"/>
            <a:ext cx="2376000" cy="360000"/>
          </a:xfrm>
          <a:prstGeom prst="rect">
            <a:avLst/>
          </a:prstGeom>
          <a:noFill/>
        </p:spPr>
        <p:txBody>
          <a:bodyPr wrap="square" anchor="t" lIns="0" rIns="0" tIns="0" bIns="0">
            <a:spAutoFit/>
          </a:bodyPr>
          <a:lstStyle/>
          <a:p>
            <a:pPr algn="l">
              <a:lnSpc>
                <a:spcPct val="135000"/>
              </a:lnSpc>
              <a:spcAft>
                <a:spcPts val="400"/>
              </a:spcAft>
            </a:pPr>
            <a:r>
              <a:rPr sz="1300" b="1" i="0">
                <a:solidFill>
                  <a:srgbClr val="FFFFFF"/>
                </a:solidFill>
                <a:latin typeface="Poppins"/>
              </a:rPr>
              <a:t>Manguier greffé Kent</a:t>
            </a:r>
          </a:p>
        </p:txBody>
      </p:sp>
      <p:sp>
        <p:nvSpPr>
          <p:cNvPr id="14" name="TextBox 13"/>
          <p:cNvSpPr txBox="1"/>
          <p:nvPr/>
        </p:nvSpPr>
        <p:spPr>
          <a:xfrm>
            <a:off x="972000" y="3096000"/>
            <a:ext cx="2376000" cy="324000"/>
          </a:xfrm>
          <a:prstGeom prst="rect">
            <a:avLst/>
          </a:prstGeom>
          <a:noFill/>
        </p:spPr>
        <p:txBody>
          <a:bodyPr wrap="square" anchor="t" lIns="0" rIns="0" tIns="0" bIns="0">
            <a:spAutoFit/>
          </a:bodyPr>
          <a:lstStyle/>
          <a:p>
            <a:pPr algn="l">
              <a:lnSpc>
                <a:spcPct val="135000"/>
              </a:lnSpc>
              <a:spcAft>
                <a:spcPts val="400"/>
              </a:spcAft>
            </a:pPr>
            <a:r>
              <a:rPr sz="1600" b="1" i="0">
                <a:solidFill>
                  <a:srgbClr val="E0A83D"/>
                </a:solidFill>
                <a:latin typeface="Poppins"/>
              </a:rPr>
              <a:t>3 500 F</a:t>
            </a:r>
          </a:p>
        </p:txBody>
      </p:sp>
      <p:sp>
        <p:nvSpPr>
          <p:cNvPr id="15" name="TextBox 14"/>
          <p:cNvSpPr txBox="1"/>
          <p:nvPr/>
        </p:nvSpPr>
        <p:spPr>
          <a:xfrm>
            <a:off x="972000" y="3888000"/>
            <a:ext cx="2376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E3EBE0"/>
                </a:solidFill>
                <a:latin typeface="Inter"/>
              </a:rPr>
              <a:t>@agriwintogo</a:t>
            </a:r>
          </a:p>
        </p:txBody>
      </p:sp>
      <p:sp>
        <p:nvSpPr>
          <p:cNvPr id="16" name="TextBox 15"/>
          <p:cNvSpPr txBox="1"/>
          <p:nvPr/>
        </p:nvSpPr>
        <p:spPr>
          <a:xfrm>
            <a:off x="720000" y="4608000"/>
            <a:ext cx="2880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Publication 1:1</a:t>
            </a:r>
          </a:p>
        </p:txBody>
      </p:sp>
      <p:sp>
        <p:nvSpPr>
          <p:cNvPr id="17" name="TextBox 16"/>
          <p:cNvSpPr txBox="1"/>
          <p:nvPr/>
        </p:nvSpPr>
        <p:spPr>
          <a:xfrm>
            <a:off x="720000" y="4968000"/>
            <a:ext cx="2880000" cy="792000"/>
          </a:xfrm>
          <a:prstGeom prst="rect">
            <a:avLst/>
          </a:prstGeom>
          <a:noFill/>
        </p:spPr>
        <p:txBody>
          <a:bodyPr wrap="square" anchor="t" lIns="0" rIns="0" tIns="0" bIns="0">
            <a:spAutoFit/>
          </a:bodyPr>
          <a:lstStyle/>
          <a:p>
            <a:pPr algn="l">
              <a:lnSpc>
                <a:spcPct val="135000"/>
              </a:lnSpc>
              <a:spcAft>
                <a:spcPts val="400"/>
              </a:spcAft>
            </a:pPr>
            <a:r>
              <a:rPr sz="900" b="0" i="0">
                <a:solidFill>
                  <a:srgbClr val="364033"/>
                </a:solidFill>
                <a:latin typeface="Inter"/>
              </a:rPr>
              <a:t>Aplat green-900, surtitre en pastille, prix en gold-500. Monogramme et identifiant en pied.</a:t>
            </a:r>
          </a:p>
        </p:txBody>
      </p:sp>
      <p:sp>
        <p:nvSpPr>
          <p:cNvPr id="18" name="Rectangle 17"/>
          <p:cNvSpPr/>
          <p:nvPr/>
        </p:nvSpPr>
        <p:spPr>
          <a:xfrm>
            <a:off x="3888000" y="1512000"/>
            <a:ext cx="3312000" cy="1260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agriwin-logo-inverse.png"/>
          <p:cNvPicPr>
            <a:picLocks noChangeAspect="1"/>
          </p:cNvPicPr>
          <p:nvPr/>
        </p:nvPicPr>
        <p:blipFill>
          <a:blip r:embed="rId3"/>
          <a:stretch>
            <a:fillRect/>
          </a:stretch>
        </p:blipFill>
        <p:spPr>
          <a:xfrm>
            <a:off x="3888000" y="1512000"/>
            <a:ext cx="3312000" cy="1118919"/>
          </a:xfrm>
          <a:prstGeom prst="rect">
            <a:avLst/>
          </a:prstGeom>
        </p:spPr>
      </p:pic>
      <p:sp>
        <p:nvSpPr>
          <p:cNvPr id="20" name="TextBox 19"/>
          <p:cNvSpPr txBox="1"/>
          <p:nvPr/>
        </p:nvSpPr>
        <p:spPr>
          <a:xfrm>
            <a:off x="3888000" y="2952000"/>
            <a:ext cx="3312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Couverture Facebook</a:t>
            </a:r>
          </a:p>
        </p:txBody>
      </p:sp>
      <p:sp>
        <p:nvSpPr>
          <p:cNvPr id="21" name="TextBox 20"/>
          <p:cNvSpPr txBox="1"/>
          <p:nvPr/>
        </p:nvSpPr>
        <p:spPr>
          <a:xfrm>
            <a:off x="3888000" y="3312000"/>
            <a:ext cx="3312000" cy="936000"/>
          </a:xfrm>
          <a:prstGeom prst="rect">
            <a:avLst/>
          </a:prstGeom>
          <a:noFill/>
        </p:spPr>
        <p:txBody>
          <a:bodyPr wrap="square" anchor="t" lIns="0" rIns="0" tIns="0" bIns="0">
            <a:spAutoFit/>
          </a:bodyPr>
          <a:lstStyle/>
          <a:p>
            <a:pPr algn="l">
              <a:lnSpc>
                <a:spcPct val="135000"/>
              </a:lnSpc>
              <a:spcAft>
                <a:spcPts val="400"/>
              </a:spcAft>
            </a:pPr>
            <a:r>
              <a:rPr sz="900" b="0" i="0">
                <a:solidFill>
                  <a:srgbClr val="364033"/>
                </a:solidFill>
                <a:latin typeface="Inter"/>
              </a:rPr>
              <a:t>1640 × 624 px. Version inversée centrée, zone de protection doublée sur les bords, rien dans le quart inférieur gauche.</a:t>
            </a:r>
          </a:p>
        </p:txBody>
      </p:sp>
      <p:pic>
        <p:nvPicPr>
          <p:cNvPr id="22" name="Picture 21" descr="agriwin-monogramme.png"/>
          <p:cNvPicPr>
            <a:picLocks noChangeAspect="1"/>
          </p:cNvPicPr>
          <p:nvPr/>
        </p:nvPicPr>
        <p:blipFill>
          <a:blip r:embed="rId4"/>
          <a:stretch>
            <a:fillRect/>
          </a:stretch>
        </p:blipFill>
        <p:spPr>
          <a:xfrm>
            <a:off x="3888000" y="5400000"/>
            <a:ext cx="792000" cy="792000"/>
          </a:xfrm>
          <a:prstGeom prst="rect">
            <a:avLst/>
          </a:prstGeom>
        </p:spPr>
      </p:pic>
      <p:pic>
        <p:nvPicPr>
          <p:cNvPr id="23" name="Picture 22" descr="agriwin-monogramme.png"/>
          <p:cNvPicPr>
            <a:picLocks noChangeAspect="1"/>
          </p:cNvPicPr>
          <p:nvPr/>
        </p:nvPicPr>
        <p:blipFill>
          <a:blip r:embed="rId4"/>
          <a:stretch>
            <a:fillRect/>
          </a:stretch>
        </p:blipFill>
        <p:spPr>
          <a:xfrm>
            <a:off x="4896000" y="5688000"/>
            <a:ext cx="504000" cy="504000"/>
          </a:xfrm>
          <a:prstGeom prst="rect">
            <a:avLst/>
          </a:prstGeom>
        </p:spPr>
      </p:pic>
      <p:pic>
        <p:nvPicPr>
          <p:cNvPr id="24" name="Picture 23" descr="agriwin-monogramme.png"/>
          <p:cNvPicPr>
            <a:picLocks noChangeAspect="1"/>
          </p:cNvPicPr>
          <p:nvPr/>
        </p:nvPicPr>
        <p:blipFill>
          <a:blip r:embed="rId4"/>
          <a:stretch>
            <a:fillRect/>
          </a:stretch>
        </p:blipFill>
        <p:spPr>
          <a:xfrm>
            <a:off x="5904000" y="5868000"/>
            <a:ext cx="324000" cy="324000"/>
          </a:xfrm>
          <a:prstGeom prst="rect">
            <a:avLst/>
          </a:prstGeom>
        </p:spPr>
      </p:pic>
      <p:sp>
        <p:nvSpPr>
          <p:cNvPr id="25" name="TextBox 24"/>
          <p:cNvSpPr txBox="1"/>
          <p:nvPr/>
        </p:nvSpPr>
        <p:spPr>
          <a:xfrm>
            <a:off x="3888000" y="6480000"/>
            <a:ext cx="3312000" cy="252000"/>
          </a:xfrm>
          <a:prstGeom prst="rect">
            <a:avLst/>
          </a:prstGeom>
          <a:noFill/>
        </p:spPr>
        <p:txBody>
          <a:bodyPr wrap="square" anchor="t" lIns="0" rIns="0" tIns="0" bIns="0">
            <a:spAutoFit/>
          </a:bodyPr>
          <a:lstStyle/>
          <a:p>
            <a:pPr algn="l">
              <a:lnSpc>
                <a:spcPct val="135000"/>
              </a:lnSpc>
              <a:spcAft>
                <a:spcPts val="400"/>
              </a:spcAft>
            </a:pPr>
            <a:r>
              <a:rPr sz="1100" b="1" i="0">
                <a:solidFill>
                  <a:srgbClr val="0F3D17"/>
                </a:solidFill>
                <a:latin typeface="Poppins"/>
              </a:rPr>
              <a:t>Avatar</a:t>
            </a:r>
          </a:p>
        </p:txBody>
      </p:sp>
      <p:sp>
        <p:nvSpPr>
          <p:cNvPr id="26" name="TextBox 25"/>
          <p:cNvSpPr txBox="1"/>
          <p:nvPr/>
        </p:nvSpPr>
        <p:spPr>
          <a:xfrm>
            <a:off x="3888000" y="6840000"/>
            <a:ext cx="3312000" cy="792000"/>
          </a:xfrm>
          <a:prstGeom prst="rect">
            <a:avLst/>
          </a:prstGeom>
          <a:noFill/>
        </p:spPr>
        <p:txBody>
          <a:bodyPr wrap="square" anchor="t" lIns="0" rIns="0" tIns="0" bIns="0">
            <a:spAutoFit/>
          </a:bodyPr>
          <a:lstStyle/>
          <a:p>
            <a:pPr algn="l">
              <a:lnSpc>
                <a:spcPct val="135000"/>
              </a:lnSpc>
              <a:spcAft>
                <a:spcPts val="400"/>
              </a:spcAft>
            </a:pPr>
            <a:r>
              <a:rPr sz="900" b="0" i="0">
                <a:solidFill>
                  <a:srgbClr val="364033"/>
                </a:solidFill>
                <a:latin typeface="Inter"/>
              </a:rPr>
              <a:t>Monogramme uniquement. Recadré en cercle par les plateformes : le symbole est centré pour rester entier.</a:t>
            </a:r>
          </a:p>
        </p:txBody>
      </p:sp>
      <p:sp>
        <p:nvSpPr>
          <p:cNvPr id="27" name="TextBox 26"/>
          <p:cNvSpPr txBox="1"/>
          <p:nvPr/>
        </p:nvSpPr>
        <p:spPr>
          <a:xfrm>
            <a:off x="79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Formats</a:t>
            </a:r>
          </a:p>
        </p:txBody>
      </p:sp>
      <p:graphicFrame>
        <p:nvGraphicFramePr>
          <p:cNvPr id="28" name="Table 27"/>
          <p:cNvGraphicFramePr>
            <a:graphicFrameLocks noGrp="1"/>
          </p:cNvGraphicFramePr>
          <p:nvPr/>
        </p:nvGraphicFramePr>
        <p:xfrm>
          <a:off x="7920000" y="1872000"/>
          <a:ext cx="6479999" cy="2772000"/>
        </p:xfrm>
        <a:graphic>
          <a:graphicData uri="http://schemas.openxmlformats.org/drawingml/2006/table">
            <a:tbl>
              <a:tblPr firstRow="1" bandRow="1">
                <a:tableStyleId>{5C22544A-7EE6-4342-B048-85BDC9FD1C3A}</a:tableStyleId>
              </a:tblPr>
              <a:tblGrid>
                <a:gridCol w="2721600"/>
                <a:gridCol w="3758399"/>
              </a:tblGrid>
              <a:tr h="396000">
                <a:tc>
                  <a:txBody>
                    <a:bodyPr/>
                    <a:lstStyle/>
                    <a:p>
                      <a:pPr>
                        <a:lnSpc>
                          <a:spcPct val="125000"/>
                        </a:lnSpc>
                      </a:pPr>
                      <a:r>
                        <a:rPr sz="900" b="1">
                          <a:solidFill>
                            <a:srgbClr val="FFFFFF"/>
                          </a:solidFill>
                          <a:latin typeface="Poppins"/>
                        </a:rPr>
                        <a:t>SUPPORT</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DIMENSIONS</a:t>
                      </a:r>
                    </a:p>
                  </a:txBody>
                  <a:tcPr marL="90000" marR="90000" marT="50400" marB="50400" anchor="ctr">
                    <a:solidFill>
                      <a:srgbClr val="1B5E20"/>
                    </a:solidFill>
                  </a:tcPr>
                </a:tc>
              </a:tr>
              <a:tr h="396000">
                <a:tc>
                  <a:txBody>
                    <a:bodyPr/>
                    <a:lstStyle/>
                    <a:p>
                      <a:pPr>
                        <a:lnSpc>
                          <a:spcPct val="125000"/>
                        </a:lnSpc>
                      </a:pPr>
                      <a:r>
                        <a:rPr sz="900" b="1">
                          <a:solidFill>
                            <a:srgbClr val="0F3D17"/>
                          </a:solidFill>
                          <a:latin typeface="Poppins"/>
                        </a:rPr>
                        <a:t>Avatar</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512 × 512 px — monogramme</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Couverture Facebook</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1640 × 624 px — version inversée</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Publication carrée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1080 × 1080 px</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Story / TikTok</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1080 × 1920 px</a:t>
                      </a:r>
                    </a:p>
                  </a:txBody>
                  <a:tcPr marL="90000" marR="90000" marT="50400" marB="50400" anchor="ctr">
                    <a:solidFill>
                      <a:srgbClr val="F7FAF5"/>
                    </a:solidFill>
                  </a:tcPr>
                </a:tc>
              </a:tr>
              <a:tr h="396000">
                <a:tc>
                  <a:txBody>
                    <a:bodyPr/>
                    <a:lstStyle/>
                    <a:p>
                      <a:pPr>
                        <a:lnSpc>
                          <a:spcPct val="125000"/>
                        </a:lnSpc>
                      </a:pPr>
                      <a:r>
                        <a:rPr sz="900" b="1">
                          <a:solidFill>
                            <a:srgbClr val="0F3D17"/>
                          </a:solidFill>
                          <a:latin typeface="Poppins"/>
                        </a:rPr>
                        <a:t>Bannière de site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1920 × 1280 px, voile vert obligatoire</a:t>
                      </a:r>
                    </a:p>
                  </a:txBody>
                  <a:tcPr marL="90000" marR="90000" marT="50400" marB="50400" anchor="ctr">
                    <a:solidFill>
                      <a:srgbClr val="FFFFFF"/>
                    </a:solidFill>
                  </a:tcPr>
                </a:tc>
              </a:tr>
              <a:tr h="396000">
                <a:tc>
                  <a:txBody>
                    <a:bodyPr/>
                    <a:lstStyle/>
                    <a:p>
                      <a:pPr>
                        <a:lnSpc>
                          <a:spcPct val="125000"/>
                        </a:lnSpc>
                      </a:pPr>
                      <a:r>
                        <a:rPr sz="900" b="1">
                          <a:solidFill>
                            <a:srgbClr val="0F3D17"/>
                          </a:solidFill>
                          <a:latin typeface="Poppins"/>
                        </a:rPr>
                        <a:t>Favicon</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16, 32 et 180 px — monogramme</a:t>
                      </a:r>
                    </a:p>
                  </a:txBody>
                  <a:tcPr marL="90000" marR="90000" marT="50400" marB="50400" anchor="ctr">
                    <a:solidFill>
                      <a:srgbClr val="F7FAF5"/>
                    </a:solidFill>
                  </a:tcPr>
                </a:tc>
              </a:tr>
            </a:tbl>
          </a:graphicData>
        </a:graphic>
      </p:graphicFrame>
      <p:sp>
        <p:nvSpPr>
          <p:cNvPr id="29" name="TextBox 28"/>
          <p:cNvSpPr txBox="1"/>
          <p:nvPr/>
        </p:nvSpPr>
        <p:spPr>
          <a:xfrm>
            <a:off x="7920000" y="468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Comptes officiels</a:t>
            </a:r>
          </a:p>
        </p:txBody>
      </p:sp>
      <p:sp>
        <p:nvSpPr>
          <p:cNvPr id="30" name="Oval 29"/>
          <p:cNvSpPr/>
          <p:nvPr/>
        </p:nvSpPr>
        <p:spPr>
          <a:xfrm>
            <a:off x="7920000" y="524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00000" y="5184000"/>
            <a:ext cx="630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Facebook : facebook.com/agriwintogo</a:t>
            </a:r>
          </a:p>
        </p:txBody>
      </p:sp>
      <p:sp>
        <p:nvSpPr>
          <p:cNvPr id="32" name="Oval 31"/>
          <p:cNvSpPr/>
          <p:nvPr/>
        </p:nvSpPr>
        <p:spPr>
          <a:xfrm>
            <a:off x="7920000" y="560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100000" y="5544000"/>
            <a:ext cx="630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TikTok : @agriwintogo</a:t>
            </a:r>
          </a:p>
        </p:txBody>
      </p:sp>
      <p:sp>
        <p:nvSpPr>
          <p:cNvPr id="34" name="Oval 33"/>
          <p:cNvSpPr/>
          <p:nvPr/>
        </p:nvSpPr>
        <p:spPr>
          <a:xfrm>
            <a:off x="7920000" y="596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00000" y="5904000"/>
            <a:ext cx="630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WhatsApp : wa.me/22896638200</a:t>
            </a:r>
          </a:p>
        </p:txBody>
      </p:sp>
      <p:sp>
        <p:nvSpPr>
          <p:cNvPr id="36" name="Oval 35"/>
          <p:cNvSpPr/>
          <p:nvPr/>
        </p:nvSpPr>
        <p:spPr>
          <a:xfrm>
            <a:off x="7920000" y="632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100000" y="6264000"/>
            <a:ext cx="630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Site : agriwintogo.com</a:t>
            </a:r>
          </a:p>
        </p:txBody>
      </p:sp>
      <p:sp>
        <p:nvSpPr>
          <p:cNvPr id="38" name="TextBox 37"/>
          <p:cNvSpPr txBox="1"/>
          <p:nvPr/>
        </p:nvSpPr>
        <p:spPr>
          <a:xfrm>
            <a:off x="7920000" y="68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Règles de publication</a:t>
            </a:r>
          </a:p>
        </p:txBody>
      </p:sp>
      <p:sp>
        <p:nvSpPr>
          <p:cNvPr id="39" name="Oval 38"/>
          <p:cNvSpPr/>
          <p:nvPr/>
        </p:nvSpPr>
        <p:spPr>
          <a:xfrm>
            <a:off x="7920000" y="7401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100000" y="7344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Une photo de terrain vaut mieux qu'une image de banque.</a:t>
            </a:r>
          </a:p>
        </p:txBody>
      </p:sp>
      <p:sp>
        <p:nvSpPr>
          <p:cNvPr id="41" name="Oval 40"/>
          <p:cNvSpPr/>
          <p:nvPr/>
        </p:nvSpPr>
        <p:spPr>
          <a:xfrm>
            <a:off x="7920000" y="779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00000" y="7740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Un prix affiché est un prix tenu : il est daté dans la légende.</a:t>
            </a:r>
          </a:p>
        </p:txBody>
      </p:sp>
      <p:sp>
        <p:nvSpPr>
          <p:cNvPr id="43" name="Oval 42"/>
          <p:cNvSpPr/>
          <p:nvPr/>
        </p:nvSpPr>
        <p:spPr>
          <a:xfrm>
            <a:off x="7920000" y="8193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00000" y="8136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Un emoji au maximum par publication.</a:t>
            </a:r>
          </a:p>
        </p:txBody>
      </p:sp>
      <p:sp>
        <p:nvSpPr>
          <p:cNvPr id="45" name="Oval 44"/>
          <p:cNvSpPr/>
          <p:nvPr/>
        </p:nvSpPr>
        <p:spPr>
          <a:xfrm>
            <a:off x="7920000" y="8589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100000" y="8532000"/>
            <a:ext cx="6300000" cy="396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numéro apparaît en clair, pas seulement en lien.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iwin-logo-horizontal.png"/>
          <p:cNvPicPr>
            <a:picLocks noChangeAspect="1"/>
          </p:cNvPicPr>
          <p:nvPr/>
        </p:nvPicPr>
        <p:blipFill>
          <a:blip r:embed="rId2"/>
          <a:stretch>
            <a:fillRect/>
          </a:stretch>
        </p:blipFill>
        <p:spPr>
          <a:xfrm>
            <a:off x="720000" y="468000"/>
            <a:ext cx="1172160" cy="396000"/>
          </a:xfrm>
          <a:prstGeom prst="rect">
            <a:avLst/>
          </a:prstGeom>
        </p:spPr>
      </p:pic>
      <p:sp>
        <p:nvSpPr>
          <p:cNvPr id="3" name="TextBox 2"/>
          <p:cNvSpPr txBox="1"/>
          <p:nvPr/>
        </p:nvSpPr>
        <p:spPr>
          <a:xfrm>
            <a:off x="2520000" y="468000"/>
            <a:ext cx="7200000" cy="216000"/>
          </a:xfrm>
          <a:prstGeom prst="rect">
            <a:avLst/>
          </a:prstGeom>
          <a:noFill/>
        </p:spPr>
        <p:txBody>
          <a:bodyPr wrap="square" anchor="t" lIns="0" rIns="0" tIns="0" bIns="0">
            <a:spAutoFit/>
          </a:bodyPr>
          <a:lstStyle/>
          <a:p>
            <a:pPr algn="l">
              <a:lnSpc>
                <a:spcPct val="135000"/>
              </a:lnSpc>
              <a:spcAft>
                <a:spcPts val="400"/>
              </a:spcAft>
            </a:pPr>
            <a:r>
              <a:rPr sz="850" b="1" i="0">
                <a:solidFill>
                  <a:srgbClr val="9A6412"/>
                </a:solidFill>
                <a:latin typeface="Poppins"/>
              </a:rPr>
              <a:t>23</a:t>
            </a:r>
          </a:p>
        </p:txBody>
      </p:sp>
      <p:sp>
        <p:nvSpPr>
          <p:cNvPr id="4" name="TextBox 3"/>
          <p:cNvSpPr txBox="1"/>
          <p:nvPr/>
        </p:nvSpPr>
        <p:spPr>
          <a:xfrm>
            <a:off x="2520000" y="630000"/>
            <a:ext cx="9000000" cy="432000"/>
          </a:xfrm>
          <a:prstGeom prst="rect">
            <a:avLst/>
          </a:prstGeom>
          <a:noFill/>
        </p:spPr>
        <p:txBody>
          <a:bodyPr wrap="square" anchor="t" lIns="0" rIns="0" tIns="0" bIns="0">
            <a:spAutoFit/>
          </a:bodyPr>
          <a:lstStyle/>
          <a:p>
            <a:pPr algn="l">
              <a:lnSpc>
                <a:spcPct val="135000"/>
              </a:lnSpc>
              <a:spcAft>
                <a:spcPts val="400"/>
              </a:spcAft>
            </a:pPr>
            <a:r>
              <a:rPr sz="2500" b="1" i="0">
                <a:solidFill>
                  <a:srgbClr val="0F3D17"/>
                </a:solidFill>
                <a:latin typeface="Poppins"/>
              </a:rPr>
              <a:t>Gouvernance de la marque</a:t>
            </a:r>
          </a:p>
        </p:txBody>
      </p:sp>
      <p:sp>
        <p:nvSpPr>
          <p:cNvPr id="5" name="TextBox 4"/>
          <p:cNvSpPr txBox="1"/>
          <p:nvPr/>
        </p:nvSpPr>
        <p:spPr>
          <a:xfrm>
            <a:off x="12960000" y="612000"/>
            <a:ext cx="1440000" cy="252000"/>
          </a:xfrm>
          <a:prstGeom prst="rect">
            <a:avLst/>
          </a:prstGeom>
          <a:noFill/>
        </p:spPr>
        <p:txBody>
          <a:bodyPr wrap="square" anchor="t" lIns="0" rIns="0" tIns="0" bIns="0">
            <a:spAutoFit/>
          </a:bodyPr>
          <a:lstStyle/>
          <a:p>
            <a:pPr algn="r">
              <a:lnSpc>
                <a:spcPct val="135000"/>
              </a:lnSpc>
              <a:spcAft>
                <a:spcPts val="400"/>
              </a:spcAft>
            </a:pPr>
            <a:r>
              <a:rPr sz="1000" b="0" i="0">
                <a:solidFill>
                  <a:srgbClr val="5C665A"/>
                </a:solidFill>
                <a:latin typeface="Poppins"/>
              </a:rPr>
              <a:t/>
            </a:r>
            <a:r>
              <a:rPr sz="1000" b="1">
                <a:solidFill>
                  <a:srgbClr val="5C665A"/>
                </a:solidFill>
                <a:latin typeface="Poppins"/>
              </a:rPr>
              <a:t>25 / 25</a:t>
            </a:r>
          </a:p>
        </p:txBody>
      </p:sp>
      <p:sp>
        <p:nvSpPr>
          <p:cNvPr id="6" name="Rectangle 5"/>
          <p:cNvSpPr/>
          <p:nvPr/>
        </p:nvSpPr>
        <p:spPr>
          <a:xfrm>
            <a:off x="720000" y="1116000"/>
            <a:ext cx="13680000" cy="144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20000" y="10080000"/>
            <a:ext cx="13680000" cy="12600"/>
          </a:xfrm>
          <a:prstGeom prst="rect">
            <a:avLst/>
          </a:prstGeom>
          <a:solidFill>
            <a:srgbClr val="E3E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0000" y="10152000"/>
            <a:ext cx="5400000" cy="216000"/>
          </a:xfrm>
          <a:prstGeom prst="rect">
            <a:avLst/>
          </a:prstGeom>
          <a:noFill/>
        </p:spPr>
        <p:txBody>
          <a:bodyPr wrap="square" anchor="t" lIns="0" rIns="0" tIns="0" bIns="0">
            <a:spAutoFit/>
          </a:bodyPr>
          <a:lstStyle/>
          <a:p>
            <a:pPr algn="l">
              <a:lnSpc>
                <a:spcPct val="135000"/>
              </a:lnSpc>
              <a:spcAft>
                <a:spcPts val="400"/>
              </a:spcAft>
            </a:pPr>
            <a:r>
              <a:rPr sz="800" b="0" i="0">
                <a:solidFill>
                  <a:srgbClr val="5C665A"/>
                </a:solidFill>
                <a:latin typeface="Inter"/>
              </a:rPr>
              <a:t>AgriWin Togo — Charte de marque 1.0</a:t>
            </a:r>
          </a:p>
        </p:txBody>
      </p:sp>
      <p:sp>
        <p:nvSpPr>
          <p:cNvPr id="9" name="TextBox 8"/>
          <p:cNvSpPr txBox="1"/>
          <p:nvPr/>
        </p:nvSpPr>
        <p:spPr>
          <a:xfrm>
            <a:off x="10080000" y="10152000"/>
            <a:ext cx="4320000" cy="216000"/>
          </a:xfrm>
          <a:prstGeom prst="rect">
            <a:avLst/>
          </a:prstGeom>
          <a:noFill/>
        </p:spPr>
        <p:txBody>
          <a:bodyPr wrap="square" anchor="t" lIns="0" rIns="0" tIns="0" bIns="0">
            <a:spAutoFit/>
          </a:bodyPr>
          <a:lstStyle/>
          <a:p>
            <a:pPr algn="r">
              <a:lnSpc>
                <a:spcPct val="135000"/>
              </a:lnSpc>
              <a:spcAft>
                <a:spcPts val="400"/>
              </a:spcAft>
            </a:pPr>
            <a:r>
              <a:rPr sz="800" b="0" i="1">
                <a:solidFill>
                  <a:srgbClr val="5C665A"/>
                </a:solidFill>
                <a:latin typeface="Playfair Display"/>
              </a:rPr>
              <a:t>Votre partenaire agricole !</a:t>
            </a:r>
          </a:p>
        </p:txBody>
      </p:sp>
      <p:sp>
        <p:nvSpPr>
          <p:cNvPr id="10" name="TextBox 9"/>
          <p:cNvSpPr txBox="1"/>
          <p:nvPr/>
        </p:nvSpPr>
        <p:spPr>
          <a:xfrm>
            <a:off x="72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Où se trouvent les fichiers</a:t>
            </a:r>
          </a:p>
        </p:txBody>
      </p:sp>
      <p:sp>
        <p:nvSpPr>
          <p:cNvPr id="11" name="TextBox 10"/>
          <p:cNvSpPr txBox="1"/>
          <p:nvPr/>
        </p:nvSpPr>
        <p:spPr>
          <a:xfrm>
            <a:off x="720000" y="1872000"/>
            <a:ext cx="6480000" cy="720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La source de vérité est le design system AgriWin Togo, publié comme artefact sur claude.ai. Il contient les 33 tokens, les 14 composants avec leurs aperçus vivants, et les six fichiers de logo en SVG.</a:t>
            </a:r>
          </a:p>
        </p:txBody>
      </p:sp>
      <p:sp>
        <p:nvSpPr>
          <p:cNvPr id="12" name="TextBox 11"/>
          <p:cNvSpPr txBox="1"/>
          <p:nvPr/>
        </p:nvSpPr>
        <p:spPr>
          <a:xfrm>
            <a:off x="720000" y="2736000"/>
            <a:ext cx="6480000" cy="504000"/>
          </a:xfrm>
          <a:prstGeom prst="rect">
            <a:avLst/>
          </a:prstGeom>
          <a:noFill/>
        </p:spPr>
        <p:txBody>
          <a:bodyPr wrap="square" anchor="t" lIns="0" rIns="0" tIns="0" bIns="0">
            <a:spAutoFit/>
          </a:bodyPr>
          <a:lstStyle/>
          <a:p>
            <a:pPr algn="l">
              <a:lnSpc>
                <a:spcPct val="135000"/>
              </a:lnSpc>
              <a:spcAft>
                <a:spcPts val="400"/>
              </a:spcAft>
            </a:pPr>
            <a:r>
              <a:rPr sz="1100" b="0" i="0">
                <a:solidFill>
                  <a:srgbClr val="364033"/>
                </a:solidFill>
                <a:latin typeface="Inter"/>
              </a:rPr>
              <a:t>Ce brand book est une photographie de ce système à un instant donné. En cas de divergence, le design system fait foi.</a:t>
            </a:r>
          </a:p>
        </p:txBody>
      </p:sp>
      <p:graphicFrame>
        <p:nvGraphicFramePr>
          <p:cNvPr id="13" name="Table 12"/>
          <p:cNvGraphicFramePr>
            <a:graphicFrameLocks noGrp="1"/>
          </p:cNvGraphicFramePr>
          <p:nvPr/>
        </p:nvGraphicFramePr>
        <p:xfrm>
          <a:off x="720000" y="3456000"/>
          <a:ext cx="6480000" cy="2520000"/>
        </p:xfrm>
        <a:graphic>
          <a:graphicData uri="http://schemas.openxmlformats.org/drawingml/2006/table">
            <a:tbl>
              <a:tblPr firstRow="1" bandRow="1">
                <a:tableStyleId>{5C22544A-7EE6-4342-B048-85BDC9FD1C3A}</a:tableStyleId>
              </a:tblPr>
              <a:tblGrid>
                <a:gridCol w="2073600"/>
                <a:gridCol w="4406400"/>
              </a:tblGrid>
              <a:tr h="504000">
                <a:tc>
                  <a:txBody>
                    <a:bodyPr/>
                    <a:lstStyle/>
                    <a:p>
                      <a:pPr>
                        <a:lnSpc>
                          <a:spcPct val="125000"/>
                        </a:lnSpc>
                      </a:pPr>
                      <a:r>
                        <a:rPr sz="900" b="1">
                          <a:solidFill>
                            <a:srgbClr val="FFFFFF"/>
                          </a:solidFill>
                          <a:latin typeface="Poppins"/>
                        </a:rPr>
                        <a:t>ÉLÉMENT</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EMPLACEMENT</a:t>
                      </a:r>
                    </a:p>
                  </a:txBody>
                  <a:tcPr marL="90000" marR="90000" marT="50400" marB="50400" anchor="ctr">
                    <a:solidFill>
                      <a:srgbClr val="1B5E20"/>
                    </a:solidFill>
                  </a:tcPr>
                </a:tc>
              </a:tr>
              <a:tr h="504000">
                <a:tc>
                  <a:txBody>
                    <a:bodyPr/>
                    <a:lstStyle/>
                    <a:p>
                      <a:pPr>
                        <a:lnSpc>
                          <a:spcPct val="125000"/>
                        </a:lnSpc>
                      </a:pPr>
                      <a:r>
                        <a:rPr sz="900" b="1">
                          <a:solidFill>
                            <a:srgbClr val="0F3D17"/>
                          </a:solidFill>
                          <a:latin typeface="Poppins"/>
                        </a:rPr>
                        <a:t>Tokens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tokens.json — couleurs, typographie, espacement, rayons, ombres</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Composants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14 fiches, chacune avec propriétés, états et aperçu</a:t>
                      </a:r>
                    </a:p>
                  </a:txBody>
                  <a:tcPr marL="90000" marR="90000" marT="50400" marB="50400" anchor="ctr">
                    <a:solidFill>
                      <a:srgbClr val="F7FAF5"/>
                    </a:solidFill>
                  </a:tcPr>
                </a:tc>
              </a:tr>
              <a:tr h="504000">
                <a:tc>
                  <a:txBody>
                    <a:bodyPr/>
                    <a:lstStyle/>
                    <a:p>
                      <a:pPr>
                        <a:lnSpc>
                          <a:spcPct val="125000"/>
                        </a:lnSpc>
                      </a:pPr>
                      <a:r>
                        <a:rPr sz="900" b="1">
                          <a:solidFill>
                            <a:srgbClr val="0F3D17"/>
                          </a:solidFill>
                          <a:latin typeface="Poppins"/>
                        </a:rPr>
                        <a:t>Logos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6 fichiers SVG dans le groupe d'assets Logos</a:t>
                      </a:r>
                    </a:p>
                  </a:txBody>
                  <a:tcPr marL="90000" marR="90000" marT="50400" marB="50400" anchor="ctr">
                    <a:solidFill>
                      <a:srgbClr val="FFFFFF"/>
                    </a:solidFill>
                  </a:tcPr>
                </a:tc>
              </a:tr>
              <a:tr h="504000">
                <a:tc>
                  <a:txBody>
                    <a:bodyPr/>
                    <a:lstStyle/>
                    <a:p>
                      <a:pPr>
                        <a:lnSpc>
                          <a:spcPct val="125000"/>
                        </a:lnSpc>
                      </a:pPr>
                      <a:r>
                        <a:rPr sz="900" b="1">
                          <a:solidFill>
                            <a:srgbClr val="0F3D17"/>
                          </a:solidFill>
                          <a:latin typeface="Poppins"/>
                        </a:rPr>
                        <a:t>Règles d'écriture</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README du design system</a:t>
                      </a:r>
                    </a:p>
                  </a:txBody>
                  <a:tcPr marL="90000" marR="90000" marT="50400" marB="50400" anchor="ctr">
                    <a:solidFill>
                      <a:srgbClr val="F7FAF5"/>
                    </a:solidFill>
                  </a:tcPr>
                </a:tc>
              </a:tr>
            </a:tbl>
          </a:graphicData>
        </a:graphic>
      </p:graphicFrame>
      <p:sp>
        <p:nvSpPr>
          <p:cNvPr id="14" name="TextBox 13"/>
          <p:cNvSpPr txBox="1"/>
          <p:nvPr/>
        </p:nvSpPr>
        <p:spPr>
          <a:xfrm>
            <a:off x="8100000" y="1440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Qui décide quoi</a:t>
            </a:r>
          </a:p>
        </p:txBody>
      </p:sp>
      <p:graphicFrame>
        <p:nvGraphicFramePr>
          <p:cNvPr id="15" name="Table 14"/>
          <p:cNvGraphicFramePr>
            <a:graphicFrameLocks noGrp="1"/>
          </p:cNvGraphicFramePr>
          <p:nvPr/>
        </p:nvGraphicFramePr>
        <p:xfrm>
          <a:off x="8100000" y="1872000"/>
          <a:ext cx="6300000" cy="3240000"/>
        </p:xfrm>
        <a:graphic>
          <a:graphicData uri="http://schemas.openxmlformats.org/drawingml/2006/table">
            <a:tbl>
              <a:tblPr firstRow="1" bandRow="1">
                <a:tableStyleId>{5C22544A-7EE6-4342-B048-85BDC9FD1C3A}</a:tableStyleId>
              </a:tblPr>
              <a:tblGrid>
                <a:gridCol w="2268000"/>
                <a:gridCol w="4032000"/>
              </a:tblGrid>
              <a:tr h="540000">
                <a:tc>
                  <a:txBody>
                    <a:bodyPr/>
                    <a:lstStyle/>
                    <a:p>
                      <a:pPr>
                        <a:lnSpc>
                          <a:spcPct val="125000"/>
                        </a:lnSpc>
                      </a:pPr>
                      <a:r>
                        <a:rPr sz="900" b="1">
                          <a:solidFill>
                            <a:srgbClr val="FFFFFF"/>
                          </a:solidFill>
                          <a:latin typeface="Poppins"/>
                        </a:rPr>
                        <a:t>DÉCISION</a:t>
                      </a:r>
                    </a:p>
                  </a:txBody>
                  <a:tcPr marL="90000" marR="90000" marT="50400" marB="50400" anchor="ctr">
                    <a:solidFill>
                      <a:srgbClr val="1B5E20"/>
                    </a:solidFill>
                  </a:tcPr>
                </a:tc>
                <a:tc>
                  <a:txBody>
                    <a:bodyPr/>
                    <a:lstStyle/>
                    <a:p>
                      <a:pPr>
                        <a:lnSpc>
                          <a:spcPct val="125000"/>
                        </a:lnSpc>
                      </a:pPr>
                      <a:r>
                        <a:rPr sz="900" b="1">
                          <a:solidFill>
                            <a:srgbClr val="FFFFFF"/>
                          </a:solidFill>
                          <a:latin typeface="Poppins"/>
                        </a:rPr>
                        <a:t>QUI</a:t>
                      </a:r>
                    </a:p>
                  </a:txBody>
                  <a:tcPr marL="90000" marR="90000" marT="50400" marB="50400" anchor="ctr">
                    <a:solidFill>
                      <a:srgbClr val="1B5E20"/>
                    </a:solidFill>
                  </a:tcPr>
                </a:tc>
              </a:tr>
              <a:tr h="540000">
                <a:tc>
                  <a:txBody>
                    <a:bodyPr/>
                    <a:lstStyle/>
                    <a:p>
                      <a:pPr>
                        <a:lnSpc>
                          <a:spcPct val="125000"/>
                        </a:lnSpc>
                      </a:pPr>
                      <a:r>
                        <a:rPr sz="900" b="1">
                          <a:solidFill>
                            <a:srgbClr val="0F3D17"/>
                          </a:solidFill>
                          <a:latin typeface="Poppins"/>
                        </a:rPr>
                        <a:t>Nom, signature, valeurs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Direction — aucune modification sans décision formelle</a:t>
                      </a:r>
                    </a:p>
                  </a:txBody>
                  <a:tcPr marL="90000" marR="90000" marT="50400" marB="50400" anchor="ctr">
                    <a:solidFill>
                      <a:srgbClr val="FFFFFF"/>
                    </a:solidFill>
                  </a:tcPr>
                </a:tc>
              </a:tr>
              <a:tr h="540000">
                <a:tc>
                  <a:txBody>
                    <a:bodyPr/>
                    <a:lstStyle/>
                    <a:p>
                      <a:pPr>
                        <a:lnSpc>
                          <a:spcPct val="125000"/>
                        </a:lnSpc>
                      </a:pPr>
                      <a:r>
                        <a:rPr sz="900" b="1">
                          <a:solidFill>
                            <a:srgbClr val="0F3D17"/>
                          </a:solidFill>
                          <a:latin typeface="Poppins"/>
                        </a:rPr>
                        <a:t>Logo et déclinaisons</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Direction, sur proposition du responsable communication</a:t>
                      </a:r>
                    </a:p>
                  </a:txBody>
                  <a:tcPr marL="90000" marR="90000" marT="50400" marB="50400" anchor="ctr">
                    <a:solidFill>
                      <a:srgbClr val="F7FAF5"/>
                    </a:solidFill>
                  </a:tcPr>
                </a:tc>
              </a:tr>
              <a:tr h="540000">
                <a:tc>
                  <a:txBody>
                    <a:bodyPr/>
                    <a:lstStyle/>
                    <a:p>
                      <a:pPr>
                        <a:lnSpc>
                          <a:spcPct val="125000"/>
                        </a:lnSpc>
                      </a:pPr>
                      <a:r>
                        <a:rPr sz="900" b="1">
                          <a:solidFill>
                            <a:srgbClr val="0F3D17"/>
                          </a:solidFill>
                          <a:latin typeface="Poppins"/>
                        </a:rPr>
                        <a:t>Palette et typographie</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Responsable communication, dans les limites de ce document</a:t>
                      </a:r>
                    </a:p>
                  </a:txBody>
                  <a:tcPr marL="90000" marR="90000" marT="50400" marB="50400" anchor="ctr">
                    <a:solidFill>
                      <a:srgbClr val="FFFFFF"/>
                    </a:solidFill>
                  </a:tcPr>
                </a:tc>
              </a:tr>
              <a:tr h="540000">
                <a:tc>
                  <a:txBody>
                    <a:bodyPr/>
                    <a:lstStyle/>
                    <a:p>
                      <a:pPr>
                        <a:lnSpc>
                          <a:spcPct val="125000"/>
                        </a:lnSpc>
                      </a:pPr>
                      <a:r>
                        <a:rPr sz="900" b="1">
                          <a:solidFill>
                            <a:srgbClr val="0F3D17"/>
                          </a:solidFill>
                          <a:latin typeface="Poppins"/>
                        </a:rPr>
                        <a:t>Nouveau composant</a:t>
                      </a:r>
                    </a:p>
                  </a:txBody>
                  <a:tcPr marL="90000" marR="90000" marT="50400" marB="50400" anchor="ctr">
                    <a:solidFill>
                      <a:srgbClr val="F7FAF5"/>
                    </a:solidFill>
                  </a:tcPr>
                </a:tc>
                <a:tc>
                  <a:txBody>
                    <a:bodyPr/>
                    <a:lstStyle/>
                    <a:p>
                      <a:pPr>
                        <a:lnSpc>
                          <a:spcPct val="125000"/>
                        </a:lnSpc>
                      </a:pPr>
                      <a:r>
                        <a:rPr sz="900" b="0">
                          <a:solidFill>
                            <a:srgbClr val="364033"/>
                          </a:solidFill>
                          <a:latin typeface="Inter"/>
                        </a:rPr>
                        <a:t>Responsable communication + intégrateur, ajouté au système</a:t>
                      </a:r>
                    </a:p>
                  </a:txBody>
                  <a:tcPr marL="90000" marR="90000" marT="50400" marB="50400" anchor="ctr">
                    <a:solidFill>
                      <a:srgbClr val="F7FAF5"/>
                    </a:solidFill>
                  </a:tcPr>
                </a:tc>
              </a:tr>
              <a:tr h="540000">
                <a:tc>
                  <a:txBody>
                    <a:bodyPr/>
                    <a:lstStyle/>
                    <a:p>
                      <a:pPr>
                        <a:lnSpc>
                          <a:spcPct val="125000"/>
                        </a:lnSpc>
                      </a:pPr>
                      <a:r>
                        <a:rPr sz="900" b="1">
                          <a:solidFill>
                            <a:srgbClr val="0F3D17"/>
                          </a:solidFill>
                          <a:latin typeface="Poppins"/>
                        </a:rPr>
                        <a:t>Supports courants</a:t>
                      </a:r>
                    </a:p>
                  </a:txBody>
                  <a:tcPr marL="90000" marR="90000" marT="50400" marB="50400" anchor="ctr">
                    <a:solidFill>
                      <a:srgbClr val="FFFFFF"/>
                    </a:solidFill>
                  </a:tcPr>
                </a:tc>
                <a:tc>
                  <a:txBody>
                    <a:bodyPr/>
                    <a:lstStyle/>
                    <a:p>
                      <a:pPr>
                        <a:lnSpc>
                          <a:spcPct val="125000"/>
                        </a:lnSpc>
                      </a:pPr>
                      <a:r>
                        <a:rPr sz="900" b="0">
                          <a:solidFill>
                            <a:srgbClr val="364033"/>
                          </a:solidFill>
                          <a:latin typeface="Inter"/>
                        </a:rPr>
                        <a:t>Toute personne, en appliquant ce document</a:t>
                      </a:r>
                    </a:p>
                  </a:txBody>
                  <a:tcPr marL="90000" marR="90000" marT="50400" marB="50400" anchor="ctr">
                    <a:solidFill>
                      <a:srgbClr val="FFFFFF"/>
                    </a:solidFill>
                  </a:tcPr>
                </a:tc>
              </a:tr>
            </a:tbl>
          </a:graphicData>
        </a:graphic>
      </p:graphicFrame>
      <p:sp>
        <p:nvSpPr>
          <p:cNvPr id="16" name="TextBox 15"/>
          <p:cNvSpPr txBox="1"/>
          <p:nvPr/>
        </p:nvSpPr>
        <p:spPr>
          <a:xfrm>
            <a:off x="8100000" y="5256000"/>
            <a:ext cx="5760000" cy="288000"/>
          </a:xfrm>
          <a:prstGeom prst="rect">
            <a:avLst/>
          </a:prstGeom>
          <a:noFill/>
        </p:spPr>
        <p:txBody>
          <a:bodyPr wrap="square" anchor="t" lIns="0" rIns="0" tIns="0" bIns="0">
            <a:spAutoFit/>
          </a:bodyPr>
          <a:lstStyle/>
          <a:p>
            <a:pPr algn="l">
              <a:lnSpc>
                <a:spcPct val="135000"/>
              </a:lnSpc>
              <a:spcAft>
                <a:spcPts val="400"/>
              </a:spcAft>
            </a:pPr>
            <a:r>
              <a:rPr sz="1300" b="1" i="0">
                <a:solidFill>
                  <a:srgbClr val="0F3D17"/>
                </a:solidFill>
                <a:latin typeface="Poppins"/>
              </a:rPr>
              <a:t>Avant de diffuser un support</a:t>
            </a:r>
          </a:p>
        </p:txBody>
      </p:sp>
      <p:sp>
        <p:nvSpPr>
          <p:cNvPr id="17" name="Oval 16"/>
          <p:cNvSpPr/>
          <p:nvPr/>
        </p:nvSpPr>
        <p:spPr>
          <a:xfrm>
            <a:off x="8100000" y="581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80000" y="576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logo vient-il d'un fichier du design system ?</a:t>
            </a:r>
          </a:p>
        </p:txBody>
      </p:sp>
      <p:sp>
        <p:nvSpPr>
          <p:cNvPr id="19" name="Oval 18"/>
          <p:cNvSpPr/>
          <p:nvPr/>
        </p:nvSpPr>
        <p:spPr>
          <a:xfrm>
            <a:off x="8100000" y="617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80000" y="612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La zone de protection est-elle respectée ?</a:t>
            </a:r>
          </a:p>
        </p:txBody>
      </p:sp>
      <p:sp>
        <p:nvSpPr>
          <p:cNvPr id="21" name="Oval 20"/>
          <p:cNvSpPr/>
          <p:nvPr/>
        </p:nvSpPr>
        <p:spPr>
          <a:xfrm>
            <a:off x="8100000" y="653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80000" y="648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Les trois polices sont-elles utilisées dans leurs rôles ?</a:t>
            </a:r>
          </a:p>
        </p:txBody>
      </p:sp>
      <p:sp>
        <p:nvSpPr>
          <p:cNvPr id="23" name="Oval 22"/>
          <p:cNvSpPr/>
          <p:nvPr/>
        </p:nvSpPr>
        <p:spPr>
          <a:xfrm>
            <a:off x="8100000" y="689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80000" y="684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Le texte atteint-il 4.5:1 sur son fond ?</a:t>
            </a:r>
          </a:p>
        </p:txBody>
      </p:sp>
      <p:sp>
        <p:nvSpPr>
          <p:cNvPr id="25" name="Oval 24"/>
          <p:cNvSpPr/>
          <p:nvPr/>
        </p:nvSpPr>
        <p:spPr>
          <a:xfrm>
            <a:off x="8100000" y="725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80000" y="720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L'or reste-t-il sous un dixième de la surface colorée ?</a:t>
            </a:r>
          </a:p>
        </p:txBody>
      </p:sp>
      <p:sp>
        <p:nvSpPr>
          <p:cNvPr id="27" name="Oval 26"/>
          <p:cNvSpPr/>
          <p:nvPr/>
        </p:nvSpPr>
        <p:spPr>
          <a:xfrm>
            <a:off x="8100000" y="7617600"/>
            <a:ext cx="86400" cy="864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80000" y="7560000"/>
            <a:ext cx="6120000" cy="360000"/>
          </a:xfrm>
          <a:prstGeom prst="rect">
            <a:avLst/>
          </a:prstGeom>
          <a:noFill/>
        </p:spPr>
        <p:txBody>
          <a:bodyPr wrap="square" anchor="t" lIns="0" rIns="0" tIns="0" bIns="0">
            <a:spAutoFit/>
          </a:bodyPr>
          <a:lstStyle/>
          <a:p>
            <a:pPr algn="l">
              <a:lnSpc>
                <a:spcPct val="135000"/>
              </a:lnSpc>
              <a:spcAft>
                <a:spcPts val="400"/>
              </a:spcAft>
            </a:pPr>
            <a:r>
              <a:rPr sz="1000" b="0" i="0">
                <a:solidFill>
                  <a:srgbClr val="364033"/>
                </a:solidFill>
                <a:latin typeface="Inter"/>
              </a:rPr>
              <a:t>Chaque promesse chiffrée est-elle vérifiable ?</a:t>
            </a:r>
          </a:p>
        </p:txBody>
      </p:sp>
      <p:sp>
        <p:nvSpPr>
          <p:cNvPr id="29" name="Rounded Rectangle 28"/>
          <p:cNvSpPr/>
          <p:nvPr/>
        </p:nvSpPr>
        <p:spPr>
          <a:xfrm>
            <a:off x="720000" y="6840000"/>
            <a:ext cx="6480000" cy="1584000"/>
          </a:xfrm>
          <a:prstGeom prst="roundRect">
            <a:avLst>
              <a:gd name="adj" fmla="val 6000"/>
            </a:avLst>
          </a:prstGeom>
          <a:solidFill>
            <a:srgbClr val="0F3D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80000" y="7200000"/>
            <a:ext cx="5760000" cy="288000"/>
          </a:xfrm>
          <a:prstGeom prst="rect">
            <a:avLst/>
          </a:prstGeom>
          <a:noFill/>
        </p:spPr>
        <p:txBody>
          <a:bodyPr wrap="square" anchor="t" lIns="0" rIns="0" tIns="0" bIns="0">
            <a:spAutoFit/>
          </a:bodyPr>
          <a:lstStyle/>
          <a:p>
            <a:pPr algn="l">
              <a:lnSpc>
                <a:spcPct val="135000"/>
              </a:lnSpc>
              <a:spcAft>
                <a:spcPts val="400"/>
              </a:spcAft>
            </a:pPr>
            <a:r>
              <a:rPr sz="1400" b="1" i="0">
                <a:solidFill>
                  <a:srgbClr val="FFFFFF"/>
                </a:solidFill>
                <a:latin typeface="Poppins"/>
              </a:rPr>
              <a:t>AgriWin Togo</a:t>
            </a:r>
          </a:p>
        </p:txBody>
      </p:sp>
      <p:sp>
        <p:nvSpPr>
          <p:cNvPr id="31" name="TextBox 30"/>
          <p:cNvSpPr txBox="1"/>
          <p:nvPr/>
        </p:nvSpPr>
        <p:spPr>
          <a:xfrm>
            <a:off x="1080000" y="7632000"/>
            <a:ext cx="5760000" cy="576000"/>
          </a:xfrm>
          <a:prstGeom prst="rect">
            <a:avLst/>
          </a:prstGeom>
          <a:noFill/>
        </p:spPr>
        <p:txBody>
          <a:bodyPr wrap="square" anchor="t" lIns="0" rIns="0" tIns="0" bIns="0">
            <a:spAutoFit/>
          </a:bodyPr>
          <a:lstStyle/>
          <a:p>
            <a:pPr algn="l">
              <a:lnSpc>
                <a:spcPct val="150000"/>
              </a:lnSpc>
              <a:spcAft>
                <a:spcPts val="400"/>
              </a:spcAft>
            </a:pPr>
            <a:r>
              <a:rPr sz="950" b="0" i="0">
                <a:solidFill>
                  <a:srgbClr val="E3EBE0"/>
                </a:solidFill>
                <a:latin typeface="Inter"/>
              </a:rPr>
              <a:t>Kégué, Togo · +228 96 63 82 00 · agriwintogo@gmail.com</a:t>
            </a:r>
          </a:p>
          <a:p>
            <a:pPr algn="l">
              <a:lnSpc>
                <a:spcPct val="150000"/>
              </a:lnSpc>
              <a:spcAft>
                <a:spcPts val="400"/>
              </a:spcAft>
            </a:pPr>
            <a:r>
              <a:rPr sz="950" b="0" i="0">
                <a:solidFill>
                  <a:srgbClr val="E3EBE0"/>
                </a:solidFill>
                <a:latin typeface="Inter"/>
              </a:rPr>
              <a:t>Lun–Sam : 8h – 18h · agriwintogo.com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